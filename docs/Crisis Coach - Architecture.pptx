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6858000"/>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138160" y="-1463040"/>
            <a:ext cx="5852160" cy="5852160"/>
          </a:xfrm>
          <a:prstGeom prst="roundRect">
            <a:avLst>
              <a:gd name="adj" fmla="val 50000"/>
            </a:avLst>
          </a:prstGeom>
          <a:solidFill>
            <a:srgbClr val="1650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37360"/>
            <a:ext cx="7315200" cy="310896"/>
          </a:xfrm>
          <a:prstGeom prst="rect">
            <a:avLst/>
          </a:prstGeom>
          <a:noFill/>
        </p:spPr>
        <p:txBody>
          <a:bodyPr wrap="square" lIns="0" rIns="0" tIns="0" bIns="0" anchor="t">
            <a:spAutoFit/>
          </a:bodyPr>
          <a:lstStyle/>
          <a:p>
            <a:pPr algn="l"/>
            <a:r>
              <a:rPr sz="1150" b="1" i="0">
                <a:solidFill>
                  <a:srgbClr val="7FB2C8"/>
                </a:solidFill>
                <a:latin typeface="Calibri"/>
              </a:rPr>
              <a:t>MAI AGENTIC AI MASTERCLASS  ·  WEEK 5</a:t>
            </a:r>
          </a:p>
        </p:txBody>
      </p:sp>
      <p:sp>
        <p:nvSpPr>
          <p:cNvPr id="6" name="TextBox 5"/>
          <p:cNvSpPr txBox="1"/>
          <p:nvPr/>
        </p:nvSpPr>
        <p:spPr>
          <a:xfrm>
            <a:off x="822960" y="2240280"/>
            <a:ext cx="7680960" cy="1371600"/>
          </a:xfrm>
          <a:prstGeom prst="rect">
            <a:avLst/>
          </a:prstGeom>
          <a:noFill/>
        </p:spPr>
        <p:txBody>
          <a:bodyPr wrap="square" lIns="0" rIns="0" tIns="0" bIns="0" anchor="t">
            <a:spAutoFit/>
          </a:bodyPr>
          <a:lstStyle/>
          <a:p>
            <a:pPr algn="l"/>
            <a:r>
              <a:rPr sz="5400" b="1" i="0">
                <a:solidFill>
                  <a:srgbClr val="FFFFFF"/>
                </a:solidFill>
                <a:latin typeface="Cambria"/>
              </a:rPr>
              <a:t>Crisis Coach</a:t>
            </a:r>
          </a:p>
        </p:txBody>
      </p:sp>
      <p:sp>
        <p:nvSpPr>
          <p:cNvPr id="7" name="TextBox 6"/>
          <p:cNvSpPr txBox="1"/>
          <p:nvPr/>
        </p:nvSpPr>
        <p:spPr>
          <a:xfrm>
            <a:off x="822960" y="3611880"/>
            <a:ext cx="7680960" cy="457200"/>
          </a:xfrm>
          <a:prstGeom prst="rect">
            <a:avLst/>
          </a:prstGeom>
          <a:noFill/>
        </p:spPr>
        <p:txBody>
          <a:bodyPr wrap="square" lIns="0" rIns="0" tIns="0" bIns="0" anchor="t">
            <a:spAutoFit/>
          </a:bodyPr>
          <a:lstStyle/>
          <a:p>
            <a:pPr algn="l"/>
            <a:r>
              <a:rPr sz="2600" b="0" i="0">
                <a:solidFill>
                  <a:srgbClr val="9FC0D0"/>
                </a:solidFill>
                <a:latin typeface="Cambria"/>
              </a:rPr>
              <a:t>Architecture</a:t>
            </a:r>
          </a:p>
        </p:txBody>
      </p:sp>
      <p:sp>
        <p:nvSpPr>
          <p:cNvPr id="8" name="TextBox 7"/>
          <p:cNvSpPr txBox="1"/>
          <p:nvPr/>
        </p:nvSpPr>
        <p:spPr>
          <a:xfrm>
            <a:off x="822960" y="4526280"/>
            <a:ext cx="7498079" cy="822960"/>
          </a:xfrm>
          <a:prstGeom prst="rect">
            <a:avLst/>
          </a:prstGeom>
          <a:noFill/>
        </p:spPr>
        <p:txBody>
          <a:bodyPr wrap="square" lIns="0" rIns="0" tIns="0" bIns="0" anchor="t">
            <a:spAutoFit/>
          </a:bodyPr>
          <a:lstStyle/>
          <a:p>
            <a:pPr algn="l">
              <a:lnSpc>
                <a:spcPct val="130000"/>
              </a:lnSpc>
            </a:pPr>
            <a:r>
              <a:rPr sz="1300" b="0" i="0">
                <a:solidFill>
                  <a:srgbClr val="B9D3DF"/>
                </a:solidFill>
                <a:latin typeface="Calibri"/>
              </a:rPr>
              <a:t>A voice-first agent for the first ten minutes after a collision. Seven views of how it is built.</a:t>
            </a:r>
          </a:p>
        </p:txBody>
      </p:sp>
      <p:sp>
        <p:nvSpPr>
          <p:cNvPr id="9" name="TextBox 8"/>
          <p:cNvSpPr txBox="1"/>
          <p:nvPr/>
        </p:nvSpPr>
        <p:spPr>
          <a:xfrm>
            <a:off x="822960" y="5760720"/>
            <a:ext cx="7315200" cy="274320"/>
          </a:xfrm>
          <a:prstGeom prst="rect">
            <a:avLst/>
          </a:prstGeom>
          <a:noFill/>
        </p:spPr>
        <p:txBody>
          <a:bodyPr wrap="square" lIns="0" rIns="0" tIns="0" bIns="0" anchor="t">
            <a:spAutoFit/>
          </a:bodyPr>
          <a:lstStyle/>
          <a:p>
            <a:pPr algn="l"/>
            <a:r>
              <a:rPr sz="1050" b="1" i="0">
                <a:solidFill>
                  <a:srgbClr val="7FB2C8"/>
                </a:solidFill>
                <a:latin typeface="Calibri"/>
              </a:rPr>
              <a:t>Draft v1.0  ·  8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What is in this deck</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A technology stack is one view. An architecture needs several.</a:t>
            </a:r>
          </a:p>
        </p:txBody>
      </p:sp>
      <p:sp>
        <p:nvSpPr>
          <p:cNvPr id="6" name="TextBox 5"/>
          <p:cNvSpPr txBox="1"/>
          <p:nvPr/>
        </p:nvSpPr>
        <p:spPr>
          <a:xfrm>
            <a:off x="512064" y="969264"/>
            <a:ext cx="2072030" cy="201168"/>
          </a:xfrm>
          <a:prstGeom prst="rect">
            <a:avLst/>
          </a:prstGeom>
          <a:noFill/>
        </p:spPr>
        <p:txBody>
          <a:bodyPr wrap="square" lIns="0" rIns="0" tIns="0" bIns="0" anchor="t">
            <a:spAutoFit/>
          </a:bodyPr>
          <a:lstStyle/>
          <a:p>
            <a:pPr algn="l"/>
            <a:r>
              <a:rPr sz="860" b="1" i="0">
                <a:solidFill>
                  <a:srgbClr val="6B7A85"/>
                </a:solidFill>
                <a:latin typeface="Calibri"/>
              </a:rPr>
              <a:t>VIEW</a:t>
            </a:r>
          </a:p>
        </p:txBody>
      </p:sp>
      <p:sp>
        <p:nvSpPr>
          <p:cNvPr id="7" name="TextBox 6"/>
          <p:cNvSpPr txBox="1"/>
          <p:nvPr/>
        </p:nvSpPr>
        <p:spPr>
          <a:xfrm>
            <a:off x="2803550" y="969264"/>
            <a:ext cx="7571597" cy="201168"/>
          </a:xfrm>
          <a:prstGeom prst="rect">
            <a:avLst/>
          </a:prstGeom>
          <a:noFill/>
        </p:spPr>
        <p:txBody>
          <a:bodyPr wrap="square" lIns="0" rIns="0" tIns="0" bIns="0" anchor="t">
            <a:spAutoFit/>
          </a:bodyPr>
          <a:lstStyle/>
          <a:p>
            <a:pPr algn="l"/>
            <a:r>
              <a:rPr sz="860" b="1" i="0">
                <a:solidFill>
                  <a:srgbClr val="6B7A85"/>
                </a:solidFill>
                <a:latin typeface="Calibri"/>
              </a:rPr>
              <a:t>THE QUESTION IT ANSWERS</a:t>
            </a:r>
          </a:p>
        </p:txBody>
      </p:sp>
      <p:sp>
        <p:nvSpPr>
          <p:cNvPr id="8" name="TextBox 7"/>
          <p:cNvSpPr txBox="1"/>
          <p:nvPr/>
        </p:nvSpPr>
        <p:spPr>
          <a:xfrm>
            <a:off x="10594604" y="969264"/>
            <a:ext cx="1155435" cy="201168"/>
          </a:xfrm>
          <a:prstGeom prst="rect">
            <a:avLst/>
          </a:prstGeom>
          <a:noFill/>
        </p:spPr>
        <p:txBody>
          <a:bodyPr wrap="square" lIns="0" rIns="0" tIns="0" bIns="0" anchor="t">
            <a:spAutoFit/>
          </a:bodyPr>
          <a:lstStyle/>
          <a:p>
            <a:pPr algn="l"/>
            <a:r>
              <a:rPr sz="860" b="1" i="0">
                <a:solidFill>
                  <a:srgbClr val="6B7A85"/>
                </a:solidFill>
                <a:latin typeface="Calibri"/>
              </a:rPr>
              <a:t>SLIDE</a:t>
            </a:r>
          </a:p>
        </p:txBody>
      </p:sp>
      <p:sp>
        <p:nvSpPr>
          <p:cNvPr id="9" name="Rounded Rectangle 8"/>
          <p:cNvSpPr/>
          <p:nvPr/>
        </p:nvSpPr>
        <p:spPr>
          <a:xfrm>
            <a:off x="365760" y="1243584"/>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3776" y="1353312"/>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380744"/>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Context &amp; boundary</a:t>
            </a:r>
          </a:p>
        </p:txBody>
      </p:sp>
      <p:sp>
        <p:nvSpPr>
          <p:cNvPr id="12" name="TextBox 11"/>
          <p:cNvSpPr txBox="1"/>
          <p:nvPr/>
        </p:nvSpPr>
        <p:spPr>
          <a:xfrm>
            <a:off x="2803550" y="1380744"/>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What is inside the system, who is outside it, and which of them we actually talk to</a:t>
            </a:r>
          </a:p>
        </p:txBody>
      </p:sp>
      <p:sp>
        <p:nvSpPr>
          <p:cNvPr id="13" name="TextBox 12"/>
          <p:cNvSpPr txBox="1"/>
          <p:nvPr/>
        </p:nvSpPr>
        <p:spPr>
          <a:xfrm>
            <a:off x="10594604" y="1380744"/>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3</a:t>
            </a:r>
          </a:p>
        </p:txBody>
      </p:sp>
      <p:sp>
        <p:nvSpPr>
          <p:cNvPr id="14" name="Rounded Rectangle 13"/>
          <p:cNvSpPr/>
          <p:nvPr/>
        </p:nvSpPr>
        <p:spPr>
          <a:xfrm>
            <a:off x="365760" y="1832863"/>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3776" y="1942592"/>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1970023"/>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Technology stack</a:t>
            </a:r>
          </a:p>
        </p:txBody>
      </p:sp>
      <p:sp>
        <p:nvSpPr>
          <p:cNvPr id="17" name="TextBox 16"/>
          <p:cNvSpPr txBox="1"/>
          <p:nvPr/>
        </p:nvSpPr>
        <p:spPr>
          <a:xfrm>
            <a:off x="2803550" y="1970023"/>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What we build on, layer by layer — and what is bought versus custom built</a:t>
            </a:r>
          </a:p>
        </p:txBody>
      </p:sp>
      <p:sp>
        <p:nvSpPr>
          <p:cNvPr id="18" name="TextBox 17"/>
          <p:cNvSpPr txBox="1"/>
          <p:nvPr/>
        </p:nvSpPr>
        <p:spPr>
          <a:xfrm>
            <a:off x="10594604" y="1970023"/>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4</a:t>
            </a:r>
          </a:p>
        </p:txBody>
      </p:sp>
      <p:sp>
        <p:nvSpPr>
          <p:cNvPr id="19" name="Rounded Rectangle 18"/>
          <p:cNvSpPr/>
          <p:nvPr/>
        </p:nvSpPr>
        <p:spPr>
          <a:xfrm>
            <a:off x="365760" y="2422143"/>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2531872"/>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2559303"/>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The agent graph</a:t>
            </a:r>
          </a:p>
        </p:txBody>
      </p:sp>
      <p:sp>
        <p:nvSpPr>
          <p:cNvPr id="22" name="TextBox 21"/>
          <p:cNvSpPr txBox="1"/>
          <p:nvPr/>
        </p:nvSpPr>
        <p:spPr>
          <a:xfrm>
            <a:off x="2803550" y="2559303"/>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control flow. Which node runs when, and what can pre-empt what</a:t>
            </a:r>
          </a:p>
        </p:txBody>
      </p:sp>
      <p:sp>
        <p:nvSpPr>
          <p:cNvPr id="23" name="TextBox 22"/>
          <p:cNvSpPr txBox="1"/>
          <p:nvPr/>
        </p:nvSpPr>
        <p:spPr>
          <a:xfrm>
            <a:off x="10594604" y="2559303"/>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5</a:t>
            </a:r>
          </a:p>
        </p:txBody>
      </p:sp>
      <p:sp>
        <p:nvSpPr>
          <p:cNvPr id="24" name="Rounded Rectangle 23"/>
          <p:cNvSpPr/>
          <p:nvPr/>
        </p:nvSpPr>
        <p:spPr>
          <a:xfrm>
            <a:off x="365760" y="3011423"/>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93776" y="3121152"/>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 y="3148583"/>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One turn, end to end</a:t>
            </a:r>
          </a:p>
        </p:txBody>
      </p:sp>
      <p:sp>
        <p:nvSpPr>
          <p:cNvPr id="27" name="TextBox 26"/>
          <p:cNvSpPr txBox="1"/>
          <p:nvPr/>
        </p:nvSpPr>
        <p:spPr>
          <a:xfrm>
            <a:off x="2803550" y="3148583"/>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How a single utterance crosses the stack, and where the 2.5 seconds go</a:t>
            </a:r>
          </a:p>
        </p:txBody>
      </p:sp>
      <p:sp>
        <p:nvSpPr>
          <p:cNvPr id="28" name="TextBox 27"/>
          <p:cNvSpPr txBox="1"/>
          <p:nvPr/>
        </p:nvSpPr>
        <p:spPr>
          <a:xfrm>
            <a:off x="10594604" y="3148583"/>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6</a:t>
            </a:r>
          </a:p>
        </p:txBody>
      </p:sp>
      <p:sp>
        <p:nvSpPr>
          <p:cNvPr id="29" name="Rounded Rectangle 28"/>
          <p:cNvSpPr/>
          <p:nvPr/>
        </p:nvSpPr>
        <p:spPr>
          <a:xfrm>
            <a:off x="365760" y="3600703"/>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3710431"/>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3737863"/>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Data architecture</a:t>
            </a:r>
          </a:p>
        </p:txBody>
      </p:sp>
      <p:sp>
        <p:nvSpPr>
          <p:cNvPr id="32" name="TextBox 31"/>
          <p:cNvSpPr txBox="1"/>
          <p:nvPr/>
        </p:nvSpPr>
        <p:spPr>
          <a:xfrm>
            <a:off x="2803550" y="3737863"/>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What data exists, where each kind lives, and how long it stays</a:t>
            </a:r>
          </a:p>
        </p:txBody>
      </p:sp>
      <p:sp>
        <p:nvSpPr>
          <p:cNvPr id="33" name="TextBox 32"/>
          <p:cNvSpPr txBox="1"/>
          <p:nvPr/>
        </p:nvSpPr>
        <p:spPr>
          <a:xfrm>
            <a:off x="10594604" y="3737863"/>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7</a:t>
            </a:r>
          </a:p>
        </p:txBody>
      </p:sp>
      <p:sp>
        <p:nvSpPr>
          <p:cNvPr id="34" name="Rounded Rectangle 33"/>
          <p:cNvSpPr/>
          <p:nvPr/>
        </p:nvSpPr>
        <p:spPr>
          <a:xfrm>
            <a:off x="365760" y="4189983"/>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3776" y="4299712"/>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4327144"/>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Autonomy &amp; safety</a:t>
            </a:r>
          </a:p>
        </p:txBody>
      </p:sp>
      <p:sp>
        <p:nvSpPr>
          <p:cNvPr id="37" name="TextBox 36"/>
          <p:cNvSpPr txBox="1"/>
          <p:nvPr/>
        </p:nvSpPr>
        <p:spPr>
          <a:xfrm>
            <a:off x="2803550" y="4327144"/>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What the agent does alone, what it must ask, and where it stops</a:t>
            </a:r>
          </a:p>
        </p:txBody>
      </p:sp>
      <p:sp>
        <p:nvSpPr>
          <p:cNvPr id="38" name="TextBox 37"/>
          <p:cNvSpPr txBox="1"/>
          <p:nvPr/>
        </p:nvSpPr>
        <p:spPr>
          <a:xfrm>
            <a:off x="10594604" y="4327144"/>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8</a:t>
            </a:r>
          </a:p>
        </p:txBody>
      </p:sp>
      <p:sp>
        <p:nvSpPr>
          <p:cNvPr id="39" name="Rounded Rectangle 38"/>
          <p:cNvSpPr/>
          <p:nvPr/>
        </p:nvSpPr>
        <p:spPr>
          <a:xfrm>
            <a:off x="365760" y="4779264"/>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493776" y="4888992"/>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6656" y="4916424"/>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Deployment &amp; NFRs</a:t>
            </a:r>
          </a:p>
        </p:txBody>
      </p:sp>
      <p:sp>
        <p:nvSpPr>
          <p:cNvPr id="42" name="TextBox 41"/>
          <p:cNvSpPr txBox="1"/>
          <p:nvPr/>
        </p:nvSpPr>
        <p:spPr>
          <a:xfrm>
            <a:off x="2803550" y="4916424"/>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What runs where, and the targets the design has to hit</a:t>
            </a:r>
          </a:p>
        </p:txBody>
      </p:sp>
      <p:sp>
        <p:nvSpPr>
          <p:cNvPr id="43" name="TextBox 42"/>
          <p:cNvSpPr txBox="1"/>
          <p:nvPr/>
        </p:nvSpPr>
        <p:spPr>
          <a:xfrm>
            <a:off x="10594604" y="4916424"/>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9 – 10</a:t>
            </a:r>
          </a:p>
        </p:txBody>
      </p:sp>
      <p:sp>
        <p:nvSpPr>
          <p:cNvPr id="44" name="Rounded Rectangle 43"/>
          <p:cNvSpPr/>
          <p:nvPr/>
        </p:nvSpPr>
        <p:spPr>
          <a:xfrm>
            <a:off x="365760" y="5368543"/>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493776" y="5478272"/>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656" y="5505704"/>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Layer detail</a:t>
            </a:r>
          </a:p>
        </p:txBody>
      </p:sp>
      <p:sp>
        <p:nvSpPr>
          <p:cNvPr id="47" name="TextBox 46"/>
          <p:cNvSpPr txBox="1"/>
          <p:nvPr/>
        </p:nvSpPr>
        <p:spPr>
          <a:xfrm>
            <a:off x="2803550" y="5505704"/>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Each layer: what it carries, how it connects, and the decision that matters</a:t>
            </a:r>
          </a:p>
        </p:txBody>
      </p:sp>
      <p:sp>
        <p:nvSpPr>
          <p:cNvPr id="48" name="TextBox 47"/>
          <p:cNvSpPr txBox="1"/>
          <p:nvPr/>
        </p:nvSpPr>
        <p:spPr>
          <a:xfrm>
            <a:off x="10594604" y="5505704"/>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11 – 17</a:t>
            </a:r>
          </a:p>
        </p:txBody>
      </p:sp>
      <p:sp>
        <p:nvSpPr>
          <p:cNvPr id="49" name="Rounded Rectangle 48"/>
          <p:cNvSpPr/>
          <p:nvPr/>
        </p:nvSpPr>
        <p:spPr>
          <a:xfrm>
            <a:off x="365760" y="5957823"/>
            <a:ext cx="11457432" cy="49783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493776" y="6067551"/>
            <a:ext cx="73152" cy="278383"/>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 y="6094983"/>
            <a:ext cx="1834286" cy="223519"/>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Decisions &amp; next steps</a:t>
            </a:r>
          </a:p>
        </p:txBody>
      </p:sp>
      <p:sp>
        <p:nvSpPr>
          <p:cNvPr id="52" name="TextBox 51"/>
          <p:cNvSpPr txBox="1"/>
          <p:nvPr/>
        </p:nvSpPr>
        <p:spPr>
          <a:xfrm>
            <a:off x="2803550" y="6094983"/>
            <a:ext cx="7516733"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What we chose, what we rejected, and what happens after this</a:t>
            </a:r>
          </a:p>
        </p:txBody>
      </p:sp>
      <p:sp>
        <p:nvSpPr>
          <p:cNvPr id="53" name="TextBox 52"/>
          <p:cNvSpPr txBox="1"/>
          <p:nvPr/>
        </p:nvSpPr>
        <p:spPr>
          <a:xfrm>
            <a:off x="10594604" y="6094983"/>
            <a:ext cx="1100571" cy="223519"/>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18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Context &amp; boundary</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What is inside the system, and who is outside it.</a:t>
            </a:r>
          </a:p>
        </p:txBody>
      </p:sp>
      <p:pic>
        <p:nvPicPr>
          <p:cNvPr id="6" name="Picture 5" descr="arch_context.png"/>
          <p:cNvPicPr>
            <a:picLocks noChangeAspect="1"/>
          </p:cNvPicPr>
          <p:nvPr/>
        </p:nvPicPr>
        <p:blipFill>
          <a:blip r:embed="rId2"/>
          <a:stretch>
            <a:fillRect/>
          </a:stretch>
        </p:blipFill>
        <p:spPr>
          <a:xfrm>
            <a:off x="883767" y="987552"/>
            <a:ext cx="10424160" cy="5164217"/>
          </a:xfrm>
          <a:prstGeom prst="rect">
            <a:avLst/>
          </a:prstGeom>
        </p:spPr>
      </p:pic>
      <p:sp>
        <p:nvSpPr>
          <p:cNvPr id="7" name="Rounded Rectangle 6"/>
          <p:cNvSpPr/>
          <p:nvPr/>
        </p:nvSpPr>
        <p:spPr>
          <a:xfrm>
            <a:off x="365760" y="5943600"/>
            <a:ext cx="11457432" cy="640080"/>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053328"/>
            <a:ext cx="11064240" cy="420624"/>
          </a:xfrm>
          <a:prstGeom prst="rect">
            <a:avLst/>
          </a:prstGeom>
          <a:noFill/>
        </p:spPr>
        <p:txBody>
          <a:bodyPr wrap="square" lIns="0" rIns="0" tIns="0" bIns="0" anchor="t">
            <a:spAutoFit/>
          </a:bodyPr>
          <a:lstStyle/>
          <a:p>
            <a:pPr algn="l">
              <a:lnSpc>
                <a:spcPct val="118000"/>
              </a:lnSpc>
            </a:pPr>
            <a:r>
              <a:rPr sz="1100" b="1" i="0">
                <a:solidFill>
                  <a:srgbClr val="463283"/>
                </a:solidFill>
                <a:latin typeface="Calibri"/>
              </a:rPr>
              <a:t>The agent never contacts anyone. It tells her to call the emergency services; it sends the pack to her insurer only when she approves.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859536"/>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46304"/>
            <a:ext cx="6766560" cy="329184"/>
          </a:xfrm>
          <a:prstGeom prst="rect">
            <a:avLst/>
          </a:prstGeom>
          <a:noFill/>
        </p:spPr>
        <p:txBody>
          <a:bodyPr wrap="square" lIns="0" rIns="0" tIns="0" bIns="0" anchor="t">
            <a:spAutoFit/>
          </a:bodyPr>
          <a:lstStyle/>
          <a:p>
            <a:pPr algn="l"/>
            <a:r>
              <a:rPr sz="1900" b="1" i="0">
                <a:solidFill>
                  <a:srgbClr val="FFFFFF"/>
                </a:solidFill>
                <a:latin typeface="Cambria"/>
              </a:rPr>
              <a:t>CRISIS COACH  ·  AGENTIC AI TECH STACK</a:t>
            </a:r>
          </a:p>
        </p:txBody>
      </p:sp>
      <p:sp>
        <p:nvSpPr>
          <p:cNvPr id="5" name="TextBox 4"/>
          <p:cNvSpPr txBox="1"/>
          <p:nvPr/>
        </p:nvSpPr>
        <p:spPr>
          <a:xfrm>
            <a:off x="365760" y="512064"/>
            <a:ext cx="6766560" cy="201168"/>
          </a:xfrm>
          <a:prstGeom prst="rect">
            <a:avLst/>
          </a:prstGeom>
          <a:noFill/>
        </p:spPr>
        <p:txBody>
          <a:bodyPr wrap="square" lIns="0" rIns="0" tIns="0" bIns="0" anchor="t">
            <a:spAutoFit/>
          </a:bodyPr>
          <a:lstStyle/>
          <a:p>
            <a:pPr algn="l"/>
            <a:r>
              <a:rPr sz="950" b="0" i="0">
                <a:solidFill>
                  <a:srgbClr val="9FC0D0"/>
                </a:solidFill>
                <a:latin typeface="Calibri"/>
              </a:rPr>
              <a:t>Only the layers we use. Every block: the tool, and what it is for.</a:t>
            </a:r>
          </a:p>
        </p:txBody>
      </p:sp>
      <p:sp>
        <p:nvSpPr>
          <p:cNvPr id="6" name="Rounded Rectangle 5"/>
          <p:cNvSpPr/>
          <p:nvPr/>
        </p:nvSpPr>
        <p:spPr>
          <a:xfrm>
            <a:off x="7370064" y="256032"/>
            <a:ext cx="347472" cy="31089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ngchain.png"/>
          <p:cNvPicPr>
            <a:picLocks noChangeAspect="1"/>
          </p:cNvPicPr>
          <p:nvPr/>
        </p:nvPicPr>
        <p:blipFill>
          <a:blip r:embed="rId2"/>
          <a:stretch>
            <a:fillRect/>
          </a:stretch>
        </p:blipFill>
        <p:spPr>
          <a:xfrm>
            <a:off x="7406640" y="274320"/>
            <a:ext cx="274320" cy="274320"/>
          </a:xfrm>
          <a:prstGeom prst="rect">
            <a:avLst/>
          </a:prstGeom>
        </p:spPr>
      </p:pic>
      <p:sp>
        <p:nvSpPr>
          <p:cNvPr id="8" name="TextBox 7"/>
          <p:cNvSpPr txBox="1"/>
          <p:nvPr/>
        </p:nvSpPr>
        <p:spPr>
          <a:xfrm>
            <a:off x="7808975" y="256032"/>
            <a:ext cx="1188720" cy="182880"/>
          </a:xfrm>
          <a:prstGeom prst="rect">
            <a:avLst/>
          </a:prstGeom>
          <a:noFill/>
        </p:spPr>
        <p:txBody>
          <a:bodyPr wrap="square" lIns="0" rIns="0" tIns="0" bIns="0" anchor="t">
            <a:spAutoFit/>
          </a:bodyPr>
          <a:lstStyle/>
          <a:p>
            <a:pPr algn="l"/>
            <a:r>
              <a:rPr sz="760" b="1" i="0">
                <a:solidFill>
                  <a:srgbClr val="FFFFFF"/>
                </a:solidFill>
                <a:latin typeface="Calibri"/>
              </a:rPr>
              <a:t>OFF THE SHELF</a:t>
            </a:r>
          </a:p>
        </p:txBody>
      </p:sp>
      <p:sp>
        <p:nvSpPr>
          <p:cNvPr id="9" name="TextBox 8"/>
          <p:cNvSpPr txBox="1"/>
          <p:nvPr/>
        </p:nvSpPr>
        <p:spPr>
          <a:xfrm>
            <a:off x="7808975" y="420624"/>
            <a:ext cx="1280160" cy="182880"/>
          </a:xfrm>
          <a:prstGeom prst="rect">
            <a:avLst/>
          </a:prstGeom>
          <a:noFill/>
        </p:spPr>
        <p:txBody>
          <a:bodyPr wrap="square" lIns="0" rIns="0" tIns="0" bIns="0" anchor="t">
            <a:spAutoFit/>
          </a:bodyPr>
          <a:lstStyle/>
          <a:p>
            <a:pPr algn="l"/>
            <a:r>
              <a:rPr sz="700" b="0" i="0">
                <a:solidFill>
                  <a:srgbClr val="9FC0D0"/>
                </a:solidFill>
                <a:latin typeface="Calibri"/>
              </a:rPr>
              <a:t>logo = bought in</a:t>
            </a:r>
          </a:p>
        </p:txBody>
      </p:sp>
      <p:sp>
        <p:nvSpPr>
          <p:cNvPr id="10" name="Rounded Rectangle 9"/>
          <p:cNvSpPr/>
          <p:nvPr/>
        </p:nvSpPr>
        <p:spPr>
          <a:xfrm>
            <a:off x="9162288" y="274320"/>
            <a:ext cx="566928" cy="16459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62288" y="285292"/>
            <a:ext cx="566928" cy="146304"/>
          </a:xfrm>
          <a:prstGeom prst="rect">
            <a:avLst/>
          </a:prstGeom>
          <a:noFill/>
        </p:spPr>
        <p:txBody>
          <a:bodyPr wrap="square" lIns="0" rIns="0" tIns="0" bIns="0" anchor="t">
            <a:spAutoFit/>
          </a:bodyPr>
          <a:lstStyle/>
          <a:p>
            <a:pPr algn="ctr"/>
            <a:r>
              <a:rPr sz="620" b="1" i="0">
                <a:solidFill>
                  <a:srgbClr val="FFFFFF"/>
                </a:solidFill>
                <a:latin typeface="Calibri"/>
              </a:rPr>
              <a:t>CUSTOM</a:t>
            </a:r>
          </a:p>
        </p:txBody>
      </p:sp>
      <p:sp>
        <p:nvSpPr>
          <p:cNvPr id="12" name="TextBox 11"/>
          <p:cNvSpPr txBox="1"/>
          <p:nvPr/>
        </p:nvSpPr>
        <p:spPr>
          <a:xfrm>
            <a:off x="9802367" y="256032"/>
            <a:ext cx="1188720" cy="182880"/>
          </a:xfrm>
          <a:prstGeom prst="rect">
            <a:avLst/>
          </a:prstGeom>
          <a:noFill/>
        </p:spPr>
        <p:txBody>
          <a:bodyPr wrap="square" lIns="0" rIns="0" tIns="0" bIns="0" anchor="t">
            <a:spAutoFit/>
          </a:bodyPr>
          <a:lstStyle/>
          <a:p>
            <a:pPr algn="l"/>
            <a:r>
              <a:rPr sz="760" b="1" i="0">
                <a:solidFill>
                  <a:srgbClr val="FFFFFF"/>
                </a:solidFill>
                <a:latin typeface="Calibri"/>
              </a:rPr>
              <a:t>CUSTOM BUILT</a:t>
            </a:r>
          </a:p>
        </p:txBody>
      </p:sp>
      <p:sp>
        <p:nvSpPr>
          <p:cNvPr id="13" name="TextBox 12"/>
          <p:cNvSpPr txBox="1"/>
          <p:nvPr/>
        </p:nvSpPr>
        <p:spPr>
          <a:xfrm>
            <a:off x="9802367" y="420624"/>
            <a:ext cx="1371600" cy="182880"/>
          </a:xfrm>
          <a:prstGeom prst="rect">
            <a:avLst/>
          </a:prstGeom>
          <a:noFill/>
        </p:spPr>
        <p:txBody>
          <a:bodyPr wrap="square" lIns="0" rIns="0" tIns="0" bIns="0" anchor="t">
            <a:spAutoFit/>
          </a:bodyPr>
          <a:lstStyle/>
          <a:p>
            <a:pPr algn="l"/>
            <a:r>
              <a:rPr sz="700" b="0" i="0">
                <a:solidFill>
                  <a:srgbClr val="9FC0D0"/>
                </a:solidFill>
                <a:latin typeface="Calibri"/>
              </a:rPr>
              <a:t>the domain judgement</a:t>
            </a:r>
          </a:p>
        </p:txBody>
      </p:sp>
      <p:sp>
        <p:nvSpPr>
          <p:cNvPr id="14" name="Rounded Rectangle 13"/>
          <p:cNvSpPr/>
          <p:nvPr/>
        </p:nvSpPr>
        <p:spPr>
          <a:xfrm>
            <a:off x="365760" y="1024128"/>
            <a:ext cx="7863840" cy="877824"/>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12064" y="928116"/>
            <a:ext cx="1778508" cy="201168"/>
          </a:xfrm>
          <a:prstGeom prst="roundRect">
            <a:avLst>
              <a:gd name="adj" fmla="val 45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957376"/>
            <a:ext cx="1778508" cy="146304"/>
          </a:xfrm>
          <a:prstGeom prst="rect">
            <a:avLst/>
          </a:prstGeom>
          <a:noFill/>
        </p:spPr>
        <p:txBody>
          <a:bodyPr wrap="square" lIns="0" rIns="0" tIns="0" bIns="0" anchor="t">
            <a:spAutoFit/>
          </a:bodyPr>
          <a:lstStyle/>
          <a:p>
            <a:pPr algn="ctr"/>
            <a:r>
              <a:rPr sz="819" b="1" i="0">
                <a:solidFill>
                  <a:srgbClr val="FFFFFF"/>
                </a:solidFill>
                <a:latin typeface="Calibri"/>
              </a:rPr>
              <a:t>1 · APPLICATION</a:t>
            </a:r>
          </a:p>
        </p:txBody>
      </p:sp>
      <p:sp>
        <p:nvSpPr>
          <p:cNvPr id="17" name="Rounded Rectangle 16"/>
          <p:cNvSpPr/>
          <p:nvPr/>
        </p:nvSpPr>
        <p:spPr>
          <a:xfrm>
            <a:off x="475488" y="120700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treamlit.png"/>
          <p:cNvPicPr>
            <a:picLocks noChangeAspect="1"/>
          </p:cNvPicPr>
          <p:nvPr/>
        </p:nvPicPr>
        <p:blipFill>
          <a:blip r:embed="rId3"/>
          <a:stretch>
            <a:fillRect/>
          </a:stretch>
        </p:blipFill>
        <p:spPr>
          <a:xfrm>
            <a:off x="557784" y="1325880"/>
            <a:ext cx="347472" cy="347472"/>
          </a:xfrm>
          <a:prstGeom prst="rect">
            <a:avLst/>
          </a:prstGeom>
        </p:spPr>
      </p:pic>
      <p:sp>
        <p:nvSpPr>
          <p:cNvPr id="19" name="TextBox 18"/>
          <p:cNvSpPr txBox="1"/>
          <p:nvPr/>
        </p:nvSpPr>
        <p:spPr>
          <a:xfrm>
            <a:off x="1024128" y="1289304"/>
            <a:ext cx="1220723" cy="219456"/>
          </a:xfrm>
          <a:prstGeom prst="rect">
            <a:avLst/>
          </a:prstGeom>
          <a:noFill/>
        </p:spPr>
        <p:txBody>
          <a:bodyPr wrap="square" lIns="0" rIns="0" tIns="0" bIns="0" anchor="t">
            <a:spAutoFit/>
          </a:bodyPr>
          <a:lstStyle/>
          <a:p>
            <a:pPr algn="l"/>
            <a:r>
              <a:rPr sz="1050" b="1" i="0">
                <a:solidFill>
                  <a:srgbClr val="0E3A4C"/>
                </a:solidFill>
                <a:latin typeface="Calibri"/>
              </a:rPr>
              <a:t>Streamlit</a:t>
            </a:r>
          </a:p>
        </p:txBody>
      </p:sp>
      <p:sp>
        <p:nvSpPr>
          <p:cNvPr id="20" name="TextBox 19"/>
          <p:cNvSpPr txBox="1"/>
          <p:nvPr/>
        </p:nvSpPr>
        <p:spPr>
          <a:xfrm>
            <a:off x="1024128" y="150876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Phone-shaped web UI</a:t>
            </a:r>
          </a:p>
        </p:txBody>
      </p:sp>
      <p:sp>
        <p:nvSpPr>
          <p:cNvPr id="21" name="Rounded Rectangle 20"/>
          <p:cNvSpPr/>
          <p:nvPr/>
        </p:nvSpPr>
        <p:spPr>
          <a:xfrm>
            <a:off x="2409444" y="120700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levenlabs.png"/>
          <p:cNvPicPr>
            <a:picLocks noChangeAspect="1"/>
          </p:cNvPicPr>
          <p:nvPr/>
        </p:nvPicPr>
        <p:blipFill>
          <a:blip r:embed="rId4"/>
          <a:stretch>
            <a:fillRect/>
          </a:stretch>
        </p:blipFill>
        <p:spPr>
          <a:xfrm>
            <a:off x="2491739" y="1325880"/>
            <a:ext cx="347472" cy="347472"/>
          </a:xfrm>
          <a:prstGeom prst="rect">
            <a:avLst/>
          </a:prstGeom>
        </p:spPr>
      </p:pic>
      <p:sp>
        <p:nvSpPr>
          <p:cNvPr id="23" name="TextBox 22"/>
          <p:cNvSpPr txBox="1"/>
          <p:nvPr/>
        </p:nvSpPr>
        <p:spPr>
          <a:xfrm>
            <a:off x="2958084" y="1289304"/>
            <a:ext cx="1220723" cy="219456"/>
          </a:xfrm>
          <a:prstGeom prst="rect">
            <a:avLst/>
          </a:prstGeom>
          <a:noFill/>
        </p:spPr>
        <p:txBody>
          <a:bodyPr wrap="square" lIns="0" rIns="0" tIns="0" bIns="0" anchor="t">
            <a:spAutoFit/>
          </a:bodyPr>
          <a:lstStyle/>
          <a:p>
            <a:pPr algn="l"/>
            <a:r>
              <a:rPr sz="1050" b="1" i="0">
                <a:solidFill>
                  <a:srgbClr val="0E3A4C"/>
                </a:solidFill>
                <a:latin typeface="Calibri"/>
              </a:rPr>
              <a:t>ElevenLabs</a:t>
            </a:r>
          </a:p>
        </p:txBody>
      </p:sp>
      <p:sp>
        <p:nvSpPr>
          <p:cNvPr id="24" name="TextBox 23"/>
          <p:cNvSpPr txBox="1"/>
          <p:nvPr/>
        </p:nvSpPr>
        <p:spPr>
          <a:xfrm>
            <a:off x="2958084" y="150876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Voice in and out</a:t>
            </a:r>
          </a:p>
        </p:txBody>
      </p:sp>
      <p:sp>
        <p:nvSpPr>
          <p:cNvPr id="25" name="Rounded Rectangle 24"/>
          <p:cNvSpPr/>
          <p:nvPr/>
        </p:nvSpPr>
        <p:spPr>
          <a:xfrm>
            <a:off x="4343400" y="1207008"/>
            <a:ext cx="1842515"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545836" y="126187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45836" y="126141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28" name="TextBox 27"/>
          <p:cNvSpPr txBox="1"/>
          <p:nvPr/>
        </p:nvSpPr>
        <p:spPr>
          <a:xfrm>
            <a:off x="4453128" y="1289304"/>
            <a:ext cx="1056131" cy="219456"/>
          </a:xfrm>
          <a:prstGeom prst="rect">
            <a:avLst/>
          </a:prstGeom>
          <a:noFill/>
        </p:spPr>
        <p:txBody>
          <a:bodyPr wrap="square" lIns="0" rIns="0" tIns="0" bIns="0" anchor="t">
            <a:spAutoFit/>
          </a:bodyPr>
          <a:lstStyle/>
          <a:p>
            <a:pPr algn="l"/>
            <a:r>
              <a:rPr sz="1050" b="1" i="0">
                <a:solidFill>
                  <a:srgbClr val="463283"/>
                </a:solidFill>
                <a:latin typeface="Calibri"/>
              </a:rPr>
              <a:t>Photo capture</a:t>
            </a:r>
          </a:p>
        </p:txBody>
      </p:sp>
      <p:sp>
        <p:nvSpPr>
          <p:cNvPr id="29" name="TextBox 28"/>
          <p:cNvSpPr txBox="1"/>
          <p:nvPr/>
        </p:nvSpPr>
        <p:spPr>
          <a:xfrm>
            <a:off x="4453128" y="1508760"/>
            <a:ext cx="1623059"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Live shots or upload</a:t>
            </a:r>
          </a:p>
        </p:txBody>
      </p:sp>
      <p:sp>
        <p:nvSpPr>
          <p:cNvPr id="30" name="Rounded Rectangle 29"/>
          <p:cNvSpPr/>
          <p:nvPr/>
        </p:nvSpPr>
        <p:spPr>
          <a:xfrm>
            <a:off x="6277355" y="120700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python.png"/>
          <p:cNvPicPr>
            <a:picLocks noChangeAspect="1"/>
          </p:cNvPicPr>
          <p:nvPr/>
        </p:nvPicPr>
        <p:blipFill>
          <a:blip r:embed="rId5"/>
          <a:stretch>
            <a:fillRect/>
          </a:stretch>
        </p:blipFill>
        <p:spPr>
          <a:xfrm>
            <a:off x="6359651" y="1325880"/>
            <a:ext cx="347472" cy="347472"/>
          </a:xfrm>
          <a:prstGeom prst="rect">
            <a:avLst/>
          </a:prstGeom>
        </p:spPr>
      </p:pic>
      <p:sp>
        <p:nvSpPr>
          <p:cNvPr id="32" name="TextBox 31"/>
          <p:cNvSpPr txBox="1"/>
          <p:nvPr/>
        </p:nvSpPr>
        <p:spPr>
          <a:xfrm>
            <a:off x="6825995" y="1289304"/>
            <a:ext cx="1220723" cy="219456"/>
          </a:xfrm>
          <a:prstGeom prst="rect">
            <a:avLst/>
          </a:prstGeom>
          <a:noFill/>
        </p:spPr>
        <p:txBody>
          <a:bodyPr wrap="square" lIns="0" rIns="0" tIns="0" bIns="0" anchor="t">
            <a:spAutoFit/>
          </a:bodyPr>
          <a:lstStyle/>
          <a:p>
            <a:pPr algn="l"/>
            <a:r>
              <a:rPr sz="1050" b="1" i="0">
                <a:solidFill>
                  <a:srgbClr val="0E3A4C"/>
                </a:solidFill>
                <a:latin typeface="Calibri"/>
              </a:rPr>
              <a:t>python-docx</a:t>
            </a:r>
          </a:p>
        </p:txBody>
      </p:sp>
      <p:sp>
        <p:nvSpPr>
          <p:cNvPr id="33" name="TextBox 32"/>
          <p:cNvSpPr txBox="1"/>
          <p:nvPr/>
        </p:nvSpPr>
        <p:spPr>
          <a:xfrm>
            <a:off x="6825995" y="150876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The evidence pack</a:t>
            </a:r>
          </a:p>
        </p:txBody>
      </p:sp>
      <p:sp>
        <p:nvSpPr>
          <p:cNvPr id="34" name="Rounded Rectangle 33"/>
          <p:cNvSpPr/>
          <p:nvPr/>
        </p:nvSpPr>
        <p:spPr>
          <a:xfrm>
            <a:off x="365760" y="2075688"/>
            <a:ext cx="7863840" cy="877824"/>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12064" y="1979676"/>
            <a:ext cx="2299716" cy="201168"/>
          </a:xfrm>
          <a:prstGeom prst="roundRect">
            <a:avLst>
              <a:gd name="adj" fmla="val 4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 y="2008936"/>
            <a:ext cx="2299716" cy="146304"/>
          </a:xfrm>
          <a:prstGeom prst="rect">
            <a:avLst/>
          </a:prstGeom>
          <a:noFill/>
        </p:spPr>
        <p:txBody>
          <a:bodyPr wrap="square" lIns="0" rIns="0" tIns="0" bIns="0" anchor="t">
            <a:spAutoFit/>
          </a:bodyPr>
          <a:lstStyle/>
          <a:p>
            <a:pPr algn="ctr"/>
            <a:r>
              <a:rPr sz="819" b="1" i="0">
                <a:solidFill>
                  <a:srgbClr val="FFFFFF"/>
                </a:solidFill>
                <a:latin typeface="Calibri"/>
              </a:rPr>
              <a:t>2 · AGENTIC FRAMEWORK</a:t>
            </a:r>
          </a:p>
        </p:txBody>
      </p:sp>
      <p:sp>
        <p:nvSpPr>
          <p:cNvPr id="37" name="Rounded Rectangle 36"/>
          <p:cNvSpPr/>
          <p:nvPr/>
        </p:nvSpPr>
        <p:spPr>
          <a:xfrm>
            <a:off x="475488" y="225856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langchain.png"/>
          <p:cNvPicPr>
            <a:picLocks noChangeAspect="1"/>
          </p:cNvPicPr>
          <p:nvPr/>
        </p:nvPicPr>
        <p:blipFill>
          <a:blip r:embed="rId2"/>
          <a:stretch>
            <a:fillRect/>
          </a:stretch>
        </p:blipFill>
        <p:spPr>
          <a:xfrm>
            <a:off x="557784" y="2377440"/>
            <a:ext cx="347472" cy="347472"/>
          </a:xfrm>
          <a:prstGeom prst="rect">
            <a:avLst/>
          </a:prstGeom>
        </p:spPr>
      </p:pic>
      <p:sp>
        <p:nvSpPr>
          <p:cNvPr id="39" name="TextBox 38"/>
          <p:cNvSpPr txBox="1"/>
          <p:nvPr/>
        </p:nvSpPr>
        <p:spPr>
          <a:xfrm>
            <a:off x="1024128" y="2340864"/>
            <a:ext cx="1220723" cy="219456"/>
          </a:xfrm>
          <a:prstGeom prst="rect">
            <a:avLst/>
          </a:prstGeom>
          <a:noFill/>
        </p:spPr>
        <p:txBody>
          <a:bodyPr wrap="square" lIns="0" rIns="0" tIns="0" bIns="0" anchor="t">
            <a:spAutoFit/>
          </a:bodyPr>
          <a:lstStyle/>
          <a:p>
            <a:pPr algn="l"/>
            <a:r>
              <a:rPr sz="1050" b="1" i="0">
                <a:solidFill>
                  <a:srgbClr val="0E3A4C"/>
                </a:solidFill>
                <a:latin typeface="Calibri"/>
              </a:rPr>
              <a:t>LangGraph</a:t>
            </a:r>
          </a:p>
        </p:txBody>
      </p:sp>
      <p:sp>
        <p:nvSpPr>
          <p:cNvPr id="40" name="TextBox 39"/>
          <p:cNvSpPr txBox="1"/>
          <p:nvPr/>
        </p:nvSpPr>
        <p:spPr>
          <a:xfrm>
            <a:off x="1024128" y="256032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Scene loop, interrupts</a:t>
            </a:r>
          </a:p>
        </p:txBody>
      </p:sp>
      <p:sp>
        <p:nvSpPr>
          <p:cNvPr id="41" name="Rounded Rectangle 40"/>
          <p:cNvSpPr/>
          <p:nvPr/>
        </p:nvSpPr>
        <p:spPr>
          <a:xfrm>
            <a:off x="2409444" y="225856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langchain.png"/>
          <p:cNvPicPr>
            <a:picLocks noChangeAspect="1"/>
          </p:cNvPicPr>
          <p:nvPr/>
        </p:nvPicPr>
        <p:blipFill>
          <a:blip r:embed="rId2"/>
          <a:stretch>
            <a:fillRect/>
          </a:stretch>
        </p:blipFill>
        <p:spPr>
          <a:xfrm>
            <a:off x="2491739" y="2377440"/>
            <a:ext cx="347472" cy="347472"/>
          </a:xfrm>
          <a:prstGeom prst="rect">
            <a:avLst/>
          </a:prstGeom>
        </p:spPr>
      </p:pic>
      <p:sp>
        <p:nvSpPr>
          <p:cNvPr id="43" name="TextBox 42"/>
          <p:cNvSpPr txBox="1"/>
          <p:nvPr/>
        </p:nvSpPr>
        <p:spPr>
          <a:xfrm>
            <a:off x="2958084" y="2340864"/>
            <a:ext cx="1220723" cy="219456"/>
          </a:xfrm>
          <a:prstGeom prst="rect">
            <a:avLst/>
          </a:prstGeom>
          <a:noFill/>
        </p:spPr>
        <p:txBody>
          <a:bodyPr wrap="square" lIns="0" rIns="0" tIns="0" bIns="0" anchor="t">
            <a:spAutoFit/>
          </a:bodyPr>
          <a:lstStyle/>
          <a:p>
            <a:pPr algn="l"/>
            <a:r>
              <a:rPr sz="1050" b="1" i="0">
                <a:solidFill>
                  <a:srgbClr val="0E3A4C"/>
                </a:solidFill>
                <a:latin typeface="Calibri"/>
              </a:rPr>
              <a:t>LangChain</a:t>
            </a:r>
          </a:p>
        </p:txBody>
      </p:sp>
      <p:sp>
        <p:nvSpPr>
          <p:cNvPr id="44" name="TextBox 43"/>
          <p:cNvSpPr txBox="1"/>
          <p:nvPr/>
        </p:nvSpPr>
        <p:spPr>
          <a:xfrm>
            <a:off x="2958084" y="256032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Model + tool binding</a:t>
            </a:r>
          </a:p>
        </p:txBody>
      </p:sp>
      <p:sp>
        <p:nvSpPr>
          <p:cNvPr id="45" name="Rounded Rectangle 44"/>
          <p:cNvSpPr/>
          <p:nvPr/>
        </p:nvSpPr>
        <p:spPr>
          <a:xfrm>
            <a:off x="4343400" y="2258568"/>
            <a:ext cx="1842515"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5545836" y="231343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45836" y="231297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48" name="TextBox 47"/>
          <p:cNvSpPr txBox="1"/>
          <p:nvPr/>
        </p:nvSpPr>
        <p:spPr>
          <a:xfrm>
            <a:off x="4453128" y="2340864"/>
            <a:ext cx="1056131" cy="219456"/>
          </a:xfrm>
          <a:prstGeom prst="rect">
            <a:avLst/>
          </a:prstGeom>
          <a:noFill/>
        </p:spPr>
        <p:txBody>
          <a:bodyPr wrap="square" lIns="0" rIns="0" tIns="0" bIns="0" anchor="t">
            <a:spAutoFit/>
          </a:bodyPr>
          <a:lstStyle/>
          <a:p>
            <a:pPr algn="l"/>
            <a:r>
              <a:rPr sz="1050" b="1" i="0">
                <a:solidFill>
                  <a:srgbClr val="463283"/>
                </a:solidFill>
                <a:latin typeface="Calibri"/>
              </a:rPr>
              <a:t>Hard-stop</a:t>
            </a:r>
          </a:p>
        </p:txBody>
      </p:sp>
      <p:sp>
        <p:nvSpPr>
          <p:cNvPr id="49" name="TextBox 48"/>
          <p:cNvSpPr txBox="1"/>
          <p:nvPr/>
        </p:nvSpPr>
        <p:spPr>
          <a:xfrm>
            <a:off x="4453128" y="2560320"/>
            <a:ext cx="1623059"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Runs before every turn</a:t>
            </a:r>
          </a:p>
        </p:txBody>
      </p:sp>
      <p:sp>
        <p:nvSpPr>
          <p:cNvPr id="50" name="Rounded Rectangle 49"/>
          <p:cNvSpPr/>
          <p:nvPr/>
        </p:nvSpPr>
        <p:spPr>
          <a:xfrm>
            <a:off x="6277355" y="2258568"/>
            <a:ext cx="1842515"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7479792" y="231343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79792" y="231297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53" name="TextBox 52"/>
          <p:cNvSpPr txBox="1"/>
          <p:nvPr/>
        </p:nvSpPr>
        <p:spPr>
          <a:xfrm>
            <a:off x="6387083" y="2340864"/>
            <a:ext cx="1056131" cy="219456"/>
          </a:xfrm>
          <a:prstGeom prst="rect">
            <a:avLst/>
          </a:prstGeom>
          <a:noFill/>
        </p:spPr>
        <p:txBody>
          <a:bodyPr wrap="square" lIns="0" rIns="0" tIns="0" bIns="0" anchor="t">
            <a:spAutoFit/>
          </a:bodyPr>
          <a:lstStyle/>
          <a:p>
            <a:pPr algn="l"/>
            <a:r>
              <a:rPr sz="1050" b="1" i="0">
                <a:solidFill>
                  <a:srgbClr val="463283"/>
                </a:solidFill>
                <a:latin typeface="Calibri"/>
              </a:rPr>
              <a:t>Scene planner</a:t>
            </a:r>
          </a:p>
        </p:txBody>
      </p:sp>
      <p:sp>
        <p:nvSpPr>
          <p:cNvPr id="54" name="TextBox 53"/>
          <p:cNvSpPr txBox="1"/>
          <p:nvPr/>
        </p:nvSpPr>
        <p:spPr>
          <a:xfrm>
            <a:off x="6387083" y="2560320"/>
            <a:ext cx="1623059"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Value ÷ time left</a:t>
            </a:r>
          </a:p>
        </p:txBody>
      </p:sp>
      <p:sp>
        <p:nvSpPr>
          <p:cNvPr id="55" name="Rounded Rectangle 54"/>
          <p:cNvSpPr/>
          <p:nvPr/>
        </p:nvSpPr>
        <p:spPr>
          <a:xfrm>
            <a:off x="365760" y="3127248"/>
            <a:ext cx="7863840" cy="877824"/>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512064" y="3031236"/>
            <a:ext cx="1865376" cy="201168"/>
          </a:xfrm>
          <a:prstGeom prst="roundRect">
            <a:avLst>
              <a:gd name="adj" fmla="val 45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2064" y="3060496"/>
            <a:ext cx="1865376" cy="146304"/>
          </a:xfrm>
          <a:prstGeom prst="rect">
            <a:avLst/>
          </a:prstGeom>
          <a:noFill/>
        </p:spPr>
        <p:txBody>
          <a:bodyPr wrap="square" lIns="0" rIns="0" tIns="0" bIns="0" anchor="t">
            <a:spAutoFit/>
          </a:bodyPr>
          <a:lstStyle/>
          <a:p>
            <a:pPr algn="ctr"/>
            <a:r>
              <a:rPr sz="819" b="1" i="0">
                <a:solidFill>
                  <a:srgbClr val="FFFFFF"/>
                </a:solidFill>
                <a:latin typeface="Calibri"/>
              </a:rPr>
              <a:t>3 · TOOLS / APIs</a:t>
            </a:r>
          </a:p>
        </p:txBody>
      </p:sp>
      <p:sp>
        <p:nvSpPr>
          <p:cNvPr id="58" name="Rounded Rectangle 57"/>
          <p:cNvSpPr/>
          <p:nvPr/>
        </p:nvSpPr>
        <p:spPr>
          <a:xfrm>
            <a:off x="475488" y="3310128"/>
            <a:ext cx="1455724"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1291132" y="336499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91132" y="336453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61" name="TextBox 60"/>
          <p:cNvSpPr txBox="1"/>
          <p:nvPr/>
        </p:nvSpPr>
        <p:spPr>
          <a:xfrm>
            <a:off x="585216" y="3392424"/>
            <a:ext cx="669340" cy="219456"/>
          </a:xfrm>
          <a:prstGeom prst="rect">
            <a:avLst/>
          </a:prstGeom>
          <a:noFill/>
        </p:spPr>
        <p:txBody>
          <a:bodyPr wrap="square" lIns="0" rIns="0" tIns="0" bIns="0" anchor="t">
            <a:spAutoFit/>
          </a:bodyPr>
          <a:lstStyle/>
          <a:p>
            <a:pPr algn="l"/>
            <a:r>
              <a:rPr sz="1050" b="1" i="0">
                <a:solidFill>
                  <a:srgbClr val="463283"/>
                </a:solidFill>
                <a:latin typeface="Calibri"/>
              </a:rPr>
              <a:t>Capture</a:t>
            </a:r>
          </a:p>
        </p:txBody>
      </p:sp>
      <p:sp>
        <p:nvSpPr>
          <p:cNvPr id="62" name="TextBox 61"/>
          <p:cNvSpPr txBox="1"/>
          <p:nvPr/>
        </p:nvSpPr>
        <p:spPr>
          <a:xfrm>
            <a:off x="585216" y="3611880"/>
            <a:ext cx="1236268"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Photo, statement, GPS</a:t>
            </a:r>
          </a:p>
        </p:txBody>
      </p:sp>
      <p:sp>
        <p:nvSpPr>
          <p:cNvPr id="63" name="Rounded Rectangle 62"/>
          <p:cNvSpPr/>
          <p:nvPr/>
        </p:nvSpPr>
        <p:spPr>
          <a:xfrm>
            <a:off x="2022652" y="3310128"/>
            <a:ext cx="1455724"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2838297" y="336499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838297" y="336453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66" name="TextBox 65"/>
          <p:cNvSpPr txBox="1"/>
          <p:nvPr/>
        </p:nvSpPr>
        <p:spPr>
          <a:xfrm>
            <a:off x="2132380" y="3392424"/>
            <a:ext cx="669340" cy="219456"/>
          </a:xfrm>
          <a:prstGeom prst="rect">
            <a:avLst/>
          </a:prstGeom>
          <a:noFill/>
        </p:spPr>
        <p:txBody>
          <a:bodyPr wrap="square" lIns="0" rIns="0" tIns="0" bIns="0" anchor="t">
            <a:spAutoFit/>
          </a:bodyPr>
          <a:lstStyle/>
          <a:p>
            <a:pPr algn="l"/>
            <a:r>
              <a:rPr sz="1050" b="1" i="0">
                <a:solidFill>
                  <a:srgbClr val="463283"/>
                </a:solidFill>
                <a:latin typeface="Calibri"/>
              </a:rPr>
              <a:t>Party</a:t>
            </a:r>
          </a:p>
        </p:txBody>
      </p:sp>
      <p:sp>
        <p:nvSpPr>
          <p:cNvPr id="67" name="TextBox 66"/>
          <p:cNvSpPr txBox="1"/>
          <p:nvPr/>
        </p:nvSpPr>
        <p:spPr>
          <a:xfrm>
            <a:off x="2132380" y="3611880"/>
            <a:ext cx="1236268"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Licence + insurer</a:t>
            </a:r>
          </a:p>
        </p:txBody>
      </p:sp>
      <p:sp>
        <p:nvSpPr>
          <p:cNvPr id="68" name="Rounded Rectangle 67"/>
          <p:cNvSpPr/>
          <p:nvPr/>
        </p:nvSpPr>
        <p:spPr>
          <a:xfrm>
            <a:off x="3569817" y="3310128"/>
            <a:ext cx="1455724"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4385462" y="336499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85462" y="336453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71" name="TextBox 70"/>
          <p:cNvSpPr txBox="1"/>
          <p:nvPr/>
        </p:nvSpPr>
        <p:spPr>
          <a:xfrm>
            <a:off x="3679545" y="3392424"/>
            <a:ext cx="669340" cy="219456"/>
          </a:xfrm>
          <a:prstGeom prst="rect">
            <a:avLst/>
          </a:prstGeom>
          <a:noFill/>
        </p:spPr>
        <p:txBody>
          <a:bodyPr wrap="square" lIns="0" rIns="0" tIns="0" bIns="0" anchor="t">
            <a:spAutoFit/>
          </a:bodyPr>
          <a:lstStyle/>
          <a:p>
            <a:pPr algn="l"/>
            <a:r>
              <a:rPr sz="1050" b="1" i="0">
                <a:solidFill>
                  <a:srgbClr val="463283"/>
                </a:solidFill>
                <a:latin typeface="Calibri"/>
              </a:rPr>
              <a:t>Knowledge</a:t>
            </a:r>
          </a:p>
        </p:txBody>
      </p:sp>
      <p:sp>
        <p:nvSpPr>
          <p:cNvPr id="72" name="TextBox 71"/>
          <p:cNvSpPr txBox="1"/>
          <p:nvPr/>
        </p:nvSpPr>
        <p:spPr>
          <a:xfrm>
            <a:off x="3679545" y="3611880"/>
            <a:ext cx="1236268"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Policy and duties</a:t>
            </a:r>
          </a:p>
        </p:txBody>
      </p:sp>
      <p:sp>
        <p:nvSpPr>
          <p:cNvPr id="73" name="Rounded Rectangle 72"/>
          <p:cNvSpPr/>
          <p:nvPr/>
        </p:nvSpPr>
        <p:spPr>
          <a:xfrm>
            <a:off x="5116982" y="3310128"/>
            <a:ext cx="1455724"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932627" y="336499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32627" y="336453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76" name="TextBox 75"/>
          <p:cNvSpPr txBox="1"/>
          <p:nvPr/>
        </p:nvSpPr>
        <p:spPr>
          <a:xfrm>
            <a:off x="5226710" y="3392424"/>
            <a:ext cx="669340" cy="219456"/>
          </a:xfrm>
          <a:prstGeom prst="rect">
            <a:avLst/>
          </a:prstGeom>
          <a:noFill/>
        </p:spPr>
        <p:txBody>
          <a:bodyPr wrap="square" lIns="0" rIns="0" tIns="0" bIns="0" anchor="t">
            <a:spAutoFit/>
          </a:bodyPr>
          <a:lstStyle/>
          <a:p>
            <a:pPr algn="l"/>
            <a:r>
              <a:rPr sz="1050" b="1" i="0">
                <a:solidFill>
                  <a:srgbClr val="463283"/>
                </a:solidFill>
                <a:latin typeface="Calibri"/>
              </a:rPr>
              <a:t>Output</a:t>
            </a:r>
          </a:p>
        </p:txBody>
      </p:sp>
      <p:sp>
        <p:nvSpPr>
          <p:cNvPr id="77" name="TextBox 76"/>
          <p:cNvSpPr txBox="1"/>
          <p:nvPr/>
        </p:nvSpPr>
        <p:spPr>
          <a:xfrm>
            <a:off x="5226710" y="3611880"/>
            <a:ext cx="1236268"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Pack, file — gated</a:t>
            </a:r>
          </a:p>
        </p:txBody>
      </p:sp>
      <p:sp>
        <p:nvSpPr>
          <p:cNvPr id="78" name="Rounded Rectangle 77"/>
          <p:cNvSpPr/>
          <p:nvPr/>
        </p:nvSpPr>
        <p:spPr>
          <a:xfrm>
            <a:off x="6664147" y="3310128"/>
            <a:ext cx="1455724"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9" name="Picture 78" descr="openmeteo.png"/>
          <p:cNvPicPr>
            <a:picLocks noChangeAspect="1"/>
          </p:cNvPicPr>
          <p:nvPr/>
        </p:nvPicPr>
        <p:blipFill>
          <a:blip r:embed="rId6"/>
          <a:stretch>
            <a:fillRect/>
          </a:stretch>
        </p:blipFill>
        <p:spPr>
          <a:xfrm>
            <a:off x="6746443" y="3429000"/>
            <a:ext cx="347472" cy="347472"/>
          </a:xfrm>
          <a:prstGeom prst="rect">
            <a:avLst/>
          </a:prstGeom>
        </p:spPr>
      </p:pic>
      <p:sp>
        <p:nvSpPr>
          <p:cNvPr id="80" name="TextBox 79"/>
          <p:cNvSpPr txBox="1"/>
          <p:nvPr/>
        </p:nvSpPr>
        <p:spPr>
          <a:xfrm>
            <a:off x="7212787" y="3392424"/>
            <a:ext cx="833932" cy="219456"/>
          </a:xfrm>
          <a:prstGeom prst="rect">
            <a:avLst/>
          </a:prstGeom>
          <a:noFill/>
        </p:spPr>
        <p:txBody>
          <a:bodyPr wrap="square" lIns="0" rIns="0" tIns="0" bIns="0" anchor="t">
            <a:spAutoFit/>
          </a:bodyPr>
          <a:lstStyle/>
          <a:p>
            <a:pPr algn="l"/>
            <a:r>
              <a:rPr sz="1050" b="1" i="0">
                <a:solidFill>
                  <a:srgbClr val="0E3A4C"/>
                </a:solidFill>
                <a:latin typeface="Calibri"/>
              </a:rPr>
              <a:t>Open-Meteo</a:t>
            </a:r>
          </a:p>
        </p:txBody>
      </p:sp>
      <p:sp>
        <p:nvSpPr>
          <p:cNvPr id="81" name="TextBox 80"/>
          <p:cNvSpPr txBox="1"/>
          <p:nvPr/>
        </p:nvSpPr>
        <p:spPr>
          <a:xfrm>
            <a:off x="7212787" y="3611880"/>
            <a:ext cx="833932"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Weather by time</a:t>
            </a:r>
          </a:p>
        </p:txBody>
      </p:sp>
      <p:sp>
        <p:nvSpPr>
          <p:cNvPr id="82" name="Rounded Rectangle 81"/>
          <p:cNvSpPr/>
          <p:nvPr/>
        </p:nvSpPr>
        <p:spPr>
          <a:xfrm>
            <a:off x="365760" y="4178808"/>
            <a:ext cx="7863840" cy="877824"/>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512064" y="4082796"/>
            <a:ext cx="2907792" cy="201168"/>
          </a:xfrm>
          <a:prstGeom prst="roundRect">
            <a:avLst>
              <a:gd name="adj" fmla="val 45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12064" y="4112056"/>
            <a:ext cx="2907792" cy="146304"/>
          </a:xfrm>
          <a:prstGeom prst="rect">
            <a:avLst/>
          </a:prstGeom>
          <a:noFill/>
        </p:spPr>
        <p:txBody>
          <a:bodyPr wrap="square" lIns="0" rIns="0" tIns="0" bIns="0" anchor="t">
            <a:spAutoFit/>
          </a:bodyPr>
          <a:lstStyle/>
          <a:p>
            <a:pPr algn="ctr"/>
            <a:r>
              <a:rPr sz="819" b="1" i="0">
                <a:solidFill>
                  <a:srgbClr val="FFFFFF"/>
                </a:solidFill>
                <a:latin typeface="Calibri"/>
              </a:rPr>
              <a:t>4 · KNOWLEDGE, DATA &amp; MEMORY</a:t>
            </a:r>
          </a:p>
        </p:txBody>
      </p:sp>
      <p:sp>
        <p:nvSpPr>
          <p:cNvPr id="85" name="Rounded Rectangle 84"/>
          <p:cNvSpPr/>
          <p:nvPr/>
        </p:nvSpPr>
        <p:spPr>
          <a:xfrm>
            <a:off x="475488" y="436168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pinecone.png"/>
          <p:cNvPicPr>
            <a:picLocks noChangeAspect="1"/>
          </p:cNvPicPr>
          <p:nvPr/>
        </p:nvPicPr>
        <p:blipFill>
          <a:blip r:embed="rId7"/>
          <a:stretch>
            <a:fillRect/>
          </a:stretch>
        </p:blipFill>
        <p:spPr>
          <a:xfrm>
            <a:off x="557784" y="4480560"/>
            <a:ext cx="347472" cy="347472"/>
          </a:xfrm>
          <a:prstGeom prst="rect">
            <a:avLst/>
          </a:prstGeom>
        </p:spPr>
      </p:pic>
      <p:sp>
        <p:nvSpPr>
          <p:cNvPr id="87" name="TextBox 86"/>
          <p:cNvSpPr txBox="1"/>
          <p:nvPr/>
        </p:nvSpPr>
        <p:spPr>
          <a:xfrm>
            <a:off x="1024128" y="4443984"/>
            <a:ext cx="1220723" cy="219456"/>
          </a:xfrm>
          <a:prstGeom prst="rect">
            <a:avLst/>
          </a:prstGeom>
          <a:noFill/>
        </p:spPr>
        <p:txBody>
          <a:bodyPr wrap="square" lIns="0" rIns="0" tIns="0" bIns="0" anchor="t">
            <a:spAutoFit/>
          </a:bodyPr>
          <a:lstStyle/>
          <a:p>
            <a:pPr algn="l"/>
            <a:r>
              <a:rPr sz="1050" b="1" i="0">
                <a:solidFill>
                  <a:srgbClr val="0E3A4C"/>
                </a:solidFill>
                <a:latin typeface="Calibri"/>
              </a:rPr>
              <a:t>Pinecone</a:t>
            </a:r>
          </a:p>
        </p:txBody>
      </p:sp>
      <p:sp>
        <p:nvSpPr>
          <p:cNvPr id="88" name="TextBox 87"/>
          <p:cNvSpPr txBox="1"/>
          <p:nvPr/>
        </p:nvSpPr>
        <p:spPr>
          <a:xfrm>
            <a:off x="1024128" y="466344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Four corpora, warmed</a:t>
            </a:r>
          </a:p>
        </p:txBody>
      </p:sp>
      <p:sp>
        <p:nvSpPr>
          <p:cNvPr id="89" name="Rounded Rectangle 88"/>
          <p:cNvSpPr/>
          <p:nvPr/>
        </p:nvSpPr>
        <p:spPr>
          <a:xfrm>
            <a:off x="2409444" y="436168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Picture 89" descr="sqlite.png"/>
          <p:cNvPicPr>
            <a:picLocks noChangeAspect="1"/>
          </p:cNvPicPr>
          <p:nvPr/>
        </p:nvPicPr>
        <p:blipFill>
          <a:blip r:embed="rId8"/>
          <a:stretch>
            <a:fillRect/>
          </a:stretch>
        </p:blipFill>
        <p:spPr>
          <a:xfrm>
            <a:off x="2491739" y="4480560"/>
            <a:ext cx="347472" cy="347472"/>
          </a:xfrm>
          <a:prstGeom prst="rect">
            <a:avLst/>
          </a:prstGeom>
        </p:spPr>
      </p:pic>
      <p:sp>
        <p:nvSpPr>
          <p:cNvPr id="91" name="TextBox 90"/>
          <p:cNvSpPr txBox="1"/>
          <p:nvPr/>
        </p:nvSpPr>
        <p:spPr>
          <a:xfrm>
            <a:off x="2958084" y="4443984"/>
            <a:ext cx="1220723" cy="219456"/>
          </a:xfrm>
          <a:prstGeom prst="rect">
            <a:avLst/>
          </a:prstGeom>
          <a:noFill/>
        </p:spPr>
        <p:txBody>
          <a:bodyPr wrap="square" lIns="0" rIns="0" tIns="0" bIns="0" anchor="t">
            <a:spAutoFit/>
          </a:bodyPr>
          <a:lstStyle/>
          <a:p>
            <a:pPr algn="l"/>
            <a:r>
              <a:rPr sz="1050" b="1" i="0">
                <a:solidFill>
                  <a:srgbClr val="0E3A4C"/>
                </a:solidFill>
                <a:latin typeface="Calibri"/>
              </a:rPr>
              <a:t>SQLite</a:t>
            </a:r>
          </a:p>
        </p:txBody>
      </p:sp>
      <p:sp>
        <p:nvSpPr>
          <p:cNvPr id="92" name="TextBox 91"/>
          <p:cNvSpPr txBox="1"/>
          <p:nvPr/>
        </p:nvSpPr>
        <p:spPr>
          <a:xfrm>
            <a:off x="2958084" y="466344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Ledger + scene clock</a:t>
            </a:r>
          </a:p>
        </p:txBody>
      </p:sp>
      <p:sp>
        <p:nvSpPr>
          <p:cNvPr id="93" name="Rounded Rectangle 92"/>
          <p:cNvSpPr/>
          <p:nvPr/>
        </p:nvSpPr>
        <p:spPr>
          <a:xfrm>
            <a:off x="4343400" y="4361688"/>
            <a:ext cx="1842515"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5545836" y="441655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545836" y="441609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96" name="TextBox 95"/>
          <p:cNvSpPr txBox="1"/>
          <p:nvPr/>
        </p:nvSpPr>
        <p:spPr>
          <a:xfrm>
            <a:off x="4453128" y="4443984"/>
            <a:ext cx="1056131" cy="219456"/>
          </a:xfrm>
          <a:prstGeom prst="rect">
            <a:avLst/>
          </a:prstGeom>
          <a:noFill/>
        </p:spPr>
        <p:txBody>
          <a:bodyPr wrap="square" lIns="0" rIns="0" tIns="0" bIns="0" anchor="t">
            <a:spAutoFit/>
          </a:bodyPr>
          <a:lstStyle/>
          <a:p>
            <a:pPr algn="l"/>
            <a:r>
              <a:rPr sz="1050" b="1" i="0">
                <a:solidFill>
                  <a:srgbClr val="463283"/>
                </a:solidFill>
                <a:latin typeface="Calibri"/>
              </a:rPr>
              <a:t>Domain pack</a:t>
            </a:r>
          </a:p>
        </p:txBody>
      </p:sp>
      <p:sp>
        <p:nvSpPr>
          <p:cNvPr id="97" name="TextBox 96"/>
          <p:cNvSpPr txBox="1"/>
          <p:nvPr/>
        </p:nvSpPr>
        <p:spPr>
          <a:xfrm>
            <a:off x="4453128" y="4663440"/>
            <a:ext cx="1623059"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Collision rules and items</a:t>
            </a:r>
          </a:p>
        </p:txBody>
      </p:sp>
      <p:sp>
        <p:nvSpPr>
          <p:cNvPr id="98" name="Rounded Rectangle 97"/>
          <p:cNvSpPr/>
          <p:nvPr/>
        </p:nvSpPr>
        <p:spPr>
          <a:xfrm>
            <a:off x="6277355" y="4361688"/>
            <a:ext cx="1842515" cy="585215"/>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7479792" y="4416552"/>
            <a:ext cx="566928" cy="141732"/>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7479792" y="4416094"/>
            <a:ext cx="566928" cy="146304"/>
          </a:xfrm>
          <a:prstGeom prst="rect">
            <a:avLst/>
          </a:prstGeom>
          <a:noFill/>
        </p:spPr>
        <p:txBody>
          <a:bodyPr wrap="square" lIns="0" rIns="0" tIns="0" bIns="0" anchor="t">
            <a:spAutoFit/>
          </a:bodyPr>
          <a:lstStyle/>
          <a:p>
            <a:pPr algn="ctr"/>
            <a:r>
              <a:rPr sz="540" b="1" i="0">
                <a:solidFill>
                  <a:srgbClr val="FFFFFF"/>
                </a:solidFill>
                <a:latin typeface="Calibri"/>
              </a:rPr>
              <a:t>CUSTOM BUILT</a:t>
            </a:r>
          </a:p>
        </p:txBody>
      </p:sp>
      <p:sp>
        <p:nvSpPr>
          <p:cNvPr id="101" name="TextBox 100"/>
          <p:cNvSpPr txBox="1"/>
          <p:nvPr/>
        </p:nvSpPr>
        <p:spPr>
          <a:xfrm>
            <a:off x="6387083" y="4443984"/>
            <a:ext cx="1056131" cy="219456"/>
          </a:xfrm>
          <a:prstGeom prst="rect">
            <a:avLst/>
          </a:prstGeom>
          <a:noFill/>
        </p:spPr>
        <p:txBody>
          <a:bodyPr wrap="square" lIns="0" rIns="0" tIns="0" bIns="0" anchor="t">
            <a:spAutoFit/>
          </a:bodyPr>
          <a:lstStyle/>
          <a:p>
            <a:pPr algn="l"/>
            <a:r>
              <a:rPr sz="1050" b="1" i="0">
                <a:solidFill>
                  <a:srgbClr val="463283"/>
                </a:solidFill>
                <a:latin typeface="Calibri"/>
              </a:rPr>
              <a:t>Profile memory</a:t>
            </a:r>
          </a:p>
        </p:txBody>
      </p:sp>
      <p:sp>
        <p:nvSpPr>
          <p:cNvPr id="102" name="TextBox 101"/>
          <p:cNvSpPr txBox="1"/>
          <p:nvPr/>
        </p:nvSpPr>
        <p:spPr>
          <a:xfrm>
            <a:off x="6387083" y="4663440"/>
            <a:ext cx="1623059"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Car, policy, past incidents</a:t>
            </a:r>
          </a:p>
        </p:txBody>
      </p:sp>
      <p:sp>
        <p:nvSpPr>
          <p:cNvPr id="103" name="Rounded Rectangle 102"/>
          <p:cNvSpPr/>
          <p:nvPr/>
        </p:nvSpPr>
        <p:spPr>
          <a:xfrm>
            <a:off x="365760" y="5230368"/>
            <a:ext cx="7863840" cy="877824"/>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512064" y="5134355"/>
            <a:ext cx="3602736" cy="201168"/>
          </a:xfrm>
          <a:prstGeom prst="roundRect">
            <a:avLst>
              <a:gd name="adj" fmla="val 45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12064" y="5163616"/>
            <a:ext cx="3602736" cy="146304"/>
          </a:xfrm>
          <a:prstGeom prst="rect">
            <a:avLst/>
          </a:prstGeom>
          <a:noFill/>
        </p:spPr>
        <p:txBody>
          <a:bodyPr wrap="square" lIns="0" rIns="0" tIns="0" bIns="0" anchor="t">
            <a:spAutoFit/>
          </a:bodyPr>
          <a:lstStyle/>
          <a:p>
            <a:pPr algn="ctr"/>
            <a:r>
              <a:rPr sz="819" b="1" i="0">
                <a:solidFill>
                  <a:srgbClr val="FFFFFF"/>
                </a:solidFill>
                <a:latin typeface="Calibri"/>
              </a:rPr>
              <a:t>5 · MODEL PROVIDER &amp; CLOUD INFERENCE</a:t>
            </a:r>
          </a:p>
        </p:txBody>
      </p:sp>
      <p:sp>
        <p:nvSpPr>
          <p:cNvPr id="106" name="Rounded Rectangle 105"/>
          <p:cNvSpPr/>
          <p:nvPr/>
        </p:nvSpPr>
        <p:spPr>
          <a:xfrm>
            <a:off x="475488" y="541324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7" name="Picture 106" descr="nebius.png"/>
          <p:cNvPicPr>
            <a:picLocks noChangeAspect="1"/>
          </p:cNvPicPr>
          <p:nvPr/>
        </p:nvPicPr>
        <p:blipFill>
          <a:blip r:embed="rId9"/>
          <a:stretch>
            <a:fillRect/>
          </a:stretch>
        </p:blipFill>
        <p:spPr>
          <a:xfrm>
            <a:off x="557784" y="5532120"/>
            <a:ext cx="347472" cy="347472"/>
          </a:xfrm>
          <a:prstGeom prst="rect">
            <a:avLst/>
          </a:prstGeom>
        </p:spPr>
      </p:pic>
      <p:sp>
        <p:nvSpPr>
          <p:cNvPr id="108" name="TextBox 107"/>
          <p:cNvSpPr txBox="1"/>
          <p:nvPr/>
        </p:nvSpPr>
        <p:spPr>
          <a:xfrm>
            <a:off x="1024128" y="5495544"/>
            <a:ext cx="1220723" cy="219456"/>
          </a:xfrm>
          <a:prstGeom prst="rect">
            <a:avLst/>
          </a:prstGeom>
          <a:noFill/>
        </p:spPr>
        <p:txBody>
          <a:bodyPr wrap="square" lIns="0" rIns="0" tIns="0" bIns="0" anchor="t">
            <a:spAutoFit/>
          </a:bodyPr>
          <a:lstStyle/>
          <a:p>
            <a:pPr algn="l"/>
            <a:r>
              <a:rPr sz="1050" b="1" i="0">
                <a:solidFill>
                  <a:srgbClr val="0E3A4C"/>
                </a:solidFill>
                <a:latin typeface="Calibri"/>
              </a:rPr>
              <a:t>Nebius · fast</a:t>
            </a:r>
          </a:p>
        </p:txBody>
      </p:sp>
      <p:sp>
        <p:nvSpPr>
          <p:cNvPr id="109" name="TextBox 108"/>
          <p:cNvSpPr txBox="1"/>
          <p:nvPr/>
        </p:nvSpPr>
        <p:spPr>
          <a:xfrm>
            <a:off x="1024128" y="571500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Classify and word</a:t>
            </a:r>
          </a:p>
        </p:txBody>
      </p:sp>
      <p:sp>
        <p:nvSpPr>
          <p:cNvPr id="110" name="Rounded Rectangle 109"/>
          <p:cNvSpPr/>
          <p:nvPr/>
        </p:nvSpPr>
        <p:spPr>
          <a:xfrm>
            <a:off x="2409444" y="541324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1" name="Picture 110" descr="nebius.png"/>
          <p:cNvPicPr>
            <a:picLocks noChangeAspect="1"/>
          </p:cNvPicPr>
          <p:nvPr/>
        </p:nvPicPr>
        <p:blipFill>
          <a:blip r:embed="rId9"/>
          <a:stretch>
            <a:fillRect/>
          </a:stretch>
        </p:blipFill>
        <p:spPr>
          <a:xfrm>
            <a:off x="2491739" y="5532120"/>
            <a:ext cx="347472" cy="347472"/>
          </a:xfrm>
          <a:prstGeom prst="rect">
            <a:avLst/>
          </a:prstGeom>
        </p:spPr>
      </p:pic>
      <p:sp>
        <p:nvSpPr>
          <p:cNvPr id="112" name="TextBox 111"/>
          <p:cNvSpPr txBox="1"/>
          <p:nvPr/>
        </p:nvSpPr>
        <p:spPr>
          <a:xfrm>
            <a:off x="2958084" y="5495544"/>
            <a:ext cx="1220723" cy="219456"/>
          </a:xfrm>
          <a:prstGeom prst="rect">
            <a:avLst/>
          </a:prstGeom>
          <a:noFill/>
        </p:spPr>
        <p:txBody>
          <a:bodyPr wrap="square" lIns="0" rIns="0" tIns="0" bIns="0" anchor="t">
            <a:spAutoFit/>
          </a:bodyPr>
          <a:lstStyle/>
          <a:p>
            <a:pPr algn="l"/>
            <a:r>
              <a:rPr sz="1050" b="1" i="0">
                <a:solidFill>
                  <a:srgbClr val="0E3A4C"/>
                </a:solidFill>
                <a:latin typeface="Calibri"/>
              </a:rPr>
              <a:t>Nebius · reason</a:t>
            </a:r>
          </a:p>
        </p:txBody>
      </p:sp>
      <p:sp>
        <p:nvSpPr>
          <p:cNvPr id="113" name="TextBox 112"/>
          <p:cNvSpPr txBox="1"/>
          <p:nvPr/>
        </p:nvSpPr>
        <p:spPr>
          <a:xfrm>
            <a:off x="2958084" y="571500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Answer and assemble</a:t>
            </a:r>
          </a:p>
        </p:txBody>
      </p:sp>
      <p:sp>
        <p:nvSpPr>
          <p:cNvPr id="114" name="Rounded Rectangle 113"/>
          <p:cNvSpPr/>
          <p:nvPr/>
        </p:nvSpPr>
        <p:spPr>
          <a:xfrm>
            <a:off x="4343400" y="541324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5" name="Picture 114" descr="nebius.png"/>
          <p:cNvPicPr>
            <a:picLocks noChangeAspect="1"/>
          </p:cNvPicPr>
          <p:nvPr/>
        </p:nvPicPr>
        <p:blipFill>
          <a:blip r:embed="rId9"/>
          <a:stretch>
            <a:fillRect/>
          </a:stretch>
        </p:blipFill>
        <p:spPr>
          <a:xfrm>
            <a:off x="4425696" y="5532120"/>
            <a:ext cx="347472" cy="347472"/>
          </a:xfrm>
          <a:prstGeom prst="rect">
            <a:avLst/>
          </a:prstGeom>
        </p:spPr>
      </p:pic>
      <p:sp>
        <p:nvSpPr>
          <p:cNvPr id="116" name="TextBox 115"/>
          <p:cNvSpPr txBox="1"/>
          <p:nvPr/>
        </p:nvSpPr>
        <p:spPr>
          <a:xfrm>
            <a:off x="4892040" y="5495544"/>
            <a:ext cx="1220723" cy="219456"/>
          </a:xfrm>
          <a:prstGeom prst="rect">
            <a:avLst/>
          </a:prstGeom>
          <a:noFill/>
        </p:spPr>
        <p:txBody>
          <a:bodyPr wrap="square" lIns="0" rIns="0" tIns="0" bIns="0" anchor="t">
            <a:spAutoFit/>
          </a:bodyPr>
          <a:lstStyle/>
          <a:p>
            <a:pPr algn="l"/>
            <a:r>
              <a:rPr sz="1050" b="1" i="0">
                <a:solidFill>
                  <a:srgbClr val="0E3A4C"/>
                </a:solidFill>
                <a:latin typeface="Calibri"/>
              </a:rPr>
              <a:t>Nebius · embed</a:t>
            </a:r>
          </a:p>
        </p:txBody>
      </p:sp>
      <p:sp>
        <p:nvSpPr>
          <p:cNvPr id="117" name="TextBox 116"/>
          <p:cNvSpPr txBox="1"/>
          <p:nvPr/>
        </p:nvSpPr>
        <p:spPr>
          <a:xfrm>
            <a:off x="4892040" y="571500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Indexing for Pinecone</a:t>
            </a:r>
          </a:p>
        </p:txBody>
      </p:sp>
      <p:sp>
        <p:nvSpPr>
          <p:cNvPr id="118" name="Rounded Rectangle 117"/>
          <p:cNvSpPr/>
          <p:nvPr/>
        </p:nvSpPr>
        <p:spPr>
          <a:xfrm>
            <a:off x="6277355" y="5413248"/>
            <a:ext cx="1842515" cy="585215"/>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9" name="Picture 118" descr="nebius.png"/>
          <p:cNvPicPr>
            <a:picLocks noChangeAspect="1"/>
          </p:cNvPicPr>
          <p:nvPr/>
        </p:nvPicPr>
        <p:blipFill>
          <a:blip r:embed="rId9"/>
          <a:stretch>
            <a:fillRect/>
          </a:stretch>
        </p:blipFill>
        <p:spPr>
          <a:xfrm>
            <a:off x="6359651" y="5532120"/>
            <a:ext cx="347472" cy="347472"/>
          </a:xfrm>
          <a:prstGeom prst="rect">
            <a:avLst/>
          </a:prstGeom>
        </p:spPr>
      </p:pic>
      <p:sp>
        <p:nvSpPr>
          <p:cNvPr id="120" name="TextBox 119"/>
          <p:cNvSpPr txBox="1"/>
          <p:nvPr/>
        </p:nvSpPr>
        <p:spPr>
          <a:xfrm>
            <a:off x="6825995" y="5495544"/>
            <a:ext cx="1220723" cy="219456"/>
          </a:xfrm>
          <a:prstGeom prst="rect">
            <a:avLst/>
          </a:prstGeom>
          <a:noFill/>
        </p:spPr>
        <p:txBody>
          <a:bodyPr wrap="square" lIns="0" rIns="0" tIns="0" bIns="0" anchor="t">
            <a:spAutoFit/>
          </a:bodyPr>
          <a:lstStyle/>
          <a:p>
            <a:pPr algn="l"/>
            <a:r>
              <a:rPr sz="1050" b="1" i="0">
                <a:solidFill>
                  <a:srgbClr val="0E3A4C"/>
                </a:solidFill>
                <a:latin typeface="Calibri"/>
              </a:rPr>
              <a:t>Nebius · vision</a:t>
            </a:r>
          </a:p>
        </p:txBody>
      </p:sp>
      <p:sp>
        <p:nvSpPr>
          <p:cNvPr id="121" name="TextBox 120"/>
          <p:cNvSpPr txBox="1"/>
          <p:nvPr/>
        </p:nvSpPr>
        <p:spPr>
          <a:xfrm>
            <a:off x="6825995" y="5715000"/>
            <a:ext cx="1220723" cy="210311"/>
          </a:xfrm>
          <a:prstGeom prst="rect">
            <a:avLst/>
          </a:prstGeom>
          <a:noFill/>
        </p:spPr>
        <p:txBody>
          <a:bodyPr wrap="square" lIns="0" rIns="0" tIns="0" bIns="0" anchor="t">
            <a:spAutoFit/>
          </a:bodyPr>
          <a:lstStyle/>
          <a:p>
            <a:pPr algn="l">
              <a:lnSpc>
                <a:spcPct val="116000"/>
              </a:lnSpc>
            </a:pPr>
            <a:r>
              <a:rPr sz="819" b="0" i="0">
                <a:solidFill>
                  <a:srgbClr val="6B7A85"/>
                </a:solidFill>
                <a:latin typeface="Calibri"/>
              </a:rPr>
              <a:t>Is the plate legible?</a:t>
            </a:r>
          </a:p>
        </p:txBody>
      </p:sp>
      <p:sp>
        <p:nvSpPr>
          <p:cNvPr id="122" name="Rounded Rectangle 121"/>
          <p:cNvSpPr/>
          <p:nvPr/>
        </p:nvSpPr>
        <p:spPr>
          <a:xfrm>
            <a:off x="8394192" y="1024128"/>
            <a:ext cx="1572768" cy="5084064"/>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8458200" y="928116"/>
            <a:ext cx="1444752" cy="201168"/>
          </a:xfrm>
          <a:prstGeom prst="roundRect">
            <a:avLst>
              <a:gd name="adj" fmla="val 45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458200" y="957376"/>
            <a:ext cx="1444752" cy="146304"/>
          </a:xfrm>
          <a:prstGeom prst="rect">
            <a:avLst/>
          </a:prstGeom>
          <a:noFill/>
        </p:spPr>
        <p:txBody>
          <a:bodyPr wrap="square" lIns="0" rIns="0" tIns="0" bIns="0" anchor="t">
            <a:spAutoFit/>
          </a:bodyPr>
          <a:lstStyle/>
          <a:p>
            <a:pPr algn="ctr"/>
            <a:r>
              <a:rPr sz="760" b="1" i="0">
                <a:solidFill>
                  <a:srgbClr val="FFFFFF"/>
                </a:solidFill>
                <a:latin typeface="Calibri"/>
              </a:rPr>
              <a:t>6 · OBSERVABILITY / EVALS</a:t>
            </a:r>
          </a:p>
        </p:txBody>
      </p:sp>
      <p:sp>
        <p:nvSpPr>
          <p:cNvPr id="125" name="Rounded Rectangle 124"/>
          <p:cNvSpPr/>
          <p:nvPr/>
        </p:nvSpPr>
        <p:spPr>
          <a:xfrm>
            <a:off x="8494776" y="1225296"/>
            <a:ext cx="1371600" cy="1140714"/>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6" name="Picture 125" descr="langsmith.png"/>
          <p:cNvPicPr>
            <a:picLocks noChangeAspect="1"/>
          </p:cNvPicPr>
          <p:nvPr/>
        </p:nvPicPr>
        <p:blipFill>
          <a:blip r:embed="rId10"/>
          <a:stretch>
            <a:fillRect/>
          </a:stretch>
        </p:blipFill>
        <p:spPr>
          <a:xfrm>
            <a:off x="9025128" y="1271016"/>
            <a:ext cx="310896" cy="310896"/>
          </a:xfrm>
          <a:prstGeom prst="rect">
            <a:avLst/>
          </a:prstGeom>
        </p:spPr>
      </p:pic>
      <p:sp>
        <p:nvSpPr>
          <p:cNvPr id="127" name="TextBox 126"/>
          <p:cNvSpPr txBox="1"/>
          <p:nvPr/>
        </p:nvSpPr>
        <p:spPr>
          <a:xfrm>
            <a:off x="8549640" y="1609344"/>
            <a:ext cx="1261872" cy="210312"/>
          </a:xfrm>
          <a:prstGeom prst="rect">
            <a:avLst/>
          </a:prstGeom>
          <a:noFill/>
        </p:spPr>
        <p:txBody>
          <a:bodyPr wrap="square" lIns="0" rIns="0" tIns="0" bIns="0" anchor="t">
            <a:spAutoFit/>
          </a:bodyPr>
          <a:lstStyle/>
          <a:p>
            <a:pPr algn="ctr"/>
            <a:r>
              <a:rPr sz="1000" b="1" i="0">
                <a:solidFill>
                  <a:srgbClr val="0E3A4C"/>
                </a:solidFill>
                <a:latin typeface="Calibri"/>
              </a:rPr>
              <a:t>LangSmith</a:t>
            </a:r>
          </a:p>
        </p:txBody>
      </p:sp>
      <p:sp>
        <p:nvSpPr>
          <p:cNvPr id="128" name="TextBox 127"/>
          <p:cNvSpPr txBox="1"/>
          <p:nvPr/>
        </p:nvSpPr>
        <p:spPr>
          <a:xfrm>
            <a:off x="8549640" y="1819656"/>
            <a:ext cx="1261872" cy="482346"/>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Trace per scene,
span per turn</a:t>
            </a:r>
          </a:p>
        </p:txBody>
      </p:sp>
      <p:sp>
        <p:nvSpPr>
          <p:cNvPr id="129" name="Rounded Rectangle 128"/>
          <p:cNvSpPr/>
          <p:nvPr/>
        </p:nvSpPr>
        <p:spPr>
          <a:xfrm>
            <a:off x="8494776" y="2448306"/>
            <a:ext cx="1371600" cy="1140714"/>
          </a:xfrm>
          <a:prstGeom prst="roundRect">
            <a:avLst>
              <a:gd name="adj" fmla="val 7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0" name="Picture 129" descr="langsmith.png"/>
          <p:cNvPicPr>
            <a:picLocks noChangeAspect="1"/>
          </p:cNvPicPr>
          <p:nvPr/>
        </p:nvPicPr>
        <p:blipFill>
          <a:blip r:embed="rId10"/>
          <a:stretch>
            <a:fillRect/>
          </a:stretch>
        </p:blipFill>
        <p:spPr>
          <a:xfrm>
            <a:off x="9025128" y="2494026"/>
            <a:ext cx="310896" cy="310896"/>
          </a:xfrm>
          <a:prstGeom prst="rect">
            <a:avLst/>
          </a:prstGeom>
        </p:spPr>
      </p:pic>
      <p:sp>
        <p:nvSpPr>
          <p:cNvPr id="131" name="TextBox 130"/>
          <p:cNvSpPr txBox="1"/>
          <p:nvPr/>
        </p:nvSpPr>
        <p:spPr>
          <a:xfrm>
            <a:off x="8549640" y="2832354"/>
            <a:ext cx="1261872" cy="210312"/>
          </a:xfrm>
          <a:prstGeom prst="rect">
            <a:avLst/>
          </a:prstGeom>
          <a:noFill/>
        </p:spPr>
        <p:txBody>
          <a:bodyPr wrap="square" lIns="0" rIns="0" tIns="0" bIns="0" anchor="t">
            <a:spAutoFit/>
          </a:bodyPr>
          <a:lstStyle/>
          <a:p>
            <a:pPr algn="ctr"/>
            <a:r>
              <a:rPr sz="1000" b="1" i="0">
                <a:solidFill>
                  <a:srgbClr val="0E3A4C"/>
                </a:solidFill>
                <a:latin typeface="Calibri"/>
              </a:rPr>
              <a:t>Experiments</a:t>
            </a:r>
          </a:p>
        </p:txBody>
      </p:sp>
      <p:sp>
        <p:nvSpPr>
          <p:cNvPr id="132" name="TextBox 131"/>
          <p:cNvSpPr txBox="1"/>
          <p:nvPr/>
        </p:nvSpPr>
        <p:spPr>
          <a:xfrm>
            <a:off x="8549640" y="3042666"/>
            <a:ext cx="1261872" cy="482346"/>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Prompt changes scored
on the goldens</a:t>
            </a:r>
          </a:p>
        </p:txBody>
      </p:sp>
      <p:sp>
        <p:nvSpPr>
          <p:cNvPr id="133" name="Rounded Rectangle 132"/>
          <p:cNvSpPr/>
          <p:nvPr/>
        </p:nvSpPr>
        <p:spPr>
          <a:xfrm>
            <a:off x="8494776" y="3671316"/>
            <a:ext cx="1371600" cy="1140714"/>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8814815" y="3735324"/>
            <a:ext cx="731520" cy="146304"/>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814815" y="3737152"/>
            <a:ext cx="731520" cy="146304"/>
          </a:xfrm>
          <a:prstGeom prst="rect">
            <a:avLst/>
          </a:prstGeom>
          <a:noFill/>
        </p:spPr>
        <p:txBody>
          <a:bodyPr wrap="square" lIns="0" rIns="0" tIns="0" bIns="0" anchor="t">
            <a:spAutoFit/>
          </a:bodyPr>
          <a:lstStyle/>
          <a:p>
            <a:pPr algn="ctr"/>
            <a:r>
              <a:rPr sz="640" b="1" i="0">
                <a:solidFill>
                  <a:srgbClr val="FFFFFF"/>
                </a:solidFill>
                <a:latin typeface="Calibri"/>
              </a:rPr>
              <a:t>CUSTOM BUILT</a:t>
            </a:r>
          </a:p>
        </p:txBody>
      </p:sp>
      <p:sp>
        <p:nvSpPr>
          <p:cNvPr id="136" name="TextBox 135"/>
          <p:cNvSpPr txBox="1"/>
          <p:nvPr/>
        </p:nvSpPr>
        <p:spPr>
          <a:xfrm>
            <a:off x="8549640" y="3927348"/>
            <a:ext cx="1261872" cy="210312"/>
          </a:xfrm>
          <a:prstGeom prst="rect">
            <a:avLst/>
          </a:prstGeom>
          <a:noFill/>
        </p:spPr>
        <p:txBody>
          <a:bodyPr wrap="square" lIns="0" rIns="0" tIns="0" bIns="0" anchor="t">
            <a:spAutoFit/>
          </a:bodyPr>
          <a:lstStyle/>
          <a:p>
            <a:pPr algn="ctr"/>
            <a:r>
              <a:rPr sz="1000" b="1" i="0">
                <a:solidFill>
                  <a:srgbClr val="463283"/>
                </a:solidFill>
                <a:latin typeface="Calibri"/>
              </a:rPr>
              <a:t>Golden datasets</a:t>
            </a:r>
          </a:p>
        </p:txBody>
      </p:sp>
      <p:sp>
        <p:nvSpPr>
          <p:cNvPr id="137" name="TextBox 136"/>
          <p:cNvSpPr txBox="1"/>
          <p:nvPr/>
        </p:nvSpPr>
        <p:spPr>
          <a:xfrm>
            <a:off x="8549640" y="4137660"/>
            <a:ext cx="1261872" cy="610361"/>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Six scripted scenarios,
known answers</a:t>
            </a:r>
          </a:p>
        </p:txBody>
      </p:sp>
      <p:sp>
        <p:nvSpPr>
          <p:cNvPr id="138" name="Rounded Rectangle 137"/>
          <p:cNvSpPr/>
          <p:nvPr/>
        </p:nvSpPr>
        <p:spPr>
          <a:xfrm>
            <a:off x="8494776" y="4894326"/>
            <a:ext cx="1371600" cy="1140714"/>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ounded Rectangle 138"/>
          <p:cNvSpPr/>
          <p:nvPr/>
        </p:nvSpPr>
        <p:spPr>
          <a:xfrm>
            <a:off x="8814815" y="4958334"/>
            <a:ext cx="731520" cy="146304"/>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8814815" y="4960162"/>
            <a:ext cx="731520" cy="146304"/>
          </a:xfrm>
          <a:prstGeom prst="rect">
            <a:avLst/>
          </a:prstGeom>
          <a:noFill/>
        </p:spPr>
        <p:txBody>
          <a:bodyPr wrap="square" lIns="0" rIns="0" tIns="0" bIns="0" anchor="t">
            <a:spAutoFit/>
          </a:bodyPr>
          <a:lstStyle/>
          <a:p>
            <a:pPr algn="ctr"/>
            <a:r>
              <a:rPr sz="640" b="1" i="0">
                <a:solidFill>
                  <a:srgbClr val="FFFFFF"/>
                </a:solidFill>
                <a:latin typeface="Calibri"/>
              </a:rPr>
              <a:t>CUSTOM BUILT</a:t>
            </a:r>
          </a:p>
        </p:txBody>
      </p:sp>
      <p:sp>
        <p:nvSpPr>
          <p:cNvPr id="141" name="TextBox 140"/>
          <p:cNvSpPr txBox="1"/>
          <p:nvPr/>
        </p:nvSpPr>
        <p:spPr>
          <a:xfrm>
            <a:off x="8549640" y="5150358"/>
            <a:ext cx="1261872" cy="210312"/>
          </a:xfrm>
          <a:prstGeom prst="rect">
            <a:avLst/>
          </a:prstGeom>
          <a:noFill/>
        </p:spPr>
        <p:txBody>
          <a:bodyPr wrap="square" lIns="0" rIns="0" tIns="0" bIns="0" anchor="t">
            <a:spAutoFit/>
          </a:bodyPr>
          <a:lstStyle/>
          <a:p>
            <a:pPr algn="ctr"/>
            <a:r>
              <a:rPr sz="1000" b="1" i="0">
                <a:solidFill>
                  <a:srgbClr val="463283"/>
                </a:solidFill>
                <a:latin typeface="Calibri"/>
              </a:rPr>
              <a:t>Scenario runner</a:t>
            </a:r>
          </a:p>
        </p:txBody>
      </p:sp>
      <p:sp>
        <p:nvSpPr>
          <p:cNvPr id="142" name="TextBox 141"/>
          <p:cNvSpPr txBox="1"/>
          <p:nvPr/>
        </p:nvSpPr>
        <p:spPr>
          <a:xfrm>
            <a:off x="8549640" y="5360670"/>
            <a:ext cx="1261872" cy="610361"/>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Deterministic replay,
no provider needed</a:t>
            </a:r>
          </a:p>
        </p:txBody>
      </p:sp>
      <p:sp>
        <p:nvSpPr>
          <p:cNvPr id="143" name="Rounded Rectangle 142"/>
          <p:cNvSpPr/>
          <p:nvPr/>
        </p:nvSpPr>
        <p:spPr>
          <a:xfrm>
            <a:off x="10131552" y="1024128"/>
            <a:ext cx="1709927" cy="5084064"/>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10195560" y="928116"/>
            <a:ext cx="1581911" cy="201168"/>
          </a:xfrm>
          <a:prstGeom prst="roundRect">
            <a:avLst>
              <a:gd name="adj" fmla="val 45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0195560" y="957376"/>
            <a:ext cx="1581911" cy="146304"/>
          </a:xfrm>
          <a:prstGeom prst="rect">
            <a:avLst/>
          </a:prstGeom>
          <a:noFill/>
        </p:spPr>
        <p:txBody>
          <a:bodyPr wrap="square" lIns="0" rIns="0" tIns="0" bIns="0" anchor="t">
            <a:spAutoFit/>
          </a:bodyPr>
          <a:lstStyle/>
          <a:p>
            <a:pPr algn="ctr"/>
            <a:r>
              <a:rPr sz="760" b="1" i="0">
                <a:solidFill>
                  <a:srgbClr val="FFFFFF"/>
                </a:solidFill>
                <a:latin typeface="Calibri"/>
              </a:rPr>
              <a:t>7 · AI SAFETY / GUARDRAILS</a:t>
            </a:r>
          </a:p>
        </p:txBody>
      </p:sp>
      <p:sp>
        <p:nvSpPr>
          <p:cNvPr id="146" name="Rounded Rectangle 145"/>
          <p:cNvSpPr/>
          <p:nvPr/>
        </p:nvSpPr>
        <p:spPr>
          <a:xfrm>
            <a:off x="10232136" y="1225296"/>
            <a:ext cx="1508759" cy="822959"/>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ounded Rectangle 146"/>
          <p:cNvSpPr/>
          <p:nvPr/>
        </p:nvSpPr>
        <p:spPr>
          <a:xfrm>
            <a:off x="10620755" y="1289304"/>
            <a:ext cx="731520" cy="146304"/>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0620755" y="1291132"/>
            <a:ext cx="731520" cy="146304"/>
          </a:xfrm>
          <a:prstGeom prst="rect">
            <a:avLst/>
          </a:prstGeom>
          <a:noFill/>
        </p:spPr>
        <p:txBody>
          <a:bodyPr wrap="square" lIns="0" rIns="0" tIns="0" bIns="0" anchor="t">
            <a:spAutoFit/>
          </a:bodyPr>
          <a:lstStyle/>
          <a:p>
            <a:pPr algn="ctr"/>
            <a:r>
              <a:rPr sz="640" b="1" i="0">
                <a:solidFill>
                  <a:srgbClr val="FFFFFF"/>
                </a:solidFill>
                <a:latin typeface="Calibri"/>
              </a:rPr>
              <a:t>CUSTOM BUILT</a:t>
            </a:r>
          </a:p>
        </p:txBody>
      </p:sp>
      <p:sp>
        <p:nvSpPr>
          <p:cNvPr id="149" name="TextBox 148"/>
          <p:cNvSpPr txBox="1"/>
          <p:nvPr/>
        </p:nvSpPr>
        <p:spPr>
          <a:xfrm>
            <a:off x="10287000" y="1481328"/>
            <a:ext cx="1399031" cy="210312"/>
          </a:xfrm>
          <a:prstGeom prst="rect">
            <a:avLst/>
          </a:prstGeom>
          <a:noFill/>
        </p:spPr>
        <p:txBody>
          <a:bodyPr wrap="square" lIns="0" rIns="0" tIns="0" bIns="0" anchor="t">
            <a:spAutoFit/>
          </a:bodyPr>
          <a:lstStyle/>
          <a:p>
            <a:pPr algn="ctr"/>
            <a:r>
              <a:rPr sz="1000" b="1" i="0">
                <a:solidFill>
                  <a:srgbClr val="463283"/>
                </a:solidFill>
                <a:latin typeface="Calibri"/>
              </a:rPr>
              <a:t>Hard stops</a:t>
            </a:r>
          </a:p>
        </p:txBody>
      </p:sp>
      <p:sp>
        <p:nvSpPr>
          <p:cNvPr id="150" name="TextBox 149"/>
          <p:cNvSpPr txBox="1"/>
          <p:nvPr/>
        </p:nvSpPr>
        <p:spPr>
          <a:xfrm>
            <a:off x="10287000" y="1691640"/>
            <a:ext cx="1399031" cy="292607"/>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Injury, hostility, fire —
the run ends</a:t>
            </a:r>
          </a:p>
        </p:txBody>
      </p:sp>
      <p:sp>
        <p:nvSpPr>
          <p:cNvPr id="151" name="Rounded Rectangle 150"/>
          <p:cNvSpPr/>
          <p:nvPr/>
        </p:nvSpPr>
        <p:spPr>
          <a:xfrm>
            <a:off x="10232136" y="2130552"/>
            <a:ext cx="1508759" cy="822959"/>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ounded Rectangle 151"/>
          <p:cNvSpPr/>
          <p:nvPr/>
        </p:nvSpPr>
        <p:spPr>
          <a:xfrm>
            <a:off x="10620755" y="2194560"/>
            <a:ext cx="731520" cy="146304"/>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0620755" y="2196388"/>
            <a:ext cx="731520" cy="146304"/>
          </a:xfrm>
          <a:prstGeom prst="rect">
            <a:avLst/>
          </a:prstGeom>
          <a:noFill/>
        </p:spPr>
        <p:txBody>
          <a:bodyPr wrap="square" lIns="0" rIns="0" tIns="0" bIns="0" anchor="t">
            <a:spAutoFit/>
          </a:bodyPr>
          <a:lstStyle/>
          <a:p>
            <a:pPr algn="ctr"/>
            <a:r>
              <a:rPr sz="640" b="1" i="0">
                <a:solidFill>
                  <a:srgbClr val="FFFFFF"/>
                </a:solidFill>
                <a:latin typeface="Calibri"/>
              </a:rPr>
              <a:t>CUSTOM BUILT</a:t>
            </a:r>
          </a:p>
        </p:txBody>
      </p:sp>
      <p:sp>
        <p:nvSpPr>
          <p:cNvPr id="154" name="TextBox 153"/>
          <p:cNvSpPr txBox="1"/>
          <p:nvPr/>
        </p:nvSpPr>
        <p:spPr>
          <a:xfrm>
            <a:off x="10287000" y="2386584"/>
            <a:ext cx="1399031" cy="210312"/>
          </a:xfrm>
          <a:prstGeom prst="rect">
            <a:avLst/>
          </a:prstGeom>
          <a:noFill/>
        </p:spPr>
        <p:txBody>
          <a:bodyPr wrap="square" lIns="0" rIns="0" tIns="0" bIns="0" anchor="t">
            <a:spAutoFit/>
          </a:bodyPr>
          <a:lstStyle/>
          <a:p>
            <a:pPr algn="ctr"/>
            <a:r>
              <a:rPr sz="1000" b="1" i="0">
                <a:solidFill>
                  <a:srgbClr val="463283"/>
                </a:solidFill>
                <a:latin typeface="Calibri"/>
              </a:rPr>
              <a:t>Prohibited speech</a:t>
            </a:r>
          </a:p>
        </p:txBody>
      </p:sp>
      <p:sp>
        <p:nvSpPr>
          <p:cNvPr id="155" name="TextBox 154"/>
          <p:cNvSpPr txBox="1"/>
          <p:nvPr/>
        </p:nvSpPr>
        <p:spPr>
          <a:xfrm>
            <a:off x="10287000" y="2596896"/>
            <a:ext cx="1399031" cy="292607"/>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Never coaches an
admission of fault</a:t>
            </a:r>
          </a:p>
        </p:txBody>
      </p:sp>
      <p:sp>
        <p:nvSpPr>
          <p:cNvPr id="156" name="Rounded Rectangle 155"/>
          <p:cNvSpPr/>
          <p:nvPr/>
        </p:nvSpPr>
        <p:spPr>
          <a:xfrm>
            <a:off x="10232136" y="3035808"/>
            <a:ext cx="1508759" cy="822959"/>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ounded Rectangle 156"/>
          <p:cNvSpPr/>
          <p:nvPr/>
        </p:nvSpPr>
        <p:spPr>
          <a:xfrm>
            <a:off x="10620755" y="3099815"/>
            <a:ext cx="731520" cy="146304"/>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0620755" y="3101644"/>
            <a:ext cx="731520" cy="146304"/>
          </a:xfrm>
          <a:prstGeom prst="rect">
            <a:avLst/>
          </a:prstGeom>
          <a:noFill/>
        </p:spPr>
        <p:txBody>
          <a:bodyPr wrap="square" lIns="0" rIns="0" tIns="0" bIns="0" anchor="t">
            <a:spAutoFit/>
          </a:bodyPr>
          <a:lstStyle/>
          <a:p>
            <a:pPr algn="ctr"/>
            <a:r>
              <a:rPr sz="640" b="1" i="0">
                <a:solidFill>
                  <a:srgbClr val="FFFFFF"/>
                </a:solidFill>
                <a:latin typeface="Calibri"/>
              </a:rPr>
              <a:t>CUSTOM BUILT</a:t>
            </a:r>
          </a:p>
        </p:txBody>
      </p:sp>
      <p:sp>
        <p:nvSpPr>
          <p:cNvPr id="159" name="TextBox 158"/>
          <p:cNvSpPr txBox="1"/>
          <p:nvPr/>
        </p:nvSpPr>
        <p:spPr>
          <a:xfrm>
            <a:off x="10287000" y="3291839"/>
            <a:ext cx="1399031" cy="210312"/>
          </a:xfrm>
          <a:prstGeom prst="rect">
            <a:avLst/>
          </a:prstGeom>
          <a:noFill/>
        </p:spPr>
        <p:txBody>
          <a:bodyPr wrap="square" lIns="0" rIns="0" tIns="0" bIns="0" anchor="t">
            <a:spAutoFit/>
          </a:bodyPr>
          <a:lstStyle/>
          <a:p>
            <a:pPr algn="ctr"/>
            <a:r>
              <a:rPr sz="1000" b="1" i="0">
                <a:solidFill>
                  <a:srgbClr val="463283"/>
                </a:solidFill>
                <a:latin typeface="Calibri"/>
              </a:rPr>
              <a:t>Approval gates</a:t>
            </a:r>
          </a:p>
        </p:txBody>
      </p:sp>
      <p:sp>
        <p:nvSpPr>
          <p:cNvPr id="160" name="TextBox 159"/>
          <p:cNvSpPr txBox="1"/>
          <p:nvPr/>
        </p:nvSpPr>
        <p:spPr>
          <a:xfrm>
            <a:off x="10287000" y="3502151"/>
            <a:ext cx="1399031" cy="292608"/>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Nothing leaves the
phone on its own</a:t>
            </a:r>
          </a:p>
        </p:txBody>
      </p:sp>
      <p:sp>
        <p:nvSpPr>
          <p:cNvPr id="161" name="Rounded Rectangle 160"/>
          <p:cNvSpPr/>
          <p:nvPr/>
        </p:nvSpPr>
        <p:spPr>
          <a:xfrm>
            <a:off x="10232136" y="3941063"/>
            <a:ext cx="1508759" cy="822959"/>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10620755" y="4005072"/>
            <a:ext cx="731520" cy="146304"/>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0620755" y="4006900"/>
            <a:ext cx="731520" cy="146304"/>
          </a:xfrm>
          <a:prstGeom prst="rect">
            <a:avLst/>
          </a:prstGeom>
          <a:noFill/>
        </p:spPr>
        <p:txBody>
          <a:bodyPr wrap="square" lIns="0" rIns="0" tIns="0" bIns="0" anchor="t">
            <a:spAutoFit/>
          </a:bodyPr>
          <a:lstStyle/>
          <a:p>
            <a:pPr algn="ctr"/>
            <a:r>
              <a:rPr sz="640" b="1" i="0">
                <a:solidFill>
                  <a:srgbClr val="FFFFFF"/>
                </a:solidFill>
                <a:latin typeface="Calibri"/>
              </a:rPr>
              <a:t>CUSTOM BUILT</a:t>
            </a:r>
          </a:p>
        </p:txBody>
      </p:sp>
      <p:sp>
        <p:nvSpPr>
          <p:cNvPr id="164" name="TextBox 163"/>
          <p:cNvSpPr txBox="1"/>
          <p:nvPr/>
        </p:nvSpPr>
        <p:spPr>
          <a:xfrm>
            <a:off x="10287000" y="4197096"/>
            <a:ext cx="1399031" cy="210312"/>
          </a:xfrm>
          <a:prstGeom prst="rect">
            <a:avLst/>
          </a:prstGeom>
          <a:noFill/>
        </p:spPr>
        <p:txBody>
          <a:bodyPr wrap="square" lIns="0" rIns="0" tIns="0" bIns="0" anchor="t">
            <a:spAutoFit/>
          </a:bodyPr>
          <a:lstStyle/>
          <a:p>
            <a:pPr algn="ctr"/>
            <a:r>
              <a:rPr sz="1000" b="1" i="0">
                <a:solidFill>
                  <a:srgbClr val="463283"/>
                </a:solidFill>
                <a:latin typeface="Calibri"/>
              </a:rPr>
              <a:t>Grounding</a:t>
            </a:r>
          </a:p>
        </p:txBody>
      </p:sp>
      <p:sp>
        <p:nvSpPr>
          <p:cNvPr id="165" name="TextBox 164"/>
          <p:cNvSpPr txBox="1"/>
          <p:nvPr/>
        </p:nvSpPr>
        <p:spPr>
          <a:xfrm>
            <a:off x="10287000" y="4407408"/>
            <a:ext cx="1399031" cy="292607"/>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Every claim cites
its source</a:t>
            </a:r>
          </a:p>
        </p:txBody>
      </p:sp>
      <p:sp>
        <p:nvSpPr>
          <p:cNvPr id="166" name="Rounded Rectangle 165"/>
          <p:cNvSpPr/>
          <p:nvPr/>
        </p:nvSpPr>
        <p:spPr>
          <a:xfrm>
            <a:off x="10232136" y="4846319"/>
            <a:ext cx="1508759" cy="822959"/>
          </a:xfrm>
          <a:prstGeom prst="roundRect">
            <a:avLst>
              <a:gd name="adj" fmla="val 7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ounded Rectangle 166"/>
          <p:cNvSpPr/>
          <p:nvPr/>
        </p:nvSpPr>
        <p:spPr>
          <a:xfrm>
            <a:off x="10620755" y="4910327"/>
            <a:ext cx="731520" cy="146304"/>
          </a:xfrm>
          <a:prstGeom prst="roundRect">
            <a:avLst>
              <a:gd name="adj" fmla="val 45000"/>
            </a:avLst>
          </a:prstGeom>
          <a:solidFill>
            <a:srgbClr val="7E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10620755" y="4912156"/>
            <a:ext cx="731520" cy="146304"/>
          </a:xfrm>
          <a:prstGeom prst="rect">
            <a:avLst/>
          </a:prstGeom>
          <a:noFill/>
        </p:spPr>
        <p:txBody>
          <a:bodyPr wrap="square" lIns="0" rIns="0" tIns="0" bIns="0" anchor="t">
            <a:spAutoFit/>
          </a:bodyPr>
          <a:lstStyle/>
          <a:p>
            <a:pPr algn="ctr"/>
            <a:r>
              <a:rPr sz="640" b="1" i="0">
                <a:solidFill>
                  <a:srgbClr val="FFFFFF"/>
                </a:solidFill>
                <a:latin typeface="Calibri"/>
              </a:rPr>
              <a:t>CUSTOM BUILT</a:t>
            </a:r>
          </a:p>
        </p:txBody>
      </p:sp>
      <p:sp>
        <p:nvSpPr>
          <p:cNvPr id="169" name="TextBox 168"/>
          <p:cNvSpPr txBox="1"/>
          <p:nvPr/>
        </p:nvSpPr>
        <p:spPr>
          <a:xfrm>
            <a:off x="10287000" y="5102351"/>
            <a:ext cx="1399031" cy="210312"/>
          </a:xfrm>
          <a:prstGeom prst="rect">
            <a:avLst/>
          </a:prstGeom>
          <a:noFill/>
        </p:spPr>
        <p:txBody>
          <a:bodyPr wrap="square" lIns="0" rIns="0" tIns="0" bIns="0" anchor="t">
            <a:spAutoFit/>
          </a:bodyPr>
          <a:lstStyle/>
          <a:p>
            <a:pPr algn="ctr"/>
            <a:r>
              <a:rPr sz="1000" b="1" i="0">
                <a:solidFill>
                  <a:srgbClr val="463283"/>
                </a:solidFill>
                <a:latin typeface="Calibri"/>
              </a:rPr>
              <a:t>Zero-tolerance</a:t>
            </a:r>
          </a:p>
        </p:txBody>
      </p:sp>
      <p:sp>
        <p:nvSpPr>
          <p:cNvPr id="170" name="TextBox 169"/>
          <p:cNvSpPr txBox="1"/>
          <p:nvPr/>
        </p:nvSpPr>
        <p:spPr>
          <a:xfrm>
            <a:off x="10287000" y="5312664"/>
            <a:ext cx="1399031" cy="292607"/>
          </a:xfrm>
          <a:prstGeom prst="rect">
            <a:avLst/>
          </a:prstGeom>
          <a:noFill/>
        </p:spPr>
        <p:txBody>
          <a:bodyPr wrap="square" lIns="0" rIns="0" tIns="0" bIns="0" anchor="t">
            <a:spAutoFit/>
          </a:bodyPr>
          <a:lstStyle/>
          <a:p>
            <a:pPr algn="ctr">
              <a:lnSpc>
                <a:spcPct val="116000"/>
              </a:lnSpc>
            </a:pPr>
            <a:r>
              <a:rPr sz="819" b="0" i="0">
                <a:solidFill>
                  <a:srgbClr val="6B7A85"/>
                </a:solidFill>
                <a:latin typeface="Calibri"/>
              </a:rPr>
              <a:t>Two eval metrics that
fail the build</a:t>
            </a:r>
          </a:p>
        </p:txBody>
      </p:sp>
      <p:sp>
        <p:nvSpPr>
          <p:cNvPr id="171" name="TextBox 170"/>
          <p:cNvSpPr txBox="1"/>
          <p:nvPr/>
        </p:nvSpPr>
        <p:spPr>
          <a:xfrm>
            <a:off x="10232136" y="5779007"/>
            <a:ext cx="1508759" cy="292608"/>
          </a:xfrm>
          <a:prstGeom prst="rect">
            <a:avLst/>
          </a:prstGeom>
          <a:noFill/>
        </p:spPr>
        <p:txBody>
          <a:bodyPr wrap="square" lIns="0" rIns="0" tIns="0" bIns="0" anchor="t">
            <a:spAutoFit/>
          </a:bodyPr>
          <a:lstStyle/>
          <a:p>
            <a:pPr algn="ctr">
              <a:lnSpc>
                <a:spcPct val="114000"/>
              </a:lnSpc>
            </a:pPr>
            <a:r>
              <a:rPr sz="740" b="1" i="0">
                <a:solidFill>
                  <a:srgbClr val="9E2B25"/>
                </a:solidFill>
                <a:latin typeface="Calibri"/>
              </a:rPr>
              <a:t>EVERY ONE CUSTOM BUILT
No vendor sells these rules.</a:t>
            </a:r>
          </a:p>
        </p:txBody>
      </p:sp>
      <p:sp>
        <p:nvSpPr>
          <p:cNvPr id="172" name="Rounded Rectangle 171"/>
          <p:cNvSpPr/>
          <p:nvPr/>
        </p:nvSpPr>
        <p:spPr>
          <a:xfrm>
            <a:off x="365760" y="6263640"/>
            <a:ext cx="11475720" cy="384048"/>
          </a:xfrm>
          <a:prstGeom prst="roundRect">
            <a:avLst>
              <a:gd name="adj" fmla="val 6000"/>
            </a:avLst>
          </a:prstGeom>
          <a:solidFill>
            <a:srgbClr val="FFFFFF"/>
          </a:solidFill>
          <a:ln w="12700">
            <a:solidFill>
              <a:srgbClr val="9CBF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3" name="Picture 172" descr="openstreetmap.png"/>
          <p:cNvPicPr>
            <a:picLocks noChangeAspect="1"/>
          </p:cNvPicPr>
          <p:nvPr/>
        </p:nvPicPr>
        <p:blipFill>
          <a:blip r:embed="rId11"/>
          <a:stretch>
            <a:fillRect/>
          </a:stretch>
        </p:blipFill>
        <p:spPr>
          <a:xfrm>
            <a:off x="484632" y="6318503"/>
            <a:ext cx="274320" cy="274320"/>
          </a:xfrm>
          <a:prstGeom prst="rect">
            <a:avLst/>
          </a:prstGeom>
        </p:spPr>
      </p:pic>
      <p:sp>
        <p:nvSpPr>
          <p:cNvPr id="174" name="TextBox 173"/>
          <p:cNvSpPr txBox="1"/>
          <p:nvPr/>
        </p:nvSpPr>
        <p:spPr>
          <a:xfrm>
            <a:off x="877824" y="6336792"/>
            <a:ext cx="10789920" cy="237744"/>
          </a:xfrm>
          <a:prstGeom prst="rect">
            <a:avLst/>
          </a:prstGeom>
          <a:noFill/>
        </p:spPr>
        <p:txBody>
          <a:bodyPr wrap="square" lIns="0" rIns="0" tIns="0" bIns="0" anchor="t">
            <a:spAutoFit/>
          </a:bodyPr>
          <a:lstStyle/>
          <a:p>
            <a:pPr algn="l"/>
            <a:r>
              <a:rPr sz="900" b="1" i="0">
                <a:solidFill>
                  <a:srgbClr val="0E3A4C"/>
                </a:solidFill>
                <a:latin typeface="Calibri"/>
              </a:rPr>
              <a:t>LOCATION &amp; WEATHER:  device GPS, or pick a city for the demo — place names from OpenStreetMap  ·  Open-Meteo returns the conditions at that exact timestamp, free and keyless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The agent graph</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LangGraph. Twelve nodes, and one that pre-empts the rest.</a:t>
            </a:r>
          </a:p>
        </p:txBody>
      </p:sp>
      <p:pic>
        <p:nvPicPr>
          <p:cNvPr id="6" name="Picture 5" descr="arch_graph.png"/>
          <p:cNvPicPr>
            <a:picLocks noChangeAspect="1"/>
          </p:cNvPicPr>
          <p:nvPr/>
        </p:nvPicPr>
        <p:blipFill>
          <a:blip r:embed="rId2"/>
          <a:stretch>
            <a:fillRect/>
          </a:stretch>
        </p:blipFill>
        <p:spPr>
          <a:xfrm>
            <a:off x="1340967" y="987552"/>
            <a:ext cx="9509760" cy="5334627"/>
          </a:xfrm>
          <a:prstGeom prst="rect">
            <a:avLst/>
          </a:prstGeom>
        </p:spPr>
      </p:pic>
      <p:sp>
        <p:nvSpPr>
          <p:cNvPr id="7" name="Rounded Rectangle 6"/>
          <p:cNvSpPr/>
          <p:nvPr/>
        </p:nvSpPr>
        <p:spPr>
          <a:xfrm>
            <a:off x="365760" y="5943600"/>
            <a:ext cx="11457432" cy="640080"/>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053328"/>
            <a:ext cx="11064240" cy="420624"/>
          </a:xfrm>
          <a:prstGeom prst="rect">
            <a:avLst/>
          </a:prstGeom>
          <a:noFill/>
        </p:spPr>
        <p:txBody>
          <a:bodyPr wrap="square" lIns="0" rIns="0" tIns="0" bIns="0" anchor="t">
            <a:spAutoFit/>
          </a:bodyPr>
          <a:lstStyle/>
          <a:p>
            <a:pPr algn="l">
              <a:lnSpc>
                <a:spcPct val="118000"/>
              </a:lnSpc>
            </a:pPr>
            <a:r>
              <a:rPr sz="1100" b="1" i="0">
                <a:solidFill>
                  <a:srgbClr val="463283"/>
                </a:solidFill>
                <a:latin typeface="Calibri"/>
              </a:rPr>
              <a:t>The graph is the supervisor — no model chooses the next node. Routing is a conditional edge on typed state, which is why the ordering can be scored.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One turn, end to end</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Where the 2.5 seconds go — and what is deliberately off the critical path.</a:t>
            </a:r>
          </a:p>
        </p:txBody>
      </p:sp>
      <p:pic>
        <p:nvPicPr>
          <p:cNvPr id="6" name="Picture 5" descr="arch_runtime.png"/>
          <p:cNvPicPr>
            <a:picLocks noChangeAspect="1"/>
          </p:cNvPicPr>
          <p:nvPr/>
        </p:nvPicPr>
        <p:blipFill>
          <a:blip r:embed="rId2"/>
          <a:stretch>
            <a:fillRect/>
          </a:stretch>
        </p:blipFill>
        <p:spPr>
          <a:xfrm>
            <a:off x="792327" y="1310886"/>
            <a:ext cx="10607040" cy="4144788"/>
          </a:xfrm>
          <a:prstGeom prst="rect">
            <a:avLst/>
          </a:prstGeom>
        </p:spPr>
      </p:pic>
      <p:sp>
        <p:nvSpPr>
          <p:cNvPr id="7" name="Rounded Rectangle 6"/>
          <p:cNvSpPr/>
          <p:nvPr/>
        </p:nvSpPr>
        <p:spPr>
          <a:xfrm>
            <a:off x="365760" y="5943600"/>
            <a:ext cx="11457432" cy="640080"/>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6053328"/>
            <a:ext cx="11064240" cy="420624"/>
          </a:xfrm>
          <a:prstGeom prst="rect">
            <a:avLst/>
          </a:prstGeom>
          <a:noFill/>
        </p:spPr>
        <p:txBody>
          <a:bodyPr wrap="square" lIns="0" rIns="0" tIns="0" bIns="0" anchor="t">
            <a:spAutoFit/>
          </a:bodyPr>
          <a:lstStyle/>
          <a:p>
            <a:pPr algn="l">
              <a:lnSpc>
                <a:spcPct val="118000"/>
              </a:lnSpc>
            </a:pPr>
            <a:r>
              <a:rPr sz="1100" b="1" i="0">
                <a:solidFill>
                  <a:srgbClr val="463283"/>
                </a:solidFill>
                <a:latin typeface="Calibri"/>
              </a:rPr>
              <a:t>Retrieval happens before the crisis starts, not during it. Only the fast tier runs on a turn; the reason tier, vision and the pack are all off-path.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Data architecture</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What exists, where it lives, and how long it stays.</a:t>
            </a:r>
          </a:p>
        </p:txBody>
      </p:sp>
      <p:sp>
        <p:nvSpPr>
          <p:cNvPr id="6" name="TextBox 5"/>
          <p:cNvSpPr txBox="1"/>
          <p:nvPr/>
        </p:nvSpPr>
        <p:spPr>
          <a:xfrm>
            <a:off x="512064" y="969264"/>
            <a:ext cx="1957456" cy="201168"/>
          </a:xfrm>
          <a:prstGeom prst="rect">
            <a:avLst/>
          </a:prstGeom>
          <a:noFill/>
        </p:spPr>
        <p:txBody>
          <a:bodyPr wrap="square" lIns="0" rIns="0" tIns="0" bIns="0" anchor="t">
            <a:spAutoFit/>
          </a:bodyPr>
          <a:lstStyle/>
          <a:p>
            <a:pPr algn="l"/>
            <a:r>
              <a:rPr sz="860" b="1" i="0">
                <a:solidFill>
                  <a:srgbClr val="6B7A85"/>
                </a:solidFill>
                <a:latin typeface="Calibri"/>
              </a:rPr>
              <a:t>DATA</a:t>
            </a:r>
          </a:p>
        </p:txBody>
      </p:sp>
      <p:sp>
        <p:nvSpPr>
          <p:cNvPr id="7" name="TextBox 6"/>
          <p:cNvSpPr txBox="1"/>
          <p:nvPr/>
        </p:nvSpPr>
        <p:spPr>
          <a:xfrm>
            <a:off x="2688976" y="969264"/>
            <a:ext cx="2530327" cy="201168"/>
          </a:xfrm>
          <a:prstGeom prst="rect">
            <a:avLst/>
          </a:prstGeom>
          <a:noFill/>
        </p:spPr>
        <p:txBody>
          <a:bodyPr wrap="square" lIns="0" rIns="0" tIns="0" bIns="0" anchor="t">
            <a:spAutoFit/>
          </a:bodyPr>
          <a:lstStyle/>
          <a:p>
            <a:pPr algn="l"/>
            <a:r>
              <a:rPr sz="860" b="1" i="0">
                <a:solidFill>
                  <a:srgbClr val="6B7A85"/>
                </a:solidFill>
                <a:latin typeface="Calibri"/>
              </a:rPr>
              <a:t>WHERE IT LIVES</a:t>
            </a:r>
          </a:p>
        </p:txBody>
      </p:sp>
      <p:sp>
        <p:nvSpPr>
          <p:cNvPr id="8" name="TextBox 7"/>
          <p:cNvSpPr txBox="1"/>
          <p:nvPr/>
        </p:nvSpPr>
        <p:spPr>
          <a:xfrm>
            <a:off x="5438759" y="969264"/>
            <a:ext cx="4363516" cy="201168"/>
          </a:xfrm>
          <a:prstGeom prst="rect">
            <a:avLst/>
          </a:prstGeom>
          <a:noFill/>
        </p:spPr>
        <p:txBody>
          <a:bodyPr wrap="square" lIns="0" rIns="0" tIns="0" bIns="0" anchor="t">
            <a:spAutoFit/>
          </a:bodyPr>
          <a:lstStyle/>
          <a:p>
            <a:pPr algn="l"/>
            <a:r>
              <a:rPr sz="860" b="1" i="0">
                <a:solidFill>
                  <a:srgbClr val="6B7A85"/>
                </a:solidFill>
                <a:latin typeface="Calibri"/>
              </a:rPr>
              <a:t>WHY THERE</a:t>
            </a:r>
          </a:p>
        </p:txBody>
      </p:sp>
      <p:sp>
        <p:nvSpPr>
          <p:cNvPr id="9" name="TextBox 8"/>
          <p:cNvSpPr txBox="1"/>
          <p:nvPr/>
        </p:nvSpPr>
        <p:spPr>
          <a:xfrm>
            <a:off x="10021732" y="969264"/>
            <a:ext cx="1728307" cy="201168"/>
          </a:xfrm>
          <a:prstGeom prst="rect">
            <a:avLst/>
          </a:prstGeom>
          <a:noFill/>
        </p:spPr>
        <p:txBody>
          <a:bodyPr wrap="square" lIns="0" rIns="0" tIns="0" bIns="0" anchor="t">
            <a:spAutoFit/>
          </a:bodyPr>
          <a:lstStyle/>
          <a:p>
            <a:pPr algn="l"/>
            <a:r>
              <a:rPr sz="860" b="1" i="0">
                <a:solidFill>
                  <a:srgbClr val="6B7A85"/>
                </a:solidFill>
                <a:latin typeface="Calibri"/>
              </a:rPr>
              <a:t>LIFETIME</a:t>
            </a:r>
          </a:p>
        </p:txBody>
      </p:sp>
      <p:sp>
        <p:nvSpPr>
          <p:cNvPr id="10" name="Rounded Rectangle 9"/>
          <p:cNvSpPr/>
          <p:nvPr/>
        </p:nvSpPr>
        <p:spPr>
          <a:xfrm>
            <a:off x="365760" y="1243584"/>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3776" y="1353312"/>
            <a:ext cx="73152" cy="478535"/>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380744"/>
            <a:ext cx="1719712"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The four corpora</a:t>
            </a:r>
          </a:p>
        </p:txBody>
      </p:sp>
      <p:sp>
        <p:nvSpPr>
          <p:cNvPr id="13" name="TextBox 12"/>
          <p:cNvSpPr txBox="1"/>
          <p:nvPr/>
        </p:nvSpPr>
        <p:spPr>
          <a:xfrm>
            <a:off x="2688976" y="1380744"/>
            <a:ext cx="247546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Pinecone — policy, duties, intake, denials namespaces</a:t>
            </a:r>
          </a:p>
        </p:txBody>
      </p:sp>
      <p:sp>
        <p:nvSpPr>
          <p:cNvPr id="14" name="TextBox 13"/>
          <p:cNvSpPr txBox="1"/>
          <p:nvPr/>
        </p:nvSpPr>
        <p:spPr>
          <a:xfrm>
            <a:off x="5438759" y="1380744"/>
            <a:ext cx="4308652"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Semantic lookup over prose. Every chunk carries its provenance.</a:t>
            </a:r>
          </a:p>
        </p:txBody>
      </p:sp>
      <p:sp>
        <p:nvSpPr>
          <p:cNvPr id="15" name="TextBox 14"/>
          <p:cNvSpPr txBox="1"/>
          <p:nvPr/>
        </p:nvSpPr>
        <p:spPr>
          <a:xfrm>
            <a:off x="10021732" y="1380744"/>
            <a:ext cx="167344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Static; rebuilt when the pack changes</a:t>
            </a:r>
          </a:p>
        </p:txBody>
      </p:sp>
      <p:sp>
        <p:nvSpPr>
          <p:cNvPr id="16" name="Rounded Rectangle 15"/>
          <p:cNvSpPr/>
          <p:nvPr/>
        </p:nvSpPr>
        <p:spPr>
          <a:xfrm>
            <a:off x="365760" y="2033015"/>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3776" y="2142744"/>
            <a:ext cx="73152" cy="478535"/>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2170175"/>
            <a:ext cx="1719712"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Evidence ledger &amp; scene clock</a:t>
            </a:r>
          </a:p>
        </p:txBody>
      </p:sp>
      <p:sp>
        <p:nvSpPr>
          <p:cNvPr id="19" name="TextBox 18"/>
          <p:cNvSpPr txBox="1"/>
          <p:nvPr/>
        </p:nvSpPr>
        <p:spPr>
          <a:xfrm>
            <a:off x="2688976" y="2170175"/>
            <a:ext cx="247546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SQLite, on the device</a:t>
            </a:r>
          </a:p>
        </p:txBody>
      </p:sp>
      <p:sp>
        <p:nvSpPr>
          <p:cNvPr id="20" name="TextBox 19"/>
          <p:cNvSpPr txBox="1"/>
          <p:nvPr/>
        </p:nvSpPr>
        <p:spPr>
          <a:xfrm>
            <a:off x="5438759" y="2170175"/>
            <a:ext cx="4308652"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Counts, statuses and windows are arithmetic. Never approximated.</a:t>
            </a:r>
          </a:p>
        </p:txBody>
      </p:sp>
      <p:sp>
        <p:nvSpPr>
          <p:cNvPr id="21" name="TextBox 20"/>
          <p:cNvSpPr txBox="1"/>
          <p:nvPr/>
        </p:nvSpPr>
        <p:spPr>
          <a:xfrm>
            <a:off x="10021732" y="2170175"/>
            <a:ext cx="167344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One scene; kept with the incident</a:t>
            </a:r>
          </a:p>
        </p:txBody>
      </p:sp>
      <p:sp>
        <p:nvSpPr>
          <p:cNvPr id="22" name="Rounded Rectangle 21"/>
          <p:cNvSpPr/>
          <p:nvPr/>
        </p:nvSpPr>
        <p:spPr>
          <a:xfrm>
            <a:off x="365760" y="2822448"/>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3776" y="2932176"/>
            <a:ext cx="73152" cy="478535"/>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2959607"/>
            <a:ext cx="1719712"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Her profile</a:t>
            </a:r>
          </a:p>
        </p:txBody>
      </p:sp>
      <p:sp>
        <p:nvSpPr>
          <p:cNvPr id="25" name="TextBox 24"/>
          <p:cNvSpPr txBox="1"/>
          <p:nvPr/>
        </p:nvSpPr>
        <p:spPr>
          <a:xfrm>
            <a:off x="2688976" y="2959607"/>
            <a:ext cx="247546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SQLite, on the device</a:t>
            </a:r>
          </a:p>
        </p:txBody>
      </p:sp>
      <p:sp>
        <p:nvSpPr>
          <p:cNvPr id="26" name="TextBox 25"/>
          <p:cNvSpPr txBox="1"/>
          <p:nvPr/>
        </p:nvSpPr>
        <p:spPr>
          <a:xfrm>
            <a:off x="5438759" y="2959607"/>
            <a:ext cx="4308652"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Car, policy, contacts, past incidents. Read at scene open.</a:t>
            </a:r>
          </a:p>
        </p:txBody>
      </p:sp>
      <p:sp>
        <p:nvSpPr>
          <p:cNvPr id="27" name="TextBox 26"/>
          <p:cNvSpPr txBox="1"/>
          <p:nvPr/>
        </p:nvSpPr>
        <p:spPr>
          <a:xfrm>
            <a:off x="10021732" y="2959607"/>
            <a:ext cx="167344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Persistent, hers</a:t>
            </a:r>
          </a:p>
        </p:txBody>
      </p:sp>
      <p:sp>
        <p:nvSpPr>
          <p:cNvPr id="28" name="Rounded Rectangle 27"/>
          <p:cNvSpPr/>
          <p:nvPr/>
        </p:nvSpPr>
        <p:spPr>
          <a:xfrm>
            <a:off x="365760" y="3611879"/>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93776" y="3721607"/>
            <a:ext cx="73152" cy="478535"/>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749039"/>
            <a:ext cx="1719712"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The domain pack</a:t>
            </a:r>
          </a:p>
        </p:txBody>
      </p:sp>
      <p:sp>
        <p:nvSpPr>
          <p:cNvPr id="31" name="TextBox 30"/>
          <p:cNvSpPr txBox="1"/>
          <p:nvPr/>
        </p:nvSpPr>
        <p:spPr>
          <a:xfrm>
            <a:off x="2688976" y="3749039"/>
            <a:ext cx="247546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Files, versioned with the code</a:t>
            </a:r>
          </a:p>
        </p:txBody>
      </p:sp>
      <p:sp>
        <p:nvSpPr>
          <p:cNvPr id="32" name="TextBox 31"/>
          <p:cNvSpPr txBox="1"/>
          <p:nvPr/>
        </p:nvSpPr>
        <p:spPr>
          <a:xfrm>
            <a:off x="5438759" y="3749039"/>
            <a:ext cx="4308652"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Evidence catalogue, scene events, hard-stop and speech rules.</a:t>
            </a:r>
          </a:p>
        </p:txBody>
      </p:sp>
      <p:sp>
        <p:nvSpPr>
          <p:cNvPr id="33" name="TextBox 32"/>
          <p:cNvSpPr txBox="1"/>
          <p:nvPr/>
        </p:nvSpPr>
        <p:spPr>
          <a:xfrm>
            <a:off x="10021732" y="3749039"/>
            <a:ext cx="167344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Read-only at runtime</a:t>
            </a:r>
          </a:p>
        </p:txBody>
      </p:sp>
      <p:sp>
        <p:nvSpPr>
          <p:cNvPr id="34" name="Rounded Rectangle 33"/>
          <p:cNvSpPr/>
          <p:nvPr/>
        </p:nvSpPr>
        <p:spPr>
          <a:xfrm>
            <a:off x="365760" y="4401311"/>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3776" y="4511039"/>
            <a:ext cx="73152" cy="478535"/>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4538472"/>
            <a:ext cx="1719712"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Photographs &amp; statement</a:t>
            </a:r>
          </a:p>
        </p:txBody>
      </p:sp>
      <p:sp>
        <p:nvSpPr>
          <p:cNvPr id="37" name="TextBox 36"/>
          <p:cNvSpPr txBox="1"/>
          <p:nvPr/>
        </p:nvSpPr>
        <p:spPr>
          <a:xfrm>
            <a:off x="2688976" y="4538472"/>
            <a:ext cx="247546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Device storage until she sends</a:t>
            </a:r>
          </a:p>
        </p:txBody>
      </p:sp>
      <p:sp>
        <p:nvSpPr>
          <p:cNvPr id="38" name="TextBox 37"/>
          <p:cNvSpPr txBox="1"/>
          <p:nvPr/>
        </p:nvSpPr>
        <p:spPr>
          <a:xfrm>
            <a:off x="5438759" y="4538472"/>
            <a:ext cx="4308652"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Nothing leaves the phone without an explicit approval.</a:t>
            </a:r>
          </a:p>
        </p:txBody>
      </p:sp>
      <p:sp>
        <p:nvSpPr>
          <p:cNvPr id="39" name="TextBox 38"/>
          <p:cNvSpPr txBox="1"/>
          <p:nvPr/>
        </p:nvSpPr>
        <p:spPr>
          <a:xfrm>
            <a:off x="10021732" y="4538472"/>
            <a:ext cx="167344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Until she deletes it</a:t>
            </a:r>
          </a:p>
        </p:txBody>
      </p:sp>
      <p:sp>
        <p:nvSpPr>
          <p:cNvPr id="40" name="Rounded Rectangle 39"/>
          <p:cNvSpPr/>
          <p:nvPr/>
        </p:nvSpPr>
        <p:spPr>
          <a:xfrm>
            <a:off x="365760" y="5190743"/>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93776" y="5300471"/>
            <a:ext cx="73152" cy="478535"/>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5327904"/>
            <a:ext cx="1719712"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Traces &amp; eval runs</a:t>
            </a:r>
          </a:p>
        </p:txBody>
      </p:sp>
      <p:sp>
        <p:nvSpPr>
          <p:cNvPr id="43" name="TextBox 42"/>
          <p:cNvSpPr txBox="1"/>
          <p:nvPr/>
        </p:nvSpPr>
        <p:spPr>
          <a:xfrm>
            <a:off x="2688976" y="5327904"/>
            <a:ext cx="247546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LangSmith</a:t>
            </a:r>
          </a:p>
        </p:txBody>
      </p:sp>
      <p:sp>
        <p:nvSpPr>
          <p:cNvPr id="44" name="TextBox 43"/>
          <p:cNvSpPr txBox="1"/>
          <p:nvPr/>
        </p:nvSpPr>
        <p:spPr>
          <a:xfrm>
            <a:off x="5438759" y="5327904"/>
            <a:ext cx="4308652"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One trace per scene. Synthetic scenarios only — never a real incident.</a:t>
            </a:r>
          </a:p>
        </p:txBody>
      </p:sp>
      <p:sp>
        <p:nvSpPr>
          <p:cNvPr id="45" name="TextBox 44"/>
          <p:cNvSpPr txBox="1"/>
          <p:nvPr/>
        </p:nvSpPr>
        <p:spPr>
          <a:xfrm>
            <a:off x="10021732" y="5327904"/>
            <a:ext cx="1673443"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Retained for comparison</a:t>
            </a:r>
          </a:p>
        </p:txBody>
      </p:sp>
      <p:sp>
        <p:nvSpPr>
          <p:cNvPr id="46" name="Rounded Rectangle 45"/>
          <p:cNvSpPr/>
          <p:nvPr/>
        </p:nvSpPr>
        <p:spPr>
          <a:xfrm>
            <a:off x="365760" y="5943600"/>
            <a:ext cx="11457432" cy="512064"/>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6053327"/>
            <a:ext cx="11055096" cy="310896"/>
          </a:xfrm>
          <a:prstGeom prst="rect">
            <a:avLst/>
          </a:prstGeom>
          <a:noFill/>
        </p:spPr>
        <p:txBody>
          <a:bodyPr wrap="square" lIns="0" rIns="0" tIns="0" bIns="0" anchor="t">
            <a:spAutoFit/>
          </a:bodyPr>
          <a:lstStyle/>
          <a:p>
            <a:pPr algn="l"/>
            <a:r>
              <a:rPr sz="1050" b="1" i="0">
                <a:solidFill>
                  <a:srgbClr val="463283"/>
                </a:solidFill>
                <a:latin typeface="Calibri"/>
              </a:rPr>
              <a:t>No real personal data anywhere in the prototype. Two synthetic profiles, fabricated policies, public rules.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Autonomy &amp; safety model</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What it does alone, what it must ask, and where it stops.</a:t>
            </a:r>
          </a:p>
        </p:txBody>
      </p:sp>
      <p:sp>
        <p:nvSpPr>
          <p:cNvPr id="6" name="TextBox 5"/>
          <p:cNvSpPr txBox="1"/>
          <p:nvPr/>
        </p:nvSpPr>
        <p:spPr>
          <a:xfrm>
            <a:off x="512064" y="969264"/>
            <a:ext cx="1384584" cy="201168"/>
          </a:xfrm>
          <a:prstGeom prst="rect">
            <a:avLst/>
          </a:prstGeom>
          <a:noFill/>
        </p:spPr>
        <p:txBody>
          <a:bodyPr wrap="square" lIns="0" rIns="0" tIns="0" bIns="0" anchor="t">
            <a:spAutoFit/>
          </a:bodyPr>
          <a:lstStyle/>
          <a:p>
            <a:pPr algn="l"/>
            <a:r>
              <a:rPr sz="860" b="1" i="0">
                <a:solidFill>
                  <a:srgbClr val="6B7A85"/>
                </a:solidFill>
                <a:latin typeface="Calibri"/>
              </a:rPr>
              <a:t>TIER</a:t>
            </a:r>
          </a:p>
        </p:txBody>
      </p:sp>
      <p:sp>
        <p:nvSpPr>
          <p:cNvPr id="7" name="TextBox 6"/>
          <p:cNvSpPr txBox="1"/>
          <p:nvPr/>
        </p:nvSpPr>
        <p:spPr>
          <a:xfrm>
            <a:off x="2116104" y="969264"/>
            <a:ext cx="3905219" cy="201168"/>
          </a:xfrm>
          <a:prstGeom prst="rect">
            <a:avLst/>
          </a:prstGeom>
          <a:noFill/>
        </p:spPr>
        <p:txBody>
          <a:bodyPr wrap="square" lIns="0" rIns="0" tIns="0" bIns="0" anchor="t">
            <a:spAutoFit/>
          </a:bodyPr>
          <a:lstStyle/>
          <a:p>
            <a:pPr algn="l"/>
            <a:r>
              <a:rPr sz="860" b="1" i="0">
                <a:solidFill>
                  <a:srgbClr val="6B7A85"/>
                </a:solidFill>
                <a:latin typeface="Calibri"/>
              </a:rPr>
              <a:t>WHAT SITS HERE</a:t>
            </a:r>
          </a:p>
        </p:txBody>
      </p:sp>
      <p:sp>
        <p:nvSpPr>
          <p:cNvPr id="8" name="TextBox 7"/>
          <p:cNvSpPr txBox="1"/>
          <p:nvPr/>
        </p:nvSpPr>
        <p:spPr>
          <a:xfrm>
            <a:off x="6240779" y="969264"/>
            <a:ext cx="2759476" cy="201168"/>
          </a:xfrm>
          <a:prstGeom prst="rect">
            <a:avLst/>
          </a:prstGeom>
          <a:noFill/>
        </p:spPr>
        <p:txBody>
          <a:bodyPr wrap="square" lIns="0" rIns="0" tIns="0" bIns="0" anchor="t">
            <a:spAutoFit/>
          </a:bodyPr>
          <a:lstStyle/>
          <a:p>
            <a:pPr algn="l"/>
            <a:r>
              <a:rPr sz="860" b="1" i="0">
                <a:solidFill>
                  <a:srgbClr val="6B7A85"/>
                </a:solidFill>
                <a:latin typeface="Calibri"/>
              </a:rPr>
              <a:t>ENFORCED BY</a:t>
            </a:r>
          </a:p>
        </p:txBody>
      </p:sp>
      <p:sp>
        <p:nvSpPr>
          <p:cNvPr id="9" name="TextBox 8"/>
          <p:cNvSpPr txBox="1"/>
          <p:nvPr/>
        </p:nvSpPr>
        <p:spPr>
          <a:xfrm>
            <a:off x="9219712" y="969264"/>
            <a:ext cx="2530327" cy="201168"/>
          </a:xfrm>
          <a:prstGeom prst="rect">
            <a:avLst/>
          </a:prstGeom>
          <a:noFill/>
        </p:spPr>
        <p:txBody>
          <a:bodyPr wrap="square" lIns="0" rIns="0" tIns="0" bIns="0" anchor="t">
            <a:spAutoFit/>
          </a:bodyPr>
          <a:lstStyle/>
          <a:p>
            <a:pPr algn="l"/>
            <a:r>
              <a:rPr sz="860" b="1" i="0">
                <a:solidFill>
                  <a:srgbClr val="6B7A85"/>
                </a:solidFill>
                <a:latin typeface="Calibri"/>
              </a:rPr>
              <a:t>PROVEN BY</a:t>
            </a:r>
          </a:p>
        </p:txBody>
      </p:sp>
      <p:sp>
        <p:nvSpPr>
          <p:cNvPr id="10" name="Rounded Rectangle 9"/>
          <p:cNvSpPr/>
          <p:nvPr/>
        </p:nvSpPr>
        <p:spPr>
          <a:xfrm>
            <a:off x="365760" y="1243584"/>
            <a:ext cx="11457432" cy="1092707"/>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3776" y="1353312"/>
            <a:ext cx="73152" cy="873251"/>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380744"/>
            <a:ext cx="1146840" cy="818387"/>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ACTS ALONE</a:t>
            </a:r>
          </a:p>
        </p:txBody>
      </p:sp>
      <p:sp>
        <p:nvSpPr>
          <p:cNvPr id="13" name="TextBox 12"/>
          <p:cNvSpPr txBox="1"/>
          <p:nvPr/>
        </p:nvSpPr>
        <p:spPr>
          <a:xfrm>
            <a:off x="2116104" y="1380744"/>
            <a:ext cx="3850355"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Ordering the collection · re-requesting a failed capture · logging time, place and weather · drafting her statement · answering from the corpus</a:t>
            </a:r>
          </a:p>
        </p:txBody>
      </p:sp>
      <p:sp>
        <p:nvSpPr>
          <p:cNvPr id="14" name="TextBox 13"/>
          <p:cNvSpPr txBox="1"/>
          <p:nvPr/>
        </p:nvSpPr>
        <p:spPr>
          <a:xfrm>
            <a:off x="6240779" y="1380744"/>
            <a:ext cx="2704612"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Default. No gate.</a:t>
            </a:r>
          </a:p>
        </p:txBody>
      </p:sp>
      <p:sp>
        <p:nvSpPr>
          <p:cNvPr id="15" name="TextBox 14"/>
          <p:cNvSpPr txBox="1"/>
          <p:nvPr/>
        </p:nvSpPr>
        <p:spPr>
          <a:xfrm>
            <a:off x="9219712" y="1380744"/>
            <a:ext cx="2475463"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Ordering fidelity 5/5 on the interrupt scenarios</a:t>
            </a:r>
          </a:p>
        </p:txBody>
      </p:sp>
      <p:sp>
        <p:nvSpPr>
          <p:cNvPr id="16" name="Rounded Rectangle 15"/>
          <p:cNvSpPr/>
          <p:nvPr/>
        </p:nvSpPr>
        <p:spPr>
          <a:xfrm>
            <a:off x="365760" y="2427732"/>
            <a:ext cx="11457432" cy="1092707"/>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3776" y="2537460"/>
            <a:ext cx="73152" cy="873251"/>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2564892"/>
            <a:ext cx="1146840" cy="818387"/>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CONFIRMS FIRST</a:t>
            </a:r>
          </a:p>
        </p:txBody>
      </p:sp>
      <p:sp>
        <p:nvSpPr>
          <p:cNvPr id="19" name="TextBox 18"/>
          <p:cNvSpPr txBox="1"/>
          <p:nvPr/>
        </p:nvSpPr>
        <p:spPr>
          <a:xfrm>
            <a:off x="2116104" y="2564892"/>
            <a:ext cx="3850355"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Anything said to the other party · contacting a third party · anything sent to the insurer</a:t>
            </a:r>
          </a:p>
        </p:txBody>
      </p:sp>
      <p:sp>
        <p:nvSpPr>
          <p:cNvPr id="20" name="TextBox 19"/>
          <p:cNvSpPr txBox="1"/>
          <p:nvPr/>
        </p:nvSpPr>
        <p:spPr>
          <a:xfrm>
            <a:off x="6240779" y="2564892"/>
            <a:ext cx="2704612"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requires_approval on the tool → confirm node → interrupt()</a:t>
            </a:r>
          </a:p>
        </p:txBody>
      </p:sp>
      <p:sp>
        <p:nvSpPr>
          <p:cNvPr id="21" name="TextBox 20"/>
          <p:cNvSpPr txBox="1"/>
          <p:nvPr/>
        </p:nvSpPr>
        <p:spPr>
          <a:xfrm>
            <a:off x="9219712" y="2564892"/>
            <a:ext cx="2475463"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Commitment log matches the transcript, 100%</a:t>
            </a:r>
          </a:p>
        </p:txBody>
      </p:sp>
      <p:sp>
        <p:nvSpPr>
          <p:cNvPr id="22" name="Rounded Rectangle 21"/>
          <p:cNvSpPr/>
          <p:nvPr/>
        </p:nvSpPr>
        <p:spPr>
          <a:xfrm>
            <a:off x="365760" y="3611880"/>
            <a:ext cx="11457432" cy="1092707"/>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3776" y="3721608"/>
            <a:ext cx="73152" cy="873251"/>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3749040"/>
            <a:ext cx="1146840" cy="818387"/>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STANDS DOWN</a:t>
            </a:r>
          </a:p>
        </p:txBody>
      </p:sp>
      <p:sp>
        <p:nvSpPr>
          <p:cNvPr id="25" name="TextBox 24"/>
          <p:cNvSpPr txBox="1"/>
          <p:nvPr/>
        </p:nvSpPr>
        <p:spPr>
          <a:xfrm>
            <a:off x="2116104" y="3749040"/>
            <a:ext cx="3850355"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Injury to anyone · hostility · fire or fuel · a weapon · signs of a staged collision</a:t>
            </a:r>
          </a:p>
        </p:txBody>
      </p:sp>
      <p:sp>
        <p:nvSpPr>
          <p:cNvPr id="26" name="TextBox 25"/>
          <p:cNvSpPr txBox="1"/>
          <p:nvPr/>
        </p:nvSpPr>
        <p:spPr>
          <a:xfrm>
            <a:off x="6240779" y="3749040"/>
            <a:ext cx="2704612"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guard node, which runs before the planner on every turn</a:t>
            </a:r>
          </a:p>
        </p:txBody>
      </p:sp>
      <p:sp>
        <p:nvSpPr>
          <p:cNvPr id="27" name="TextBox 26"/>
          <p:cNvSpPr txBox="1"/>
          <p:nvPr/>
        </p:nvSpPr>
        <p:spPr>
          <a:xfrm>
            <a:off x="9219712" y="3749040"/>
            <a:ext cx="2475463"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Escalation correctness 100% — a build gate</a:t>
            </a:r>
          </a:p>
        </p:txBody>
      </p:sp>
      <p:sp>
        <p:nvSpPr>
          <p:cNvPr id="28" name="Rounded Rectangle 27"/>
          <p:cNvSpPr/>
          <p:nvPr/>
        </p:nvSpPr>
        <p:spPr>
          <a:xfrm>
            <a:off x="365760" y="4796028"/>
            <a:ext cx="11457432" cy="1092707"/>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93776" y="4905756"/>
            <a:ext cx="73152" cy="873251"/>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4933188"/>
            <a:ext cx="1146840" cy="818387"/>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NEVER</a:t>
            </a:r>
          </a:p>
        </p:txBody>
      </p:sp>
      <p:sp>
        <p:nvSpPr>
          <p:cNvPr id="31" name="TextBox 30"/>
          <p:cNvSpPr txBox="1"/>
          <p:nvPr/>
        </p:nvSpPr>
        <p:spPr>
          <a:xfrm>
            <a:off x="2116104" y="4933188"/>
            <a:ext cx="3850355"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An opinion on fault · legal or insurance advice · calling emergency services itself · coaching an admission</a:t>
            </a:r>
          </a:p>
        </p:txBody>
      </p:sp>
      <p:sp>
        <p:nvSpPr>
          <p:cNvPr id="32" name="TextBox 31"/>
          <p:cNvSpPr txBox="1"/>
          <p:nvPr/>
        </p:nvSpPr>
        <p:spPr>
          <a:xfrm>
            <a:off x="6240779" y="4933188"/>
            <a:ext cx="2704612"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Prohibited-speech rules in the pack, applied at instruct</a:t>
            </a:r>
          </a:p>
        </p:txBody>
      </p:sp>
      <p:sp>
        <p:nvSpPr>
          <p:cNvPr id="33" name="TextBox 32"/>
          <p:cNvSpPr txBox="1"/>
          <p:nvPr/>
        </p:nvSpPr>
        <p:spPr>
          <a:xfrm>
            <a:off x="9219712" y="4933188"/>
            <a:ext cx="2475463" cy="818387"/>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Zero prohibited coaching — a build gate</a:t>
            </a:r>
          </a:p>
        </p:txBody>
      </p:sp>
      <p:sp>
        <p:nvSpPr>
          <p:cNvPr id="34" name="Rounded Rectangle 33"/>
          <p:cNvSpPr/>
          <p:nvPr/>
        </p:nvSpPr>
        <p:spPr>
          <a:xfrm>
            <a:off x="365760" y="5943600"/>
            <a:ext cx="11457432" cy="512064"/>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6053327"/>
            <a:ext cx="11055096" cy="310896"/>
          </a:xfrm>
          <a:prstGeom prst="rect">
            <a:avLst/>
          </a:prstGeom>
          <a:noFill/>
        </p:spPr>
        <p:txBody>
          <a:bodyPr wrap="square" lIns="0" rIns="0" tIns="0" bIns="0" anchor="t">
            <a:spAutoFit/>
          </a:bodyPr>
          <a:lstStyle/>
          <a:p>
            <a:pPr algn="l"/>
            <a:r>
              <a:rPr sz="1050" b="1" i="0">
                <a:solidFill>
                  <a:srgbClr val="463283"/>
                </a:solidFill>
                <a:latin typeface="Calibri"/>
              </a:rPr>
              <a:t>Safety is structural, never predicted. The guard is a node, approval is a field, grounding is a retrieval contract.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Deployment view</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What runs where — and what happens when the network does not.</a:t>
            </a:r>
          </a:p>
        </p:txBody>
      </p:sp>
      <p:sp>
        <p:nvSpPr>
          <p:cNvPr id="6" name="TextBox 5"/>
          <p:cNvSpPr txBox="1"/>
          <p:nvPr/>
        </p:nvSpPr>
        <p:spPr>
          <a:xfrm>
            <a:off x="512064" y="969264"/>
            <a:ext cx="3217773" cy="201168"/>
          </a:xfrm>
          <a:prstGeom prst="rect">
            <a:avLst/>
          </a:prstGeom>
          <a:noFill/>
        </p:spPr>
        <p:txBody>
          <a:bodyPr wrap="square" lIns="0" rIns="0" tIns="0" bIns="0" anchor="t">
            <a:spAutoFit/>
          </a:bodyPr>
          <a:lstStyle/>
          <a:p>
            <a:pPr algn="l"/>
            <a:r>
              <a:rPr sz="860" b="1" i="0">
                <a:solidFill>
                  <a:srgbClr val="6B7A85"/>
                </a:solidFill>
                <a:latin typeface="Calibri"/>
              </a:rPr>
              <a:t>COMPONENT</a:t>
            </a:r>
          </a:p>
        </p:txBody>
      </p:sp>
      <p:sp>
        <p:nvSpPr>
          <p:cNvPr id="7" name="TextBox 6"/>
          <p:cNvSpPr txBox="1"/>
          <p:nvPr/>
        </p:nvSpPr>
        <p:spPr>
          <a:xfrm>
            <a:off x="3949293" y="969264"/>
            <a:ext cx="1957456" cy="201168"/>
          </a:xfrm>
          <a:prstGeom prst="rect">
            <a:avLst/>
          </a:prstGeom>
          <a:noFill/>
        </p:spPr>
        <p:txBody>
          <a:bodyPr wrap="square" lIns="0" rIns="0" tIns="0" bIns="0" anchor="t">
            <a:spAutoFit/>
          </a:bodyPr>
          <a:lstStyle/>
          <a:p>
            <a:pPr algn="l"/>
            <a:r>
              <a:rPr sz="860" b="1" i="0">
                <a:solidFill>
                  <a:srgbClr val="6B7A85"/>
                </a:solidFill>
                <a:latin typeface="Calibri"/>
              </a:rPr>
              <a:t>RUNS WHERE</a:t>
            </a:r>
          </a:p>
        </p:txBody>
      </p:sp>
      <p:sp>
        <p:nvSpPr>
          <p:cNvPr id="8" name="TextBox 7"/>
          <p:cNvSpPr txBox="1"/>
          <p:nvPr/>
        </p:nvSpPr>
        <p:spPr>
          <a:xfrm>
            <a:off x="6126205" y="969264"/>
            <a:ext cx="1957456" cy="201168"/>
          </a:xfrm>
          <a:prstGeom prst="rect">
            <a:avLst/>
          </a:prstGeom>
          <a:noFill/>
        </p:spPr>
        <p:txBody>
          <a:bodyPr wrap="square" lIns="0" rIns="0" tIns="0" bIns="0" anchor="t">
            <a:spAutoFit/>
          </a:bodyPr>
          <a:lstStyle/>
          <a:p>
            <a:pPr algn="l"/>
            <a:r>
              <a:rPr sz="860" b="1" i="0">
                <a:solidFill>
                  <a:srgbClr val="6B7A85"/>
                </a:solidFill>
                <a:latin typeface="Calibri"/>
              </a:rPr>
              <a:t>NETWORK NEEDED?</a:t>
            </a:r>
          </a:p>
        </p:txBody>
      </p:sp>
      <p:sp>
        <p:nvSpPr>
          <p:cNvPr id="9" name="TextBox 8"/>
          <p:cNvSpPr txBox="1"/>
          <p:nvPr/>
        </p:nvSpPr>
        <p:spPr>
          <a:xfrm>
            <a:off x="8303117" y="969264"/>
            <a:ext cx="3446922" cy="201168"/>
          </a:xfrm>
          <a:prstGeom prst="rect">
            <a:avLst/>
          </a:prstGeom>
          <a:noFill/>
        </p:spPr>
        <p:txBody>
          <a:bodyPr wrap="square" lIns="0" rIns="0" tIns="0" bIns="0" anchor="t">
            <a:spAutoFit/>
          </a:bodyPr>
          <a:lstStyle/>
          <a:p>
            <a:pPr algn="l"/>
            <a:r>
              <a:rPr sz="860" b="1" i="0">
                <a:solidFill>
                  <a:srgbClr val="6B7A85"/>
                </a:solidFill>
                <a:latin typeface="Calibri"/>
              </a:rPr>
              <a:t>IF IT IS UNREACHABLE</a:t>
            </a:r>
          </a:p>
        </p:txBody>
      </p:sp>
      <p:sp>
        <p:nvSpPr>
          <p:cNvPr id="10" name="Rounded Rectangle 9"/>
          <p:cNvSpPr/>
          <p:nvPr/>
        </p:nvSpPr>
        <p:spPr>
          <a:xfrm>
            <a:off x="365760" y="1243584"/>
            <a:ext cx="11457432" cy="666205"/>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3776" y="1353312"/>
            <a:ext cx="73152" cy="446749"/>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380744"/>
            <a:ext cx="2980029" cy="391885"/>
          </a:xfrm>
          <a:prstGeom prst="rect">
            <a:avLst/>
          </a:prstGeom>
          <a:noFill/>
        </p:spPr>
        <p:txBody>
          <a:bodyPr wrap="square" lIns="0" rIns="0" tIns="0" bIns="0" anchor="t">
            <a:spAutoFit/>
          </a:bodyPr>
          <a:lstStyle/>
          <a:p>
            <a:pPr algn="l">
              <a:lnSpc>
                <a:spcPct val="120000"/>
              </a:lnSpc>
            </a:pPr>
            <a:r>
              <a:rPr sz="980" b="1" i="0">
                <a:solidFill>
                  <a:srgbClr val="0E3A4C"/>
                </a:solidFill>
                <a:latin typeface="Calibri"/>
              </a:rPr>
              <a:t>Streamlit app, graph, ledger, clock, planner, tools</a:t>
            </a:r>
          </a:p>
        </p:txBody>
      </p:sp>
      <p:sp>
        <p:nvSpPr>
          <p:cNvPr id="13" name="TextBox 12"/>
          <p:cNvSpPr txBox="1"/>
          <p:nvPr/>
        </p:nvSpPr>
        <p:spPr>
          <a:xfrm>
            <a:off x="3949293" y="1380744"/>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On the device / local process</a:t>
            </a:r>
          </a:p>
        </p:txBody>
      </p:sp>
      <p:sp>
        <p:nvSpPr>
          <p:cNvPr id="14" name="TextBox 13"/>
          <p:cNvSpPr txBox="1"/>
          <p:nvPr/>
        </p:nvSpPr>
        <p:spPr>
          <a:xfrm>
            <a:off x="6126205" y="1380744"/>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No</a:t>
            </a:r>
          </a:p>
        </p:txBody>
      </p:sp>
      <p:sp>
        <p:nvSpPr>
          <p:cNvPr id="15" name="TextBox 14"/>
          <p:cNvSpPr txBox="1"/>
          <p:nvPr/>
        </p:nvSpPr>
        <p:spPr>
          <a:xfrm>
            <a:off x="8303117" y="1380744"/>
            <a:ext cx="3392058"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Nothing to lose — this is the part that must keep working</a:t>
            </a:r>
          </a:p>
        </p:txBody>
      </p:sp>
      <p:sp>
        <p:nvSpPr>
          <p:cNvPr id="16" name="Rounded Rectangle 15"/>
          <p:cNvSpPr/>
          <p:nvPr/>
        </p:nvSpPr>
        <p:spPr>
          <a:xfrm>
            <a:off x="365760" y="2001229"/>
            <a:ext cx="11457432" cy="666205"/>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3776" y="2110957"/>
            <a:ext cx="73152" cy="446749"/>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2138389"/>
            <a:ext cx="2980029" cy="391885"/>
          </a:xfrm>
          <a:prstGeom prst="rect">
            <a:avLst/>
          </a:prstGeom>
          <a:noFill/>
        </p:spPr>
        <p:txBody>
          <a:bodyPr wrap="square" lIns="0" rIns="0" tIns="0" bIns="0" anchor="t">
            <a:spAutoFit/>
          </a:bodyPr>
          <a:lstStyle/>
          <a:p>
            <a:pPr algn="l">
              <a:lnSpc>
                <a:spcPct val="120000"/>
              </a:lnSpc>
            </a:pPr>
            <a:r>
              <a:rPr sz="980" b="1" i="0">
                <a:solidFill>
                  <a:srgbClr val="0E3A4C"/>
                </a:solidFill>
                <a:latin typeface="Calibri"/>
              </a:rPr>
              <a:t>Domain pack and the pre-warmed slice</a:t>
            </a:r>
          </a:p>
        </p:txBody>
      </p:sp>
      <p:sp>
        <p:nvSpPr>
          <p:cNvPr id="19" name="TextBox 18"/>
          <p:cNvSpPr txBox="1"/>
          <p:nvPr/>
        </p:nvSpPr>
        <p:spPr>
          <a:xfrm>
            <a:off x="3949293" y="2138389"/>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Loaded into memory at scene open</a:t>
            </a:r>
          </a:p>
        </p:txBody>
      </p:sp>
      <p:sp>
        <p:nvSpPr>
          <p:cNvPr id="20" name="TextBox 19"/>
          <p:cNvSpPr txBox="1"/>
          <p:nvPr/>
        </p:nvSpPr>
        <p:spPr>
          <a:xfrm>
            <a:off x="6126205" y="2138389"/>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No, once loaded</a:t>
            </a:r>
          </a:p>
        </p:txBody>
      </p:sp>
      <p:sp>
        <p:nvSpPr>
          <p:cNvPr id="21" name="TextBox 20"/>
          <p:cNvSpPr txBox="1"/>
          <p:nvPr/>
        </p:nvSpPr>
        <p:spPr>
          <a:xfrm>
            <a:off x="8303117" y="2138389"/>
            <a:ext cx="3392058"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The scene continues on what was already fetched</a:t>
            </a:r>
          </a:p>
        </p:txBody>
      </p:sp>
      <p:sp>
        <p:nvSpPr>
          <p:cNvPr id="22" name="Rounded Rectangle 21"/>
          <p:cNvSpPr/>
          <p:nvPr/>
        </p:nvSpPr>
        <p:spPr>
          <a:xfrm>
            <a:off x="365760" y="2758875"/>
            <a:ext cx="11457432" cy="666205"/>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3776" y="2868603"/>
            <a:ext cx="73152" cy="446749"/>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2896035"/>
            <a:ext cx="2980029" cy="391885"/>
          </a:xfrm>
          <a:prstGeom prst="rect">
            <a:avLst/>
          </a:prstGeom>
          <a:noFill/>
        </p:spPr>
        <p:txBody>
          <a:bodyPr wrap="square" lIns="0" rIns="0" tIns="0" bIns="0" anchor="t">
            <a:spAutoFit/>
          </a:bodyPr>
          <a:lstStyle/>
          <a:p>
            <a:pPr algn="l">
              <a:lnSpc>
                <a:spcPct val="120000"/>
              </a:lnSpc>
            </a:pPr>
            <a:r>
              <a:rPr sz="980" b="1" i="0">
                <a:solidFill>
                  <a:srgbClr val="0E3A4C"/>
                </a:solidFill>
                <a:latin typeface="Calibri"/>
              </a:rPr>
              <a:t>Nebius — fast tier, reason tier, embeddings, vision</a:t>
            </a:r>
          </a:p>
        </p:txBody>
      </p:sp>
      <p:sp>
        <p:nvSpPr>
          <p:cNvPr id="25" name="TextBox 24"/>
          <p:cNvSpPr txBox="1"/>
          <p:nvPr/>
        </p:nvSpPr>
        <p:spPr>
          <a:xfrm>
            <a:off x="3949293" y="2896035"/>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Cloud</a:t>
            </a:r>
          </a:p>
        </p:txBody>
      </p:sp>
      <p:sp>
        <p:nvSpPr>
          <p:cNvPr id="26" name="TextBox 25"/>
          <p:cNvSpPr txBox="1"/>
          <p:nvPr/>
        </p:nvSpPr>
        <p:spPr>
          <a:xfrm>
            <a:off x="6126205" y="2896035"/>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Yes</a:t>
            </a:r>
          </a:p>
        </p:txBody>
      </p:sp>
      <p:sp>
        <p:nvSpPr>
          <p:cNvPr id="27" name="TextBox 26"/>
          <p:cNvSpPr txBox="1"/>
          <p:nvPr/>
        </p:nvSpPr>
        <p:spPr>
          <a:xfrm>
            <a:off x="8303117" y="2896035"/>
            <a:ext cx="3392058"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At open: refuse to start. Mid-scene: fall back to pack templates</a:t>
            </a:r>
          </a:p>
        </p:txBody>
      </p:sp>
      <p:sp>
        <p:nvSpPr>
          <p:cNvPr id="28" name="Rounded Rectangle 27"/>
          <p:cNvSpPr/>
          <p:nvPr/>
        </p:nvSpPr>
        <p:spPr>
          <a:xfrm>
            <a:off x="365760" y="3516521"/>
            <a:ext cx="11457432" cy="666205"/>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93776" y="3626249"/>
            <a:ext cx="73152" cy="446749"/>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3653681"/>
            <a:ext cx="2980029" cy="391885"/>
          </a:xfrm>
          <a:prstGeom prst="rect">
            <a:avLst/>
          </a:prstGeom>
          <a:noFill/>
        </p:spPr>
        <p:txBody>
          <a:bodyPr wrap="square" lIns="0" rIns="0" tIns="0" bIns="0" anchor="t">
            <a:spAutoFit/>
          </a:bodyPr>
          <a:lstStyle/>
          <a:p>
            <a:pPr algn="l">
              <a:lnSpc>
                <a:spcPct val="120000"/>
              </a:lnSpc>
            </a:pPr>
            <a:r>
              <a:rPr sz="980" b="1" i="0">
                <a:solidFill>
                  <a:srgbClr val="0E3A4C"/>
                </a:solidFill>
                <a:latin typeface="Calibri"/>
              </a:rPr>
              <a:t>Pinecone</a:t>
            </a:r>
          </a:p>
        </p:txBody>
      </p:sp>
      <p:sp>
        <p:nvSpPr>
          <p:cNvPr id="31" name="TextBox 30"/>
          <p:cNvSpPr txBox="1"/>
          <p:nvPr/>
        </p:nvSpPr>
        <p:spPr>
          <a:xfrm>
            <a:off x="3949293" y="3653681"/>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Cloud</a:t>
            </a:r>
          </a:p>
        </p:txBody>
      </p:sp>
      <p:sp>
        <p:nvSpPr>
          <p:cNvPr id="32" name="TextBox 31"/>
          <p:cNvSpPr txBox="1"/>
          <p:nvPr/>
        </p:nvSpPr>
        <p:spPr>
          <a:xfrm>
            <a:off x="6126205" y="3653681"/>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At scene open only</a:t>
            </a:r>
          </a:p>
        </p:txBody>
      </p:sp>
      <p:sp>
        <p:nvSpPr>
          <p:cNvPr id="33" name="TextBox 32"/>
          <p:cNvSpPr txBox="1"/>
          <p:nvPr/>
        </p:nvSpPr>
        <p:spPr>
          <a:xfrm>
            <a:off x="8303117" y="3653681"/>
            <a:ext cx="3392058"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Serve the pre-warmed slice; refuse ad-hoc questions</a:t>
            </a:r>
          </a:p>
        </p:txBody>
      </p:sp>
      <p:sp>
        <p:nvSpPr>
          <p:cNvPr id="34" name="Rounded Rectangle 33"/>
          <p:cNvSpPr/>
          <p:nvPr/>
        </p:nvSpPr>
        <p:spPr>
          <a:xfrm>
            <a:off x="365760" y="4274166"/>
            <a:ext cx="11457432" cy="666205"/>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3776" y="4383894"/>
            <a:ext cx="73152" cy="446749"/>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4411326"/>
            <a:ext cx="2980029" cy="391885"/>
          </a:xfrm>
          <a:prstGeom prst="rect">
            <a:avLst/>
          </a:prstGeom>
          <a:noFill/>
        </p:spPr>
        <p:txBody>
          <a:bodyPr wrap="square" lIns="0" rIns="0" tIns="0" bIns="0" anchor="t">
            <a:spAutoFit/>
          </a:bodyPr>
          <a:lstStyle/>
          <a:p>
            <a:pPr algn="l">
              <a:lnSpc>
                <a:spcPct val="120000"/>
              </a:lnSpc>
            </a:pPr>
            <a:r>
              <a:rPr sz="980" b="1" i="0">
                <a:solidFill>
                  <a:srgbClr val="0E3A4C"/>
                </a:solidFill>
                <a:latin typeface="Calibri"/>
              </a:rPr>
              <a:t>ElevenLabs</a:t>
            </a:r>
          </a:p>
        </p:txBody>
      </p:sp>
      <p:sp>
        <p:nvSpPr>
          <p:cNvPr id="37" name="TextBox 36"/>
          <p:cNvSpPr txBox="1"/>
          <p:nvPr/>
        </p:nvSpPr>
        <p:spPr>
          <a:xfrm>
            <a:off x="3949293" y="4411326"/>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Cloud</a:t>
            </a:r>
          </a:p>
        </p:txBody>
      </p:sp>
      <p:sp>
        <p:nvSpPr>
          <p:cNvPr id="38" name="TextBox 37"/>
          <p:cNvSpPr txBox="1"/>
          <p:nvPr/>
        </p:nvSpPr>
        <p:spPr>
          <a:xfrm>
            <a:off x="6126205" y="4411326"/>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Yes, for voice</a:t>
            </a:r>
          </a:p>
        </p:txBody>
      </p:sp>
      <p:sp>
        <p:nvSpPr>
          <p:cNvPr id="39" name="TextBox 38"/>
          <p:cNvSpPr txBox="1"/>
          <p:nvPr/>
        </p:nvSpPr>
        <p:spPr>
          <a:xfrm>
            <a:off x="8303117" y="4411326"/>
            <a:ext cx="3392058"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Fall back to the text console on the same turn contract</a:t>
            </a:r>
          </a:p>
        </p:txBody>
      </p:sp>
      <p:sp>
        <p:nvSpPr>
          <p:cNvPr id="40" name="Rounded Rectangle 39"/>
          <p:cNvSpPr/>
          <p:nvPr/>
        </p:nvSpPr>
        <p:spPr>
          <a:xfrm>
            <a:off x="365760" y="5031812"/>
            <a:ext cx="11457432" cy="666205"/>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93776" y="5141540"/>
            <a:ext cx="73152" cy="446749"/>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5168972"/>
            <a:ext cx="2980029" cy="391885"/>
          </a:xfrm>
          <a:prstGeom prst="rect">
            <a:avLst/>
          </a:prstGeom>
          <a:noFill/>
        </p:spPr>
        <p:txBody>
          <a:bodyPr wrap="square" lIns="0" rIns="0" tIns="0" bIns="0" anchor="t">
            <a:spAutoFit/>
          </a:bodyPr>
          <a:lstStyle/>
          <a:p>
            <a:pPr algn="l">
              <a:lnSpc>
                <a:spcPct val="120000"/>
              </a:lnSpc>
            </a:pPr>
            <a:r>
              <a:rPr sz="980" b="1" i="0">
                <a:solidFill>
                  <a:srgbClr val="0E3A4C"/>
                </a:solidFill>
                <a:latin typeface="Calibri"/>
              </a:rPr>
              <a:t>Open-Meteo · OpenStreetMap</a:t>
            </a:r>
          </a:p>
        </p:txBody>
      </p:sp>
      <p:sp>
        <p:nvSpPr>
          <p:cNvPr id="43" name="TextBox 42"/>
          <p:cNvSpPr txBox="1"/>
          <p:nvPr/>
        </p:nvSpPr>
        <p:spPr>
          <a:xfrm>
            <a:off x="3949293" y="5168972"/>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Cloud</a:t>
            </a:r>
          </a:p>
        </p:txBody>
      </p:sp>
      <p:sp>
        <p:nvSpPr>
          <p:cNvPr id="44" name="TextBox 43"/>
          <p:cNvSpPr txBox="1"/>
          <p:nvPr/>
        </p:nvSpPr>
        <p:spPr>
          <a:xfrm>
            <a:off x="6126205" y="5168972"/>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One call each</a:t>
            </a:r>
          </a:p>
        </p:txBody>
      </p:sp>
      <p:sp>
        <p:nvSpPr>
          <p:cNvPr id="45" name="TextBox 44"/>
          <p:cNvSpPr txBox="1"/>
          <p:nvPr/>
        </p:nvSpPr>
        <p:spPr>
          <a:xfrm>
            <a:off x="8303117" y="5168972"/>
            <a:ext cx="3392058"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Record conditions as unknown rather than guess</a:t>
            </a:r>
          </a:p>
        </p:txBody>
      </p:sp>
      <p:sp>
        <p:nvSpPr>
          <p:cNvPr id="46" name="Rounded Rectangle 45"/>
          <p:cNvSpPr/>
          <p:nvPr/>
        </p:nvSpPr>
        <p:spPr>
          <a:xfrm>
            <a:off x="365760" y="5789458"/>
            <a:ext cx="11457432" cy="666205"/>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93776" y="5899186"/>
            <a:ext cx="73152" cy="446749"/>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6656" y="5926618"/>
            <a:ext cx="2980029" cy="391885"/>
          </a:xfrm>
          <a:prstGeom prst="rect">
            <a:avLst/>
          </a:prstGeom>
          <a:noFill/>
        </p:spPr>
        <p:txBody>
          <a:bodyPr wrap="square" lIns="0" rIns="0" tIns="0" bIns="0" anchor="t">
            <a:spAutoFit/>
          </a:bodyPr>
          <a:lstStyle/>
          <a:p>
            <a:pPr algn="l">
              <a:lnSpc>
                <a:spcPct val="120000"/>
              </a:lnSpc>
            </a:pPr>
            <a:r>
              <a:rPr sz="980" b="1" i="0">
                <a:solidFill>
                  <a:srgbClr val="0E3A4C"/>
                </a:solidFill>
                <a:latin typeface="Calibri"/>
              </a:rPr>
              <a:t>LangSmith</a:t>
            </a:r>
          </a:p>
        </p:txBody>
      </p:sp>
      <p:sp>
        <p:nvSpPr>
          <p:cNvPr id="49" name="TextBox 48"/>
          <p:cNvSpPr txBox="1"/>
          <p:nvPr/>
        </p:nvSpPr>
        <p:spPr>
          <a:xfrm>
            <a:off x="3949293" y="5926618"/>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Cloud</a:t>
            </a:r>
          </a:p>
        </p:txBody>
      </p:sp>
      <p:sp>
        <p:nvSpPr>
          <p:cNvPr id="50" name="TextBox 49"/>
          <p:cNvSpPr txBox="1"/>
          <p:nvPr/>
        </p:nvSpPr>
        <p:spPr>
          <a:xfrm>
            <a:off x="6126205" y="5926618"/>
            <a:ext cx="1902592"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No — never on the critical path</a:t>
            </a:r>
          </a:p>
        </p:txBody>
      </p:sp>
      <p:sp>
        <p:nvSpPr>
          <p:cNvPr id="51" name="TextBox 50"/>
          <p:cNvSpPr txBox="1"/>
          <p:nvPr/>
        </p:nvSpPr>
        <p:spPr>
          <a:xfrm>
            <a:off x="8303117" y="5926618"/>
            <a:ext cx="3392058" cy="391885"/>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Buffer locally; evals still run offline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Non-functional requirements</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The targets the design has to hit, and what in the architecture delivers each.</a:t>
            </a:r>
          </a:p>
        </p:txBody>
      </p:sp>
      <p:sp>
        <p:nvSpPr>
          <p:cNvPr id="6" name="TextBox 5"/>
          <p:cNvSpPr txBox="1"/>
          <p:nvPr/>
        </p:nvSpPr>
        <p:spPr>
          <a:xfrm>
            <a:off x="512064" y="969264"/>
            <a:ext cx="2072030" cy="201168"/>
          </a:xfrm>
          <a:prstGeom prst="rect">
            <a:avLst/>
          </a:prstGeom>
          <a:noFill/>
        </p:spPr>
        <p:txBody>
          <a:bodyPr wrap="square" lIns="0" rIns="0" tIns="0" bIns="0" anchor="t">
            <a:spAutoFit/>
          </a:bodyPr>
          <a:lstStyle/>
          <a:p>
            <a:pPr algn="l"/>
            <a:r>
              <a:rPr sz="860" b="1" i="0">
                <a:solidFill>
                  <a:srgbClr val="6B7A85"/>
                </a:solidFill>
                <a:latin typeface="Calibri"/>
              </a:rPr>
              <a:t>REQUIREMENT</a:t>
            </a:r>
          </a:p>
        </p:txBody>
      </p:sp>
      <p:sp>
        <p:nvSpPr>
          <p:cNvPr id="7" name="TextBox 6"/>
          <p:cNvSpPr txBox="1"/>
          <p:nvPr/>
        </p:nvSpPr>
        <p:spPr>
          <a:xfrm>
            <a:off x="2803550" y="969264"/>
            <a:ext cx="3217773" cy="201168"/>
          </a:xfrm>
          <a:prstGeom prst="rect">
            <a:avLst/>
          </a:prstGeom>
          <a:noFill/>
        </p:spPr>
        <p:txBody>
          <a:bodyPr wrap="square" lIns="0" rIns="0" tIns="0" bIns="0" anchor="t">
            <a:spAutoFit/>
          </a:bodyPr>
          <a:lstStyle/>
          <a:p>
            <a:pPr algn="l"/>
            <a:r>
              <a:rPr sz="860" b="1" i="0">
                <a:solidFill>
                  <a:srgbClr val="6B7A85"/>
                </a:solidFill>
                <a:latin typeface="Calibri"/>
              </a:rPr>
              <a:t>TARGET</a:t>
            </a:r>
          </a:p>
        </p:txBody>
      </p:sp>
      <p:sp>
        <p:nvSpPr>
          <p:cNvPr id="8" name="TextBox 7"/>
          <p:cNvSpPr txBox="1"/>
          <p:nvPr/>
        </p:nvSpPr>
        <p:spPr>
          <a:xfrm>
            <a:off x="6240779" y="969264"/>
            <a:ext cx="5509259" cy="201168"/>
          </a:xfrm>
          <a:prstGeom prst="rect">
            <a:avLst/>
          </a:prstGeom>
          <a:noFill/>
        </p:spPr>
        <p:txBody>
          <a:bodyPr wrap="square" lIns="0" rIns="0" tIns="0" bIns="0" anchor="t">
            <a:spAutoFit/>
          </a:bodyPr>
          <a:lstStyle/>
          <a:p>
            <a:pPr algn="l"/>
            <a:r>
              <a:rPr sz="860" b="1" i="0">
                <a:solidFill>
                  <a:srgbClr val="6B7A85"/>
                </a:solidFill>
                <a:latin typeface="Calibri"/>
              </a:rPr>
              <a:t>WHAT DELIVERS IT</a:t>
            </a:r>
          </a:p>
        </p:txBody>
      </p:sp>
      <p:sp>
        <p:nvSpPr>
          <p:cNvPr id="9" name="Rounded Rectangle 8"/>
          <p:cNvSpPr/>
          <p:nvPr/>
        </p:nvSpPr>
        <p:spPr>
          <a:xfrm>
            <a:off x="365760" y="124358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3776" y="1353312"/>
            <a:ext cx="73152" cy="573023"/>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380744"/>
            <a:ext cx="1834286" cy="518160"/>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Turn latency</a:t>
            </a:r>
          </a:p>
        </p:txBody>
      </p:sp>
      <p:sp>
        <p:nvSpPr>
          <p:cNvPr id="12" name="TextBox 11"/>
          <p:cNvSpPr txBox="1"/>
          <p:nvPr/>
        </p:nvSpPr>
        <p:spPr>
          <a:xfrm>
            <a:off x="2803550" y="1380744"/>
            <a:ext cx="3162909"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Under 2.5 seconds, p95, speech in to speech out</a:t>
            </a:r>
          </a:p>
        </p:txBody>
      </p:sp>
      <p:sp>
        <p:nvSpPr>
          <p:cNvPr id="13" name="TextBox 12"/>
          <p:cNvSpPr txBox="1"/>
          <p:nvPr/>
        </p:nvSpPr>
        <p:spPr>
          <a:xfrm>
            <a:off x="6240779" y="1380744"/>
            <a:ext cx="5454396"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Pre-warmed retrieval, a fast model tier on the turn, and a deterministic planner that costs nothing</a:t>
            </a:r>
          </a:p>
        </p:txBody>
      </p:sp>
      <p:sp>
        <p:nvSpPr>
          <p:cNvPr id="14" name="Rounded Rectangle 13"/>
          <p:cNvSpPr/>
          <p:nvPr/>
        </p:nvSpPr>
        <p:spPr>
          <a:xfrm>
            <a:off x="365760" y="212750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3776" y="2237232"/>
            <a:ext cx="73152" cy="573023"/>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264664"/>
            <a:ext cx="1834286" cy="518160"/>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Safety response</a:t>
            </a:r>
          </a:p>
        </p:txBody>
      </p:sp>
      <p:sp>
        <p:nvSpPr>
          <p:cNvPr id="17" name="TextBox 16"/>
          <p:cNvSpPr txBox="1"/>
          <p:nvPr/>
        </p:nvSpPr>
        <p:spPr>
          <a:xfrm>
            <a:off x="2803550" y="2264664"/>
            <a:ext cx="3162909"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Stand down within one turn of any injury signal, 100%</a:t>
            </a:r>
          </a:p>
        </p:txBody>
      </p:sp>
      <p:sp>
        <p:nvSpPr>
          <p:cNvPr id="18" name="TextBox 17"/>
          <p:cNvSpPr txBox="1"/>
          <p:nvPr/>
        </p:nvSpPr>
        <p:spPr>
          <a:xfrm>
            <a:off x="6240779" y="2264664"/>
            <a:ext cx="5454396"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guard is the entry node of every turn and can terminate before the planner runs</a:t>
            </a:r>
          </a:p>
        </p:txBody>
      </p:sp>
      <p:sp>
        <p:nvSpPr>
          <p:cNvPr id="19" name="Rounded Rectangle 18"/>
          <p:cNvSpPr/>
          <p:nvPr/>
        </p:nvSpPr>
        <p:spPr>
          <a:xfrm>
            <a:off x="365760" y="3011423"/>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3121152"/>
            <a:ext cx="73152" cy="573023"/>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3148583"/>
            <a:ext cx="1834286" cy="518160"/>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Correctness of the record</a:t>
            </a:r>
          </a:p>
        </p:txBody>
      </p:sp>
      <p:sp>
        <p:nvSpPr>
          <p:cNvPr id="22" name="TextBox 21"/>
          <p:cNvSpPr txBox="1"/>
          <p:nvPr/>
        </p:nvSpPr>
        <p:spPr>
          <a:xfrm>
            <a:off x="2803550" y="3148583"/>
            <a:ext cx="3162909"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90%+ of the insurer's required fields; every claim cited</a:t>
            </a:r>
          </a:p>
        </p:txBody>
      </p:sp>
      <p:sp>
        <p:nvSpPr>
          <p:cNvPr id="23" name="TextBox 22"/>
          <p:cNvSpPr txBox="1"/>
          <p:nvPr/>
        </p:nvSpPr>
        <p:spPr>
          <a:xfrm>
            <a:off x="6240779" y="3148583"/>
            <a:ext cx="5454396"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intake spec drives completeness; provenance travels with every chunk</a:t>
            </a:r>
          </a:p>
        </p:txBody>
      </p:sp>
      <p:sp>
        <p:nvSpPr>
          <p:cNvPr id="24" name="Rounded Rectangle 23"/>
          <p:cNvSpPr/>
          <p:nvPr/>
        </p:nvSpPr>
        <p:spPr>
          <a:xfrm>
            <a:off x="365760" y="389534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93776" y="4005072"/>
            <a:ext cx="73152" cy="573023"/>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 y="4032504"/>
            <a:ext cx="1834286" cy="518160"/>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Privacy</a:t>
            </a:r>
          </a:p>
        </p:txBody>
      </p:sp>
      <p:sp>
        <p:nvSpPr>
          <p:cNvPr id="27" name="TextBox 26"/>
          <p:cNvSpPr txBox="1"/>
          <p:nvPr/>
        </p:nvSpPr>
        <p:spPr>
          <a:xfrm>
            <a:off x="2803550" y="4032504"/>
            <a:ext cx="3162909"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Nothing leaves the device without an explicit approval</a:t>
            </a:r>
          </a:p>
        </p:txBody>
      </p:sp>
      <p:sp>
        <p:nvSpPr>
          <p:cNvPr id="28" name="TextBox 27"/>
          <p:cNvSpPr txBox="1"/>
          <p:nvPr/>
        </p:nvSpPr>
        <p:spPr>
          <a:xfrm>
            <a:off x="6240779" y="4032504"/>
            <a:ext cx="5454396"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One tool writes outward, and it is gated by the confirm node</a:t>
            </a:r>
          </a:p>
        </p:txBody>
      </p:sp>
      <p:sp>
        <p:nvSpPr>
          <p:cNvPr id="29" name="Rounded Rectangle 28"/>
          <p:cNvSpPr/>
          <p:nvPr/>
        </p:nvSpPr>
        <p:spPr>
          <a:xfrm>
            <a:off x="365760" y="477926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4888992"/>
            <a:ext cx="73152" cy="573023"/>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4916424"/>
            <a:ext cx="1834286" cy="518160"/>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Reproducibility</a:t>
            </a:r>
          </a:p>
        </p:txBody>
      </p:sp>
      <p:sp>
        <p:nvSpPr>
          <p:cNvPr id="32" name="TextBox 31"/>
          <p:cNvSpPr txBox="1"/>
          <p:nvPr/>
        </p:nvSpPr>
        <p:spPr>
          <a:xfrm>
            <a:off x="2803550" y="4916424"/>
            <a:ext cx="3162909"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same scenario gives the same ordering every run</a:t>
            </a:r>
          </a:p>
        </p:txBody>
      </p:sp>
      <p:sp>
        <p:nvSpPr>
          <p:cNvPr id="33" name="TextBox 32"/>
          <p:cNvSpPr txBox="1"/>
          <p:nvPr/>
        </p:nvSpPr>
        <p:spPr>
          <a:xfrm>
            <a:off x="6240779" y="4916424"/>
            <a:ext cx="5454396"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A scripted clock and scripted context, so evals measure the agent and not the weather</a:t>
            </a:r>
          </a:p>
        </p:txBody>
      </p:sp>
      <p:sp>
        <p:nvSpPr>
          <p:cNvPr id="34" name="Rounded Rectangle 33"/>
          <p:cNvSpPr/>
          <p:nvPr/>
        </p:nvSpPr>
        <p:spPr>
          <a:xfrm>
            <a:off x="365760" y="566318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3776" y="5772912"/>
            <a:ext cx="73152" cy="573023"/>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5800344"/>
            <a:ext cx="1834286" cy="518160"/>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Cost per scene</a:t>
            </a:r>
          </a:p>
        </p:txBody>
      </p:sp>
      <p:sp>
        <p:nvSpPr>
          <p:cNvPr id="37" name="TextBox 36"/>
          <p:cNvSpPr txBox="1"/>
          <p:nvPr/>
        </p:nvSpPr>
        <p:spPr>
          <a:xfrm>
            <a:off x="2803550" y="5800344"/>
            <a:ext cx="3162909"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Small enough that the eval suite can run on every change</a:t>
            </a:r>
          </a:p>
        </p:txBody>
      </p:sp>
      <p:sp>
        <p:nvSpPr>
          <p:cNvPr id="38" name="TextBox 37"/>
          <p:cNvSpPr txBox="1"/>
          <p:nvPr/>
        </p:nvSpPr>
        <p:spPr>
          <a:xfrm>
            <a:off x="6240779" y="5800344"/>
            <a:ext cx="5454396" cy="518160"/>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Two tiers: the small model on the turn, the larger one only off the critical path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7863840" cy="310896"/>
          </a:xfrm>
          <a:prstGeom prst="rect">
            <a:avLst/>
          </a:prstGeom>
          <a:noFill/>
        </p:spPr>
        <p:txBody>
          <a:bodyPr wrap="square" lIns="0" rIns="0" tIns="0" bIns="0" anchor="t">
            <a:spAutoFit/>
          </a:bodyPr>
          <a:lstStyle/>
          <a:p>
            <a:pPr algn="l"/>
            <a:r>
              <a:rPr sz="1800" b="1" i="0">
                <a:solidFill>
                  <a:srgbClr val="FFFFFF"/>
                </a:solidFill>
                <a:latin typeface="Cambria"/>
              </a:rPr>
              <a:t>LAYER 1  ·  APPLICATION</a:t>
            </a:r>
          </a:p>
        </p:txBody>
      </p:sp>
      <p:sp>
        <p:nvSpPr>
          <p:cNvPr id="5" name="TextBox 4"/>
          <p:cNvSpPr txBox="1"/>
          <p:nvPr/>
        </p:nvSpPr>
        <p:spPr>
          <a:xfrm>
            <a:off x="365760" y="466344"/>
            <a:ext cx="7863840" cy="201168"/>
          </a:xfrm>
          <a:prstGeom prst="rect">
            <a:avLst/>
          </a:prstGeom>
          <a:noFill/>
        </p:spPr>
        <p:txBody>
          <a:bodyPr wrap="square" lIns="0" rIns="0" tIns="0" bIns="0" anchor="t">
            <a:spAutoFit/>
          </a:bodyPr>
          <a:lstStyle/>
          <a:p>
            <a:pPr algn="l"/>
            <a:r>
              <a:rPr sz="950" b="0" i="0">
                <a:solidFill>
                  <a:srgbClr val="9FC0D0"/>
                </a:solidFill>
                <a:latin typeface="Calibri"/>
              </a:rPr>
              <a:t>Everything she touches. It decides nothing.</a:t>
            </a:r>
          </a:p>
        </p:txBody>
      </p:sp>
      <p:sp>
        <p:nvSpPr>
          <p:cNvPr id="6" name="Rounded Rectangle 5"/>
          <p:cNvSpPr/>
          <p:nvPr/>
        </p:nvSpPr>
        <p:spPr>
          <a:xfrm>
            <a:off x="8796528" y="274320"/>
            <a:ext cx="384048" cy="237744"/>
          </a:xfrm>
          <a:prstGeom prst="roundRect">
            <a:avLst>
              <a:gd name="adj" fmla="val 35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96528" y="333756"/>
            <a:ext cx="384048" cy="146304"/>
          </a:xfrm>
          <a:prstGeom prst="rect">
            <a:avLst/>
          </a:prstGeom>
          <a:noFill/>
        </p:spPr>
        <p:txBody>
          <a:bodyPr wrap="square" lIns="0" rIns="0" tIns="0" bIns="0" anchor="t">
            <a:spAutoFit/>
          </a:bodyPr>
          <a:lstStyle/>
          <a:p>
            <a:pPr algn="ctr"/>
            <a:r>
              <a:rPr sz="800" b="1" i="0">
                <a:solidFill>
                  <a:srgbClr val="FFFFFF"/>
                </a:solidFill>
                <a:latin typeface="Calibri"/>
              </a:rPr>
              <a:t>1</a:t>
            </a:r>
          </a:p>
        </p:txBody>
      </p:sp>
      <p:sp>
        <p:nvSpPr>
          <p:cNvPr id="8" name="Rounded Rectangle 7"/>
          <p:cNvSpPr/>
          <p:nvPr/>
        </p:nvSpPr>
        <p:spPr>
          <a:xfrm>
            <a:off x="9253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2</a:t>
            </a:r>
          </a:p>
        </p:txBody>
      </p:sp>
      <p:sp>
        <p:nvSpPr>
          <p:cNvPr id="10" name="Rounded Rectangle 9"/>
          <p:cNvSpPr/>
          <p:nvPr/>
        </p:nvSpPr>
        <p:spPr>
          <a:xfrm>
            <a:off x="97109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9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3</a:t>
            </a:r>
          </a:p>
        </p:txBody>
      </p:sp>
      <p:sp>
        <p:nvSpPr>
          <p:cNvPr id="12" name="Rounded Rectangle 11"/>
          <p:cNvSpPr/>
          <p:nvPr/>
        </p:nvSpPr>
        <p:spPr>
          <a:xfrm>
            <a:off x="101681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4</a:t>
            </a:r>
          </a:p>
        </p:txBody>
      </p:sp>
      <p:sp>
        <p:nvSpPr>
          <p:cNvPr id="14" name="Rounded Rectangle 13"/>
          <p:cNvSpPr/>
          <p:nvPr/>
        </p:nvSpPr>
        <p:spPr>
          <a:xfrm>
            <a:off x="106253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53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5</a:t>
            </a:r>
          </a:p>
        </p:txBody>
      </p:sp>
      <p:sp>
        <p:nvSpPr>
          <p:cNvPr id="16" name="Rounded Rectangle 15"/>
          <p:cNvSpPr/>
          <p:nvPr/>
        </p:nvSpPr>
        <p:spPr>
          <a:xfrm>
            <a:off x="11082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82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6</a:t>
            </a:r>
          </a:p>
        </p:txBody>
      </p:sp>
      <p:sp>
        <p:nvSpPr>
          <p:cNvPr id="18" name="Rounded Rectangle 17"/>
          <p:cNvSpPr/>
          <p:nvPr/>
        </p:nvSpPr>
        <p:spPr>
          <a:xfrm>
            <a:off x="11539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39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7</a:t>
            </a:r>
          </a:p>
        </p:txBody>
      </p:sp>
      <p:sp>
        <p:nvSpPr>
          <p:cNvPr id="20" name="TextBox 19"/>
          <p:cNvSpPr txBox="1"/>
          <p:nvPr/>
        </p:nvSpPr>
        <p:spPr>
          <a:xfrm>
            <a:off x="365760"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WHAT THIS LAYER CARRIES</a:t>
            </a:r>
          </a:p>
        </p:txBody>
      </p:sp>
      <p:sp>
        <p:nvSpPr>
          <p:cNvPr id="21" name="Rounded Rectangle 20"/>
          <p:cNvSpPr/>
          <p:nvPr/>
        </p:nvSpPr>
        <p:spPr>
          <a:xfrm>
            <a:off x="365760"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 y="1280160"/>
            <a:ext cx="82296" cy="768096"/>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Streamlit</a:t>
            </a:r>
          </a:p>
        </p:txBody>
      </p:sp>
      <p:sp>
        <p:nvSpPr>
          <p:cNvPr id="24" name="TextBox 23"/>
          <p:cNvSpPr txBox="1"/>
          <p:nvPr/>
        </p:nvSpPr>
        <p:spPr>
          <a:xfrm>
            <a:off x="694944"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The phone-shaped surface. One instruction at a time, plus what is still outstanding.</a:t>
            </a:r>
          </a:p>
        </p:txBody>
      </p:sp>
      <p:sp>
        <p:nvSpPr>
          <p:cNvPr id="25" name="Rounded Rectangle 24"/>
          <p:cNvSpPr/>
          <p:nvPr/>
        </p:nvSpPr>
        <p:spPr>
          <a:xfrm>
            <a:off x="3694176"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22191" y="1280160"/>
            <a:ext cx="82296" cy="768096"/>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ElevenLabs</a:t>
            </a:r>
          </a:p>
        </p:txBody>
      </p:sp>
      <p:sp>
        <p:nvSpPr>
          <p:cNvPr id="28" name="TextBox 27"/>
          <p:cNvSpPr txBox="1"/>
          <p:nvPr/>
        </p:nvSpPr>
        <p:spPr>
          <a:xfrm>
            <a:off x="4023360"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Speech in and out, with barge-in so she can cut it off mid-sentence.</a:t>
            </a:r>
          </a:p>
        </p:txBody>
      </p:sp>
      <p:sp>
        <p:nvSpPr>
          <p:cNvPr id="29" name="Rounded Rectangle 28"/>
          <p:cNvSpPr/>
          <p:nvPr/>
        </p:nvSpPr>
        <p:spPr>
          <a:xfrm>
            <a:off x="365760"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2423160"/>
            <a:ext cx="82296" cy="768096"/>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Photo capture</a:t>
            </a:r>
          </a:p>
        </p:txBody>
      </p:sp>
      <p:sp>
        <p:nvSpPr>
          <p:cNvPr id="32" name="TextBox 31"/>
          <p:cNvSpPr txBox="1"/>
          <p:nvPr/>
        </p:nvSpPr>
        <p:spPr>
          <a:xfrm>
            <a:off x="694944"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Guided live shots against the requested item, or upload of pictures she already took.</a:t>
            </a:r>
          </a:p>
        </p:txBody>
      </p:sp>
      <p:sp>
        <p:nvSpPr>
          <p:cNvPr id="33" name="Rounded Rectangle 32"/>
          <p:cNvSpPr/>
          <p:nvPr/>
        </p:nvSpPr>
        <p:spPr>
          <a:xfrm>
            <a:off x="3694176"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22191" y="2423160"/>
            <a:ext cx="82296" cy="768096"/>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0"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python-docx</a:t>
            </a:r>
          </a:p>
        </p:txBody>
      </p:sp>
      <p:sp>
        <p:nvSpPr>
          <p:cNvPr id="36" name="TextBox 35"/>
          <p:cNvSpPr txBox="1"/>
          <p:nvPr/>
        </p:nvSpPr>
        <p:spPr>
          <a:xfrm>
            <a:off x="4023360"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Renders the evidence pack — photographs, details, statement, times, places.</a:t>
            </a:r>
          </a:p>
        </p:txBody>
      </p:sp>
      <p:sp>
        <p:nvSpPr>
          <p:cNvPr id="37" name="Rounded Rectangle 36"/>
          <p:cNvSpPr/>
          <p:nvPr/>
        </p:nvSpPr>
        <p:spPr>
          <a:xfrm>
            <a:off x="365760"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3776" y="3566160"/>
            <a:ext cx="82296" cy="768096"/>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Session control</a:t>
            </a:r>
          </a:p>
        </p:txBody>
      </p:sp>
      <p:sp>
        <p:nvSpPr>
          <p:cNvPr id="40" name="TextBox 39"/>
          <p:cNvSpPr txBox="1"/>
          <p:nvPr/>
        </p:nvSpPr>
        <p:spPr>
          <a:xfrm>
            <a:off x="694944"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Start in one action. Stop at any moment. Resume later with everything intact.</a:t>
            </a:r>
          </a:p>
        </p:txBody>
      </p:sp>
      <p:sp>
        <p:nvSpPr>
          <p:cNvPr id="41" name="Rounded Rectangle 40"/>
          <p:cNvSpPr/>
          <p:nvPr/>
        </p:nvSpPr>
        <p:spPr>
          <a:xfrm>
            <a:off x="3694176"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822191" y="3566160"/>
            <a:ext cx="82296" cy="768096"/>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Location</a:t>
            </a:r>
          </a:p>
        </p:txBody>
      </p:sp>
      <p:sp>
        <p:nvSpPr>
          <p:cNvPr id="44" name="TextBox 43"/>
          <p:cNvSpPr txBox="1"/>
          <p:nvPr/>
        </p:nvSpPr>
        <p:spPr>
          <a:xfrm>
            <a:off x="4023360"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Device GPS when available, or a city picked by hand for the prototype.</a:t>
            </a:r>
          </a:p>
        </p:txBody>
      </p:sp>
      <p:sp>
        <p:nvSpPr>
          <p:cNvPr id="45" name="Rounded Rectangle 44"/>
          <p:cNvSpPr/>
          <p:nvPr/>
        </p:nvSpPr>
        <p:spPr>
          <a:xfrm>
            <a:off x="365760" y="4599431"/>
            <a:ext cx="6510527" cy="548640"/>
          </a:xfrm>
          <a:prstGeom prst="roundRect">
            <a:avLst>
              <a:gd name="adj" fmla="val 6000"/>
            </a:avLst>
          </a:prstGeom>
          <a:solidFill>
            <a:srgbClr val="FFFFFF"/>
          </a:solidFill>
          <a:ln w="12700">
            <a:solidFill>
              <a:srgbClr val="D95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4681727"/>
            <a:ext cx="2468880" cy="182880"/>
          </a:xfrm>
          <a:prstGeom prst="rect">
            <a:avLst/>
          </a:prstGeom>
          <a:noFill/>
        </p:spPr>
        <p:txBody>
          <a:bodyPr wrap="square" lIns="0" rIns="0" tIns="0" bIns="0" anchor="t">
            <a:spAutoFit/>
          </a:bodyPr>
          <a:lstStyle/>
          <a:p>
            <a:pPr algn="l"/>
            <a:r>
              <a:rPr sz="860" b="1" i="0">
                <a:solidFill>
                  <a:srgbClr val="D9503F"/>
                </a:solidFill>
                <a:latin typeface="Calibri"/>
              </a:rPr>
              <a:t>FEATURES IT DELIVERS</a:t>
            </a:r>
          </a:p>
        </p:txBody>
      </p:sp>
      <p:sp>
        <p:nvSpPr>
          <p:cNvPr id="47" name="Rounded Rectangle 46"/>
          <p:cNvSpPr/>
          <p:nvPr/>
        </p:nvSpPr>
        <p:spPr>
          <a:xfrm>
            <a:off x="3063240"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3</a:t>
            </a:r>
          </a:p>
        </p:txBody>
      </p:sp>
      <p:sp>
        <p:nvSpPr>
          <p:cNvPr id="49" name="Rounded Rectangle 48"/>
          <p:cNvSpPr/>
          <p:nvPr/>
        </p:nvSpPr>
        <p:spPr>
          <a:xfrm>
            <a:off x="3438144"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8144"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4</a:t>
            </a:r>
          </a:p>
        </p:txBody>
      </p:sp>
      <p:sp>
        <p:nvSpPr>
          <p:cNvPr id="51" name="Rounded Rectangle 50"/>
          <p:cNvSpPr/>
          <p:nvPr/>
        </p:nvSpPr>
        <p:spPr>
          <a:xfrm>
            <a:off x="3813048"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3048"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6</a:t>
            </a:r>
          </a:p>
        </p:txBody>
      </p:sp>
      <p:sp>
        <p:nvSpPr>
          <p:cNvPr id="53" name="Rounded Rectangle 52"/>
          <p:cNvSpPr/>
          <p:nvPr/>
        </p:nvSpPr>
        <p:spPr>
          <a:xfrm>
            <a:off x="4187952"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87952"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7</a:t>
            </a:r>
          </a:p>
        </p:txBody>
      </p:sp>
      <p:sp>
        <p:nvSpPr>
          <p:cNvPr id="55" name="Rounded Rectangle 54"/>
          <p:cNvSpPr/>
          <p:nvPr/>
        </p:nvSpPr>
        <p:spPr>
          <a:xfrm>
            <a:off x="4562856"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62856"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19</a:t>
            </a:r>
          </a:p>
        </p:txBody>
      </p:sp>
      <p:sp>
        <p:nvSpPr>
          <p:cNvPr id="57" name="Rounded Rectangle 56"/>
          <p:cNvSpPr/>
          <p:nvPr/>
        </p:nvSpPr>
        <p:spPr>
          <a:xfrm>
            <a:off x="4937760"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37760"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20</a:t>
            </a:r>
          </a:p>
        </p:txBody>
      </p:sp>
      <p:sp>
        <p:nvSpPr>
          <p:cNvPr id="59" name="Rounded Rectangle 58"/>
          <p:cNvSpPr/>
          <p:nvPr/>
        </p:nvSpPr>
        <p:spPr>
          <a:xfrm>
            <a:off x="5312664"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12664"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28</a:t>
            </a:r>
          </a:p>
        </p:txBody>
      </p:sp>
      <p:sp>
        <p:nvSpPr>
          <p:cNvPr id="61" name="Rounded Rectangle 60"/>
          <p:cNvSpPr/>
          <p:nvPr/>
        </p:nvSpPr>
        <p:spPr>
          <a:xfrm>
            <a:off x="5687568"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87568"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29</a:t>
            </a:r>
          </a:p>
        </p:txBody>
      </p:sp>
      <p:sp>
        <p:nvSpPr>
          <p:cNvPr id="63" name="Rounded Rectangle 62"/>
          <p:cNvSpPr/>
          <p:nvPr/>
        </p:nvSpPr>
        <p:spPr>
          <a:xfrm>
            <a:off x="6062472" y="4727447"/>
            <a:ext cx="310896" cy="274320"/>
          </a:xfrm>
          <a:prstGeom prst="roundRect">
            <a:avLst>
              <a:gd name="adj" fmla="val 40000"/>
            </a:avLst>
          </a:prstGeom>
          <a:solidFill>
            <a:srgbClr val="FAEA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062472" y="4791455"/>
            <a:ext cx="310896" cy="164592"/>
          </a:xfrm>
          <a:prstGeom prst="rect">
            <a:avLst/>
          </a:prstGeom>
          <a:noFill/>
        </p:spPr>
        <p:txBody>
          <a:bodyPr wrap="square" lIns="0" rIns="0" tIns="0" bIns="0" anchor="t">
            <a:spAutoFit/>
          </a:bodyPr>
          <a:lstStyle/>
          <a:p>
            <a:pPr algn="ctr"/>
            <a:r>
              <a:rPr sz="860" b="1" i="0">
                <a:solidFill>
                  <a:srgbClr val="D9503F"/>
                </a:solidFill>
                <a:latin typeface="Calibri"/>
              </a:rPr>
              <a:t>30</a:t>
            </a:r>
          </a:p>
        </p:txBody>
      </p:sp>
      <p:sp>
        <p:nvSpPr>
          <p:cNvPr id="65" name="Rounded Rectangle 64"/>
          <p:cNvSpPr/>
          <p:nvPr/>
        </p:nvSpPr>
        <p:spPr>
          <a:xfrm>
            <a:off x="365760" y="5257799"/>
            <a:ext cx="6510527" cy="1197864"/>
          </a:xfrm>
          <a:prstGeom prst="roundRect">
            <a:avLst>
              <a:gd name="adj" fmla="val 6000"/>
            </a:avLst>
          </a:prstGeom>
          <a:solidFill>
            <a:srgbClr val="FFF4F0"/>
          </a:solidFill>
          <a:ln w="12700">
            <a:solidFill>
              <a:srgbClr val="E8B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30352" y="5358383"/>
            <a:ext cx="1463040" cy="182880"/>
          </a:xfrm>
          <a:prstGeom prst="rect">
            <a:avLst/>
          </a:prstGeom>
          <a:noFill/>
        </p:spPr>
        <p:txBody>
          <a:bodyPr wrap="square" lIns="0" rIns="0" tIns="0" bIns="0" anchor="t">
            <a:spAutoFit/>
          </a:bodyPr>
          <a:lstStyle/>
          <a:p>
            <a:pPr algn="l"/>
            <a:r>
              <a:rPr sz="860" b="1" i="0">
                <a:solidFill>
                  <a:srgbClr val="A85A3C"/>
                </a:solidFill>
                <a:latin typeface="Calibri"/>
              </a:rPr>
              <a:t>IF IT FAILS</a:t>
            </a:r>
          </a:p>
        </p:txBody>
      </p:sp>
      <p:sp>
        <p:nvSpPr>
          <p:cNvPr id="67" name="TextBox 66"/>
          <p:cNvSpPr txBox="1"/>
          <p:nvPr/>
        </p:nvSpPr>
        <p:spPr>
          <a:xfrm>
            <a:off x="530352" y="5568695"/>
            <a:ext cx="6181343" cy="850392"/>
          </a:xfrm>
          <a:prstGeom prst="rect">
            <a:avLst/>
          </a:prstGeom>
          <a:noFill/>
        </p:spPr>
        <p:txBody>
          <a:bodyPr wrap="square" lIns="0" rIns="0" tIns="0" bIns="0" anchor="t">
            <a:spAutoFit/>
          </a:bodyPr>
          <a:lstStyle/>
          <a:p>
            <a:pPr algn="l">
              <a:lnSpc>
                <a:spcPct val="120000"/>
              </a:lnSpc>
            </a:pPr>
            <a:r>
              <a:rPr sz="950" b="0" i="0">
                <a:solidFill>
                  <a:srgbClr val="7A4630"/>
                </a:solidFill>
                <a:latin typeface="Calibri"/>
              </a:rPr>
              <a:t>Voice falls back to the text console on the same contract. The camera falls back to upload. She loses the feel of it, not the outcome.</a:t>
            </a:r>
          </a:p>
        </p:txBody>
      </p:sp>
      <p:sp>
        <p:nvSpPr>
          <p:cNvPr id="68" name="TextBox 67"/>
          <p:cNvSpPr txBox="1"/>
          <p:nvPr/>
        </p:nvSpPr>
        <p:spPr>
          <a:xfrm>
            <a:off x="7059168"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HOW IT CONNECTS</a:t>
            </a:r>
          </a:p>
        </p:txBody>
      </p:sp>
      <p:sp>
        <p:nvSpPr>
          <p:cNvPr id="69" name="Rounded Rectangle 68"/>
          <p:cNvSpPr/>
          <p:nvPr/>
        </p:nvSpPr>
        <p:spPr>
          <a:xfrm>
            <a:off x="7059168" y="1152144"/>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187183" y="1335024"/>
            <a:ext cx="438912" cy="438912"/>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87183" y="1453896"/>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2" name="TextBox 71"/>
          <p:cNvSpPr txBox="1"/>
          <p:nvPr/>
        </p:nvSpPr>
        <p:spPr>
          <a:xfrm>
            <a:off x="7735823" y="1271016"/>
            <a:ext cx="3922776" cy="201168"/>
          </a:xfrm>
          <a:prstGeom prst="rect">
            <a:avLst/>
          </a:prstGeom>
          <a:noFill/>
        </p:spPr>
        <p:txBody>
          <a:bodyPr wrap="square" lIns="0" rIns="0" tIns="0" bIns="0" anchor="t">
            <a:spAutoFit/>
          </a:bodyPr>
          <a:lstStyle/>
          <a:p>
            <a:pPr algn="l"/>
            <a:r>
              <a:rPr sz="1050" b="1" i="0">
                <a:solidFill>
                  <a:srgbClr val="0E3A4C"/>
                </a:solidFill>
                <a:latin typeface="Calibri"/>
              </a:rPr>
              <a:t>Sends a TURN to the agent core</a:t>
            </a:r>
          </a:p>
        </p:txBody>
      </p:sp>
      <p:sp>
        <p:nvSpPr>
          <p:cNvPr id="73" name="TextBox 72"/>
          <p:cNvSpPr txBox="1"/>
          <p:nvPr/>
        </p:nvSpPr>
        <p:spPr>
          <a:xfrm>
            <a:off x="7735823" y="1499616"/>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Text, an optional photograph, a timestamp. No intent, no classification, no opinion.</a:t>
            </a:r>
          </a:p>
        </p:txBody>
      </p:sp>
      <p:sp>
        <p:nvSpPr>
          <p:cNvPr id="74" name="Rounded Rectangle 73"/>
          <p:cNvSpPr/>
          <p:nvPr/>
        </p:nvSpPr>
        <p:spPr>
          <a:xfrm>
            <a:off x="7059168" y="2057400"/>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7187183" y="2240280"/>
            <a:ext cx="438912" cy="438912"/>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187183" y="2359152"/>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7" name="TextBox 76"/>
          <p:cNvSpPr txBox="1"/>
          <p:nvPr/>
        </p:nvSpPr>
        <p:spPr>
          <a:xfrm>
            <a:off x="7735823" y="2176272"/>
            <a:ext cx="3922776" cy="201168"/>
          </a:xfrm>
          <a:prstGeom prst="rect">
            <a:avLst/>
          </a:prstGeom>
          <a:noFill/>
        </p:spPr>
        <p:txBody>
          <a:bodyPr wrap="square" lIns="0" rIns="0" tIns="0" bIns="0" anchor="t">
            <a:spAutoFit/>
          </a:bodyPr>
          <a:lstStyle/>
          <a:p>
            <a:pPr algn="l"/>
            <a:r>
              <a:rPr sz="1050" b="1" i="0">
                <a:solidFill>
                  <a:srgbClr val="0E3A4C"/>
                </a:solidFill>
                <a:latin typeface="Calibri"/>
              </a:rPr>
              <a:t>Receives an INSTRUCTION back</a:t>
            </a:r>
          </a:p>
        </p:txBody>
      </p:sp>
      <p:sp>
        <p:nvSpPr>
          <p:cNvPr id="78" name="TextBox 77"/>
          <p:cNvSpPr txBox="1"/>
          <p:nvPr/>
        </p:nvSpPr>
        <p:spPr>
          <a:xfrm>
            <a:off x="7735823" y="2404872"/>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One line to say, and what it expects next: a photograph, an answer, or a confirmation.</a:t>
            </a:r>
          </a:p>
        </p:txBody>
      </p:sp>
      <p:sp>
        <p:nvSpPr>
          <p:cNvPr id="79" name="Rounded Rectangle 78"/>
          <p:cNvSpPr/>
          <p:nvPr/>
        </p:nvSpPr>
        <p:spPr>
          <a:xfrm>
            <a:off x="7059168" y="2962656"/>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187183" y="3145536"/>
            <a:ext cx="438912" cy="438912"/>
          </a:xfrm>
          <a:prstGeom prst="roundRect">
            <a:avLst>
              <a:gd name="adj" fmla="val 50000"/>
            </a:avLst>
          </a:prstGeom>
          <a:solidFill>
            <a:srgbClr val="D95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187183" y="3264408"/>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82" name="TextBox 81"/>
          <p:cNvSpPr txBox="1"/>
          <p:nvPr/>
        </p:nvSpPr>
        <p:spPr>
          <a:xfrm>
            <a:off x="7735823" y="3081528"/>
            <a:ext cx="3922776" cy="201168"/>
          </a:xfrm>
          <a:prstGeom prst="rect">
            <a:avLst/>
          </a:prstGeom>
          <a:noFill/>
        </p:spPr>
        <p:txBody>
          <a:bodyPr wrap="square" lIns="0" rIns="0" tIns="0" bIns="0" anchor="t">
            <a:spAutoFit/>
          </a:bodyPr>
          <a:lstStyle/>
          <a:p>
            <a:pPr algn="l"/>
            <a:r>
              <a:rPr sz="1050" b="1" i="0">
                <a:solidFill>
                  <a:srgbClr val="0E3A4C"/>
                </a:solidFill>
                <a:latin typeface="Calibri"/>
              </a:rPr>
              <a:t>Talks to nothing else</a:t>
            </a:r>
          </a:p>
        </p:txBody>
      </p:sp>
      <p:sp>
        <p:nvSpPr>
          <p:cNvPr id="83" name="TextBox 82"/>
          <p:cNvSpPr txBox="1"/>
          <p:nvPr/>
        </p:nvSpPr>
        <p:spPr>
          <a:xfrm>
            <a:off x="7735823" y="3310128"/>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No retrieval, no model calls, no branching. Every decision belongs to layer 2.</a:t>
            </a:r>
          </a:p>
        </p:txBody>
      </p:sp>
      <p:sp>
        <p:nvSpPr>
          <p:cNvPr id="84" name="Rounded Rectangle 83"/>
          <p:cNvSpPr/>
          <p:nvPr/>
        </p:nvSpPr>
        <p:spPr>
          <a:xfrm>
            <a:off x="7059168" y="3959352"/>
            <a:ext cx="4764024" cy="2496311"/>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242048" y="4087368"/>
            <a:ext cx="4206240" cy="182880"/>
          </a:xfrm>
          <a:prstGeom prst="rect">
            <a:avLst/>
          </a:prstGeom>
          <a:noFill/>
        </p:spPr>
        <p:txBody>
          <a:bodyPr wrap="square" lIns="0" rIns="0" tIns="0" bIns="0" anchor="t">
            <a:spAutoFit/>
          </a:bodyPr>
          <a:lstStyle/>
          <a:p>
            <a:pPr algn="l"/>
            <a:r>
              <a:rPr sz="860" b="1" i="0">
                <a:solidFill>
                  <a:srgbClr val="463283"/>
                </a:solidFill>
                <a:latin typeface="Calibri"/>
              </a:rPr>
              <a:t>THE DECISION THAT MATTERS HERE</a:t>
            </a:r>
          </a:p>
        </p:txBody>
      </p:sp>
      <p:sp>
        <p:nvSpPr>
          <p:cNvPr id="86" name="TextBox 85"/>
          <p:cNvSpPr txBox="1"/>
          <p:nvPr/>
        </p:nvSpPr>
        <p:spPr>
          <a:xfrm>
            <a:off x="7242048" y="4343400"/>
            <a:ext cx="4398264" cy="2057400"/>
          </a:xfrm>
          <a:prstGeom prst="rect">
            <a:avLst/>
          </a:prstGeom>
          <a:noFill/>
        </p:spPr>
        <p:txBody>
          <a:bodyPr wrap="square" lIns="0" rIns="0" tIns="0" bIns="0" anchor="t">
            <a:spAutoFit/>
          </a:bodyPr>
          <a:lstStyle/>
          <a:p>
            <a:pPr algn="l">
              <a:lnSpc>
                <a:spcPct val="126000"/>
              </a:lnSpc>
            </a:pPr>
            <a:r>
              <a:rPr sz="1100" b="0" i="0">
                <a:solidFill>
                  <a:srgbClr val="0E3A4C"/>
                </a:solidFill>
                <a:latin typeface="Calibri"/>
              </a:rPr>
              <a:t>Text is the reference implementation; voice is an adapter over the same turn contract.
That is the only reason voice cannot take the build down — if ElevenLabs is unavailable, the identical scene runs typed and every eval still passes.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7863840" cy="310896"/>
          </a:xfrm>
          <a:prstGeom prst="rect">
            <a:avLst/>
          </a:prstGeom>
          <a:noFill/>
        </p:spPr>
        <p:txBody>
          <a:bodyPr wrap="square" lIns="0" rIns="0" tIns="0" bIns="0" anchor="t">
            <a:spAutoFit/>
          </a:bodyPr>
          <a:lstStyle/>
          <a:p>
            <a:pPr algn="l"/>
            <a:r>
              <a:rPr sz="1800" b="1" i="0">
                <a:solidFill>
                  <a:srgbClr val="FFFFFF"/>
                </a:solidFill>
                <a:latin typeface="Cambria"/>
              </a:rPr>
              <a:t>LAYER 2  ·  AGENTIC FRAMEWORK</a:t>
            </a:r>
          </a:p>
        </p:txBody>
      </p:sp>
      <p:sp>
        <p:nvSpPr>
          <p:cNvPr id="5" name="TextBox 4"/>
          <p:cNvSpPr txBox="1"/>
          <p:nvPr/>
        </p:nvSpPr>
        <p:spPr>
          <a:xfrm>
            <a:off x="365760" y="466344"/>
            <a:ext cx="7863840" cy="201168"/>
          </a:xfrm>
          <a:prstGeom prst="rect">
            <a:avLst/>
          </a:prstGeom>
          <a:noFill/>
        </p:spPr>
        <p:txBody>
          <a:bodyPr wrap="square" lIns="0" rIns="0" tIns="0" bIns="0" anchor="t">
            <a:spAutoFit/>
          </a:bodyPr>
          <a:lstStyle/>
          <a:p>
            <a:pPr algn="l"/>
            <a:r>
              <a:rPr sz="950" b="0" i="0">
                <a:solidFill>
                  <a:srgbClr val="9FC0D0"/>
                </a:solidFill>
                <a:latin typeface="Calibri"/>
              </a:rPr>
              <a:t>LangGraph. The part that decides.</a:t>
            </a:r>
          </a:p>
        </p:txBody>
      </p:sp>
      <p:sp>
        <p:nvSpPr>
          <p:cNvPr id="6" name="Rounded Rectangle 5"/>
          <p:cNvSpPr/>
          <p:nvPr/>
        </p:nvSpPr>
        <p:spPr>
          <a:xfrm>
            <a:off x="8796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96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1</a:t>
            </a:r>
          </a:p>
        </p:txBody>
      </p:sp>
      <p:sp>
        <p:nvSpPr>
          <p:cNvPr id="8" name="Rounded Rectangle 7"/>
          <p:cNvSpPr/>
          <p:nvPr/>
        </p:nvSpPr>
        <p:spPr>
          <a:xfrm>
            <a:off x="9253728" y="274320"/>
            <a:ext cx="384048" cy="237744"/>
          </a:xfrm>
          <a:prstGeom prst="roundRect">
            <a:avLst>
              <a:gd name="adj" fmla="val 35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33756"/>
            <a:ext cx="384048" cy="146304"/>
          </a:xfrm>
          <a:prstGeom prst="rect">
            <a:avLst/>
          </a:prstGeom>
          <a:noFill/>
        </p:spPr>
        <p:txBody>
          <a:bodyPr wrap="square" lIns="0" rIns="0" tIns="0" bIns="0" anchor="t">
            <a:spAutoFit/>
          </a:bodyPr>
          <a:lstStyle/>
          <a:p>
            <a:pPr algn="ctr"/>
            <a:r>
              <a:rPr sz="800" b="1" i="0">
                <a:solidFill>
                  <a:srgbClr val="FFFFFF"/>
                </a:solidFill>
                <a:latin typeface="Calibri"/>
              </a:rPr>
              <a:t>2</a:t>
            </a:r>
          </a:p>
        </p:txBody>
      </p:sp>
      <p:sp>
        <p:nvSpPr>
          <p:cNvPr id="10" name="Rounded Rectangle 9"/>
          <p:cNvSpPr/>
          <p:nvPr/>
        </p:nvSpPr>
        <p:spPr>
          <a:xfrm>
            <a:off x="97109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9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3</a:t>
            </a:r>
          </a:p>
        </p:txBody>
      </p:sp>
      <p:sp>
        <p:nvSpPr>
          <p:cNvPr id="12" name="Rounded Rectangle 11"/>
          <p:cNvSpPr/>
          <p:nvPr/>
        </p:nvSpPr>
        <p:spPr>
          <a:xfrm>
            <a:off x="101681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4</a:t>
            </a:r>
          </a:p>
        </p:txBody>
      </p:sp>
      <p:sp>
        <p:nvSpPr>
          <p:cNvPr id="14" name="Rounded Rectangle 13"/>
          <p:cNvSpPr/>
          <p:nvPr/>
        </p:nvSpPr>
        <p:spPr>
          <a:xfrm>
            <a:off x="106253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53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5</a:t>
            </a:r>
          </a:p>
        </p:txBody>
      </p:sp>
      <p:sp>
        <p:nvSpPr>
          <p:cNvPr id="16" name="Rounded Rectangle 15"/>
          <p:cNvSpPr/>
          <p:nvPr/>
        </p:nvSpPr>
        <p:spPr>
          <a:xfrm>
            <a:off x="11082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82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6</a:t>
            </a:r>
          </a:p>
        </p:txBody>
      </p:sp>
      <p:sp>
        <p:nvSpPr>
          <p:cNvPr id="18" name="Rounded Rectangle 17"/>
          <p:cNvSpPr/>
          <p:nvPr/>
        </p:nvSpPr>
        <p:spPr>
          <a:xfrm>
            <a:off x="11539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39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7</a:t>
            </a:r>
          </a:p>
        </p:txBody>
      </p:sp>
      <p:sp>
        <p:nvSpPr>
          <p:cNvPr id="20" name="TextBox 19"/>
          <p:cNvSpPr txBox="1"/>
          <p:nvPr/>
        </p:nvSpPr>
        <p:spPr>
          <a:xfrm>
            <a:off x="365760"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WHAT THIS LAYER CARRIES</a:t>
            </a:r>
          </a:p>
        </p:txBody>
      </p:sp>
      <p:sp>
        <p:nvSpPr>
          <p:cNvPr id="21" name="Rounded Rectangle 20"/>
          <p:cNvSpPr/>
          <p:nvPr/>
        </p:nvSpPr>
        <p:spPr>
          <a:xfrm>
            <a:off x="365760"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 y="1280160"/>
            <a:ext cx="82296" cy="7680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The graph</a:t>
            </a:r>
          </a:p>
        </p:txBody>
      </p:sp>
      <p:sp>
        <p:nvSpPr>
          <p:cNvPr id="24" name="TextBox 23"/>
          <p:cNvSpPr txBox="1"/>
          <p:nvPr/>
        </p:nvSpPr>
        <p:spPr>
          <a:xfrm>
            <a:off x="694944"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Twelve nodes. Guard, interpret, update, plan, instruct, capture, verify — plus four exits.</a:t>
            </a:r>
          </a:p>
        </p:txBody>
      </p:sp>
      <p:sp>
        <p:nvSpPr>
          <p:cNvPr id="25" name="Rounded Rectangle 24"/>
          <p:cNvSpPr/>
          <p:nvPr/>
        </p:nvSpPr>
        <p:spPr>
          <a:xfrm>
            <a:off x="3694176"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22191" y="1280160"/>
            <a:ext cx="82296" cy="7680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Hard-stop guard</a:t>
            </a:r>
          </a:p>
        </p:txBody>
      </p:sp>
      <p:sp>
        <p:nvSpPr>
          <p:cNvPr id="28" name="TextBox 27"/>
          <p:cNvSpPr txBox="1"/>
          <p:nvPr/>
        </p:nvSpPr>
        <p:spPr>
          <a:xfrm>
            <a:off x="4023360"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Entry point of every turn. Can end the run before the planner is ever reached.</a:t>
            </a:r>
          </a:p>
        </p:txBody>
      </p:sp>
      <p:sp>
        <p:nvSpPr>
          <p:cNvPr id="29" name="Rounded Rectangle 28"/>
          <p:cNvSpPr/>
          <p:nvPr/>
        </p:nvSpPr>
        <p:spPr>
          <a:xfrm>
            <a:off x="365760"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2423160"/>
            <a:ext cx="82296" cy="7680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Scene clock</a:t>
            </a:r>
          </a:p>
        </p:txBody>
      </p:sp>
      <p:sp>
        <p:nvSpPr>
          <p:cNvPr id="32" name="TextBox 31"/>
          <p:cNvSpPr txBox="1"/>
          <p:nvPr/>
        </p:nvSpPr>
        <p:spPr>
          <a:xfrm>
            <a:off x="694944"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Tracks events, not seconds. Each event holds a window that interpretation revises.</a:t>
            </a:r>
          </a:p>
        </p:txBody>
      </p:sp>
      <p:sp>
        <p:nvSpPr>
          <p:cNvPr id="33" name="Rounded Rectangle 32"/>
          <p:cNvSpPr/>
          <p:nvPr/>
        </p:nvSpPr>
        <p:spPr>
          <a:xfrm>
            <a:off x="3694176"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22191" y="2423160"/>
            <a:ext cx="82296" cy="7680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0"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Priority planner</a:t>
            </a:r>
          </a:p>
        </p:txBody>
      </p:sp>
      <p:sp>
        <p:nvSpPr>
          <p:cNvPr id="36" name="TextBox 35"/>
          <p:cNvSpPr txBox="1"/>
          <p:nvPr/>
        </p:nvSpPr>
        <p:spPr>
          <a:xfrm>
            <a:off x="4023360"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Selects by value ÷ time left, and emits the whole comparison it made.</a:t>
            </a:r>
          </a:p>
        </p:txBody>
      </p:sp>
      <p:sp>
        <p:nvSpPr>
          <p:cNvPr id="37" name="Rounded Rectangle 36"/>
          <p:cNvSpPr/>
          <p:nvPr/>
        </p:nvSpPr>
        <p:spPr>
          <a:xfrm>
            <a:off x="365760"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3776" y="3566160"/>
            <a:ext cx="82296" cy="7680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Evidence ledger</a:t>
            </a:r>
          </a:p>
        </p:txBody>
      </p:sp>
      <p:sp>
        <p:nvSpPr>
          <p:cNvPr id="40" name="TextBox 39"/>
          <p:cNvSpPr txBox="1"/>
          <p:nvPr/>
        </p:nvSpPr>
        <p:spPr>
          <a:xfrm>
            <a:off x="694944"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Every item with live status: pending, captured, failed, unreachable — and why.</a:t>
            </a:r>
          </a:p>
        </p:txBody>
      </p:sp>
      <p:sp>
        <p:nvSpPr>
          <p:cNvPr id="41" name="Rounded Rectangle 40"/>
          <p:cNvSpPr/>
          <p:nvPr/>
        </p:nvSpPr>
        <p:spPr>
          <a:xfrm>
            <a:off x="3694176"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822191" y="3566160"/>
            <a:ext cx="82296" cy="768096"/>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Interrupts</a:t>
            </a:r>
          </a:p>
        </p:txBody>
      </p:sp>
      <p:sp>
        <p:nvSpPr>
          <p:cNvPr id="44" name="TextBox 43"/>
          <p:cNvSpPr txBox="1"/>
          <p:nvPr/>
        </p:nvSpPr>
        <p:spPr>
          <a:xfrm>
            <a:off x="4023360"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interrupt() plus a SQLite checkpointer, so a scene pauses for approval and resumes.</a:t>
            </a:r>
          </a:p>
        </p:txBody>
      </p:sp>
      <p:sp>
        <p:nvSpPr>
          <p:cNvPr id="45" name="Rounded Rectangle 44"/>
          <p:cNvSpPr/>
          <p:nvPr/>
        </p:nvSpPr>
        <p:spPr>
          <a:xfrm>
            <a:off x="365760" y="4599431"/>
            <a:ext cx="6510527" cy="548640"/>
          </a:xfrm>
          <a:prstGeom prst="roundRect">
            <a:avLst>
              <a:gd name="adj" fmla="val 6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4681727"/>
            <a:ext cx="2468880" cy="182880"/>
          </a:xfrm>
          <a:prstGeom prst="rect">
            <a:avLst/>
          </a:prstGeom>
          <a:noFill/>
        </p:spPr>
        <p:txBody>
          <a:bodyPr wrap="square" lIns="0" rIns="0" tIns="0" bIns="0" anchor="t">
            <a:spAutoFit/>
          </a:bodyPr>
          <a:lstStyle/>
          <a:p>
            <a:pPr algn="l"/>
            <a:r>
              <a:rPr sz="860" b="1" i="0">
                <a:solidFill>
                  <a:srgbClr val="1C7293"/>
                </a:solidFill>
                <a:latin typeface="Calibri"/>
              </a:rPr>
              <a:t>FEATURES IT DELIVERS</a:t>
            </a:r>
          </a:p>
        </p:txBody>
      </p:sp>
      <p:sp>
        <p:nvSpPr>
          <p:cNvPr id="47" name="Rounded Rectangle 46"/>
          <p:cNvSpPr/>
          <p:nvPr/>
        </p:nvSpPr>
        <p:spPr>
          <a:xfrm>
            <a:off x="3063240"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5</a:t>
            </a:r>
          </a:p>
        </p:txBody>
      </p:sp>
      <p:sp>
        <p:nvSpPr>
          <p:cNvPr id="49" name="Rounded Rectangle 48"/>
          <p:cNvSpPr/>
          <p:nvPr/>
        </p:nvSpPr>
        <p:spPr>
          <a:xfrm>
            <a:off x="3438144"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8144"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6</a:t>
            </a:r>
          </a:p>
        </p:txBody>
      </p:sp>
      <p:sp>
        <p:nvSpPr>
          <p:cNvPr id="51" name="Rounded Rectangle 50"/>
          <p:cNvSpPr/>
          <p:nvPr/>
        </p:nvSpPr>
        <p:spPr>
          <a:xfrm>
            <a:off x="3813048"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3048"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7</a:t>
            </a:r>
          </a:p>
        </p:txBody>
      </p:sp>
      <p:sp>
        <p:nvSpPr>
          <p:cNvPr id="53" name="Rounded Rectangle 52"/>
          <p:cNvSpPr/>
          <p:nvPr/>
        </p:nvSpPr>
        <p:spPr>
          <a:xfrm>
            <a:off x="4187952"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87952"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8</a:t>
            </a:r>
          </a:p>
        </p:txBody>
      </p:sp>
      <p:sp>
        <p:nvSpPr>
          <p:cNvPr id="55" name="Rounded Rectangle 54"/>
          <p:cNvSpPr/>
          <p:nvPr/>
        </p:nvSpPr>
        <p:spPr>
          <a:xfrm>
            <a:off x="4562856"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62856"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9</a:t>
            </a:r>
          </a:p>
        </p:txBody>
      </p:sp>
      <p:sp>
        <p:nvSpPr>
          <p:cNvPr id="57" name="Rounded Rectangle 56"/>
          <p:cNvSpPr/>
          <p:nvPr/>
        </p:nvSpPr>
        <p:spPr>
          <a:xfrm>
            <a:off x="4937760"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37760"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10</a:t>
            </a:r>
          </a:p>
        </p:txBody>
      </p:sp>
      <p:sp>
        <p:nvSpPr>
          <p:cNvPr id="59" name="Rounded Rectangle 58"/>
          <p:cNvSpPr/>
          <p:nvPr/>
        </p:nvSpPr>
        <p:spPr>
          <a:xfrm>
            <a:off x="5312664"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12664"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11</a:t>
            </a:r>
          </a:p>
        </p:txBody>
      </p:sp>
      <p:sp>
        <p:nvSpPr>
          <p:cNvPr id="61" name="Rounded Rectangle 60"/>
          <p:cNvSpPr/>
          <p:nvPr/>
        </p:nvSpPr>
        <p:spPr>
          <a:xfrm>
            <a:off x="5687568"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87568"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16</a:t>
            </a:r>
          </a:p>
        </p:txBody>
      </p:sp>
      <p:sp>
        <p:nvSpPr>
          <p:cNvPr id="63" name="Rounded Rectangle 62"/>
          <p:cNvSpPr/>
          <p:nvPr/>
        </p:nvSpPr>
        <p:spPr>
          <a:xfrm>
            <a:off x="6062472"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062472"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17</a:t>
            </a:r>
          </a:p>
        </p:txBody>
      </p:sp>
      <p:sp>
        <p:nvSpPr>
          <p:cNvPr id="65" name="Rounded Rectangle 64"/>
          <p:cNvSpPr/>
          <p:nvPr/>
        </p:nvSpPr>
        <p:spPr>
          <a:xfrm>
            <a:off x="6437376"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37376"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18</a:t>
            </a:r>
          </a:p>
        </p:txBody>
      </p:sp>
      <p:sp>
        <p:nvSpPr>
          <p:cNvPr id="67" name="Rounded Rectangle 66"/>
          <p:cNvSpPr/>
          <p:nvPr/>
        </p:nvSpPr>
        <p:spPr>
          <a:xfrm>
            <a:off x="6812280" y="4727447"/>
            <a:ext cx="310896" cy="274320"/>
          </a:xfrm>
          <a:prstGeom prst="roundRect">
            <a:avLst>
              <a:gd name="adj" fmla="val 40000"/>
            </a:avLst>
          </a:prstGeom>
          <a:solidFill>
            <a:srgbClr val="E3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812280" y="4791455"/>
            <a:ext cx="310896" cy="164592"/>
          </a:xfrm>
          <a:prstGeom prst="rect">
            <a:avLst/>
          </a:prstGeom>
          <a:noFill/>
        </p:spPr>
        <p:txBody>
          <a:bodyPr wrap="square" lIns="0" rIns="0" tIns="0" bIns="0" anchor="t">
            <a:spAutoFit/>
          </a:bodyPr>
          <a:lstStyle/>
          <a:p>
            <a:pPr algn="ctr"/>
            <a:r>
              <a:rPr sz="860" b="1" i="0">
                <a:solidFill>
                  <a:srgbClr val="1C7293"/>
                </a:solidFill>
                <a:latin typeface="Calibri"/>
              </a:rPr>
              <a:t>27</a:t>
            </a:r>
          </a:p>
        </p:txBody>
      </p:sp>
      <p:sp>
        <p:nvSpPr>
          <p:cNvPr id="69" name="Rounded Rectangle 68"/>
          <p:cNvSpPr/>
          <p:nvPr/>
        </p:nvSpPr>
        <p:spPr>
          <a:xfrm>
            <a:off x="365760" y="5257799"/>
            <a:ext cx="6510527" cy="1197864"/>
          </a:xfrm>
          <a:prstGeom prst="roundRect">
            <a:avLst>
              <a:gd name="adj" fmla="val 6000"/>
            </a:avLst>
          </a:prstGeom>
          <a:solidFill>
            <a:srgbClr val="FFF4F0"/>
          </a:solidFill>
          <a:ln w="12700">
            <a:solidFill>
              <a:srgbClr val="E8B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0352" y="5358383"/>
            <a:ext cx="1463040" cy="182880"/>
          </a:xfrm>
          <a:prstGeom prst="rect">
            <a:avLst/>
          </a:prstGeom>
          <a:noFill/>
        </p:spPr>
        <p:txBody>
          <a:bodyPr wrap="square" lIns="0" rIns="0" tIns="0" bIns="0" anchor="t">
            <a:spAutoFit/>
          </a:bodyPr>
          <a:lstStyle/>
          <a:p>
            <a:pPr algn="l"/>
            <a:r>
              <a:rPr sz="860" b="1" i="0">
                <a:solidFill>
                  <a:srgbClr val="A85A3C"/>
                </a:solidFill>
                <a:latin typeface="Calibri"/>
              </a:rPr>
              <a:t>IF IT FAILS</a:t>
            </a:r>
          </a:p>
        </p:txBody>
      </p:sp>
      <p:sp>
        <p:nvSpPr>
          <p:cNvPr id="71" name="TextBox 70"/>
          <p:cNvSpPr txBox="1"/>
          <p:nvPr/>
        </p:nvSpPr>
        <p:spPr>
          <a:xfrm>
            <a:off x="530352" y="5568695"/>
            <a:ext cx="6181343" cy="850392"/>
          </a:xfrm>
          <a:prstGeom prst="rect">
            <a:avLst/>
          </a:prstGeom>
          <a:noFill/>
        </p:spPr>
        <p:txBody>
          <a:bodyPr wrap="square" lIns="0" rIns="0" tIns="0" bIns="0" anchor="t">
            <a:spAutoFit/>
          </a:bodyPr>
          <a:lstStyle/>
          <a:p>
            <a:pPr algn="l">
              <a:lnSpc>
                <a:spcPct val="120000"/>
              </a:lnSpc>
            </a:pPr>
            <a:r>
              <a:rPr sz="950" b="0" i="0">
                <a:solidFill>
                  <a:srgbClr val="7A4630"/>
                </a:solidFill>
                <a:latin typeface="Calibri"/>
              </a:rPr>
              <a:t>If the model tier is unreachable mid-scene, instructions fall back to the pack's untemplated text. The phrasing gets blunter; ordering and safety are unaffected.</a:t>
            </a:r>
          </a:p>
        </p:txBody>
      </p:sp>
      <p:sp>
        <p:nvSpPr>
          <p:cNvPr id="72" name="TextBox 71"/>
          <p:cNvSpPr txBox="1"/>
          <p:nvPr/>
        </p:nvSpPr>
        <p:spPr>
          <a:xfrm>
            <a:off x="7059168"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HOW IT CONNECTS</a:t>
            </a:r>
          </a:p>
        </p:txBody>
      </p:sp>
      <p:sp>
        <p:nvSpPr>
          <p:cNvPr id="73" name="Rounded Rectangle 72"/>
          <p:cNvSpPr/>
          <p:nvPr/>
        </p:nvSpPr>
        <p:spPr>
          <a:xfrm>
            <a:off x="7059168" y="1152144"/>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7187183" y="1335024"/>
            <a:ext cx="438912" cy="43891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87183" y="1453896"/>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6" name="TextBox 75"/>
          <p:cNvSpPr txBox="1"/>
          <p:nvPr/>
        </p:nvSpPr>
        <p:spPr>
          <a:xfrm>
            <a:off x="7735823" y="1271016"/>
            <a:ext cx="3922776" cy="201168"/>
          </a:xfrm>
          <a:prstGeom prst="rect">
            <a:avLst/>
          </a:prstGeom>
          <a:noFill/>
        </p:spPr>
        <p:txBody>
          <a:bodyPr wrap="square" lIns="0" rIns="0" tIns="0" bIns="0" anchor="t">
            <a:spAutoFit/>
          </a:bodyPr>
          <a:lstStyle/>
          <a:p>
            <a:pPr algn="l"/>
            <a:r>
              <a:rPr sz="1050" b="1" i="0">
                <a:solidFill>
                  <a:srgbClr val="0E3A4C"/>
                </a:solidFill>
                <a:latin typeface="Calibri"/>
              </a:rPr>
              <a:t>Returns instructions to layer 1</a:t>
            </a:r>
          </a:p>
        </p:txBody>
      </p:sp>
      <p:sp>
        <p:nvSpPr>
          <p:cNvPr id="77" name="TextBox 76"/>
          <p:cNvSpPr txBox="1"/>
          <p:nvPr/>
        </p:nvSpPr>
        <p:spPr>
          <a:xfrm>
            <a:off x="7735823" y="1499616"/>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One at a time, already worded, with what it expects back.</a:t>
            </a:r>
          </a:p>
        </p:txBody>
      </p:sp>
      <p:sp>
        <p:nvSpPr>
          <p:cNvPr id="78" name="Rounded Rectangle 77"/>
          <p:cNvSpPr/>
          <p:nvPr/>
        </p:nvSpPr>
        <p:spPr>
          <a:xfrm>
            <a:off x="7059168" y="2057400"/>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7187183" y="2240280"/>
            <a:ext cx="438912" cy="43891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187183" y="2359152"/>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81" name="TextBox 80"/>
          <p:cNvSpPr txBox="1"/>
          <p:nvPr/>
        </p:nvSpPr>
        <p:spPr>
          <a:xfrm>
            <a:off x="7735823" y="2176272"/>
            <a:ext cx="3922776" cy="201168"/>
          </a:xfrm>
          <a:prstGeom prst="rect">
            <a:avLst/>
          </a:prstGeom>
          <a:noFill/>
        </p:spPr>
        <p:txBody>
          <a:bodyPr wrap="square" lIns="0" rIns="0" tIns="0" bIns="0" anchor="t">
            <a:spAutoFit/>
          </a:bodyPr>
          <a:lstStyle/>
          <a:p>
            <a:pPr algn="l"/>
            <a:r>
              <a:rPr sz="1050" b="1" i="0">
                <a:solidFill>
                  <a:srgbClr val="0E3A4C"/>
                </a:solidFill>
                <a:latin typeface="Calibri"/>
              </a:rPr>
              <a:t>Calls tools, knowledge and models</a:t>
            </a:r>
          </a:p>
        </p:txBody>
      </p:sp>
      <p:sp>
        <p:nvSpPr>
          <p:cNvPr id="82" name="TextBox 81"/>
          <p:cNvSpPr txBox="1"/>
          <p:nvPr/>
        </p:nvSpPr>
        <p:spPr>
          <a:xfrm>
            <a:off x="7735823" y="2404872"/>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Tools for actions, the pre-warmed slice for facts, the fast tier for classification and wording.</a:t>
            </a:r>
          </a:p>
        </p:txBody>
      </p:sp>
      <p:sp>
        <p:nvSpPr>
          <p:cNvPr id="83" name="Rounded Rectangle 82"/>
          <p:cNvSpPr/>
          <p:nvPr/>
        </p:nvSpPr>
        <p:spPr>
          <a:xfrm>
            <a:off x="7059168" y="2962656"/>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187183" y="3145536"/>
            <a:ext cx="438912" cy="43891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187183" y="3264408"/>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86" name="TextBox 85"/>
          <p:cNvSpPr txBox="1"/>
          <p:nvPr/>
        </p:nvSpPr>
        <p:spPr>
          <a:xfrm>
            <a:off x="7735823" y="3081528"/>
            <a:ext cx="3922776" cy="201168"/>
          </a:xfrm>
          <a:prstGeom prst="rect">
            <a:avLst/>
          </a:prstGeom>
          <a:noFill/>
        </p:spPr>
        <p:txBody>
          <a:bodyPr wrap="square" lIns="0" rIns="0" tIns="0" bIns="0" anchor="t">
            <a:spAutoFit/>
          </a:bodyPr>
          <a:lstStyle/>
          <a:p>
            <a:pPr algn="l"/>
            <a:r>
              <a:rPr sz="1050" b="1" i="0">
                <a:solidFill>
                  <a:srgbClr val="0E3A4C"/>
                </a:solidFill>
                <a:latin typeface="Calibri"/>
              </a:rPr>
              <a:t>Emits to observability, obeys safety</a:t>
            </a:r>
          </a:p>
        </p:txBody>
      </p:sp>
      <p:sp>
        <p:nvSpPr>
          <p:cNvPr id="87" name="TextBox 86"/>
          <p:cNvSpPr txBox="1"/>
          <p:nvPr/>
        </p:nvSpPr>
        <p:spPr>
          <a:xfrm>
            <a:off x="7735823" y="3310128"/>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One span per turn carrying the guard verdict, the clock, and the planner's comparison.</a:t>
            </a:r>
          </a:p>
        </p:txBody>
      </p:sp>
      <p:sp>
        <p:nvSpPr>
          <p:cNvPr id="88" name="Rounded Rectangle 87"/>
          <p:cNvSpPr/>
          <p:nvPr/>
        </p:nvSpPr>
        <p:spPr>
          <a:xfrm>
            <a:off x="7059168" y="3959352"/>
            <a:ext cx="4764024" cy="2496311"/>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242048" y="4087368"/>
            <a:ext cx="4206240" cy="182880"/>
          </a:xfrm>
          <a:prstGeom prst="rect">
            <a:avLst/>
          </a:prstGeom>
          <a:noFill/>
        </p:spPr>
        <p:txBody>
          <a:bodyPr wrap="square" lIns="0" rIns="0" tIns="0" bIns="0" anchor="t">
            <a:spAutoFit/>
          </a:bodyPr>
          <a:lstStyle/>
          <a:p>
            <a:pPr algn="l"/>
            <a:r>
              <a:rPr sz="860" b="1" i="0">
                <a:solidFill>
                  <a:srgbClr val="463283"/>
                </a:solidFill>
                <a:latin typeface="Calibri"/>
              </a:rPr>
              <a:t>THE DECISION THAT MATTERS HERE</a:t>
            </a:r>
          </a:p>
        </p:txBody>
      </p:sp>
      <p:sp>
        <p:nvSpPr>
          <p:cNvPr id="90" name="TextBox 89"/>
          <p:cNvSpPr txBox="1"/>
          <p:nvPr/>
        </p:nvSpPr>
        <p:spPr>
          <a:xfrm>
            <a:off x="7242048" y="4343400"/>
            <a:ext cx="4398264" cy="2057400"/>
          </a:xfrm>
          <a:prstGeom prst="rect">
            <a:avLst/>
          </a:prstGeom>
          <a:noFill/>
        </p:spPr>
        <p:txBody>
          <a:bodyPr wrap="square" lIns="0" rIns="0" tIns="0" bIns="0" anchor="t">
            <a:spAutoFit/>
          </a:bodyPr>
          <a:lstStyle/>
          <a:p>
            <a:pPr algn="l">
              <a:lnSpc>
                <a:spcPct val="126000"/>
              </a:lnSpc>
            </a:pPr>
            <a:r>
              <a:rPr sz="1100" b="0" i="0">
                <a:solidFill>
                  <a:srgbClr val="0E3A4C"/>
                </a:solidFill>
                <a:latin typeface="Calibri"/>
              </a:rPr>
              <a:t>The graph is the supervisor. No model chooses the next node.
Routing is a conditional edge on typed state — which is why the ordering can be scored against a golden sequence, and why the hard stop cannot be routed around.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7863840" cy="310896"/>
          </a:xfrm>
          <a:prstGeom prst="rect">
            <a:avLst/>
          </a:prstGeom>
          <a:noFill/>
        </p:spPr>
        <p:txBody>
          <a:bodyPr wrap="square" lIns="0" rIns="0" tIns="0" bIns="0" anchor="t">
            <a:spAutoFit/>
          </a:bodyPr>
          <a:lstStyle/>
          <a:p>
            <a:pPr algn="l"/>
            <a:r>
              <a:rPr sz="1800" b="1" i="0">
                <a:solidFill>
                  <a:srgbClr val="FFFFFF"/>
                </a:solidFill>
                <a:latin typeface="Cambria"/>
              </a:rPr>
              <a:t>LAYER 3  ·  TOOLS / APIs</a:t>
            </a:r>
          </a:p>
        </p:txBody>
      </p:sp>
      <p:sp>
        <p:nvSpPr>
          <p:cNvPr id="5" name="TextBox 4"/>
          <p:cNvSpPr txBox="1"/>
          <p:nvPr/>
        </p:nvSpPr>
        <p:spPr>
          <a:xfrm>
            <a:off x="365760" y="466344"/>
            <a:ext cx="7863840" cy="201168"/>
          </a:xfrm>
          <a:prstGeom prst="rect">
            <a:avLst/>
          </a:prstGeom>
          <a:noFill/>
        </p:spPr>
        <p:txBody>
          <a:bodyPr wrap="square" lIns="0" rIns="0" tIns="0" bIns="0" anchor="t">
            <a:spAutoFit/>
          </a:bodyPr>
          <a:lstStyle/>
          <a:p>
            <a:pPr algn="l"/>
            <a:r>
              <a:rPr sz="950" b="0" i="0">
                <a:solidFill>
                  <a:srgbClr val="9FC0D0"/>
                </a:solidFill>
                <a:latin typeface="Calibri"/>
              </a:rPr>
              <a:t>Nine typed actions. The autonomy ladder lives here.</a:t>
            </a:r>
          </a:p>
        </p:txBody>
      </p:sp>
      <p:sp>
        <p:nvSpPr>
          <p:cNvPr id="6" name="Rounded Rectangle 5"/>
          <p:cNvSpPr/>
          <p:nvPr/>
        </p:nvSpPr>
        <p:spPr>
          <a:xfrm>
            <a:off x="8796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96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1</a:t>
            </a:r>
          </a:p>
        </p:txBody>
      </p:sp>
      <p:sp>
        <p:nvSpPr>
          <p:cNvPr id="8" name="Rounded Rectangle 7"/>
          <p:cNvSpPr/>
          <p:nvPr/>
        </p:nvSpPr>
        <p:spPr>
          <a:xfrm>
            <a:off x="9253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2</a:t>
            </a:r>
          </a:p>
        </p:txBody>
      </p:sp>
      <p:sp>
        <p:nvSpPr>
          <p:cNvPr id="10" name="Rounded Rectangle 9"/>
          <p:cNvSpPr/>
          <p:nvPr/>
        </p:nvSpPr>
        <p:spPr>
          <a:xfrm>
            <a:off x="9710928" y="274320"/>
            <a:ext cx="384048" cy="237744"/>
          </a:xfrm>
          <a:prstGeom prst="roundRect">
            <a:avLst>
              <a:gd name="adj" fmla="val 35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928" y="333756"/>
            <a:ext cx="384048" cy="146304"/>
          </a:xfrm>
          <a:prstGeom prst="rect">
            <a:avLst/>
          </a:prstGeom>
          <a:noFill/>
        </p:spPr>
        <p:txBody>
          <a:bodyPr wrap="square" lIns="0" rIns="0" tIns="0" bIns="0" anchor="t">
            <a:spAutoFit/>
          </a:bodyPr>
          <a:lstStyle/>
          <a:p>
            <a:pPr algn="ctr"/>
            <a:r>
              <a:rPr sz="800" b="1" i="0">
                <a:solidFill>
                  <a:srgbClr val="FFFFFF"/>
                </a:solidFill>
                <a:latin typeface="Calibri"/>
              </a:rPr>
              <a:t>3</a:t>
            </a:r>
          </a:p>
        </p:txBody>
      </p:sp>
      <p:sp>
        <p:nvSpPr>
          <p:cNvPr id="12" name="Rounded Rectangle 11"/>
          <p:cNvSpPr/>
          <p:nvPr/>
        </p:nvSpPr>
        <p:spPr>
          <a:xfrm>
            <a:off x="101681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4</a:t>
            </a:r>
          </a:p>
        </p:txBody>
      </p:sp>
      <p:sp>
        <p:nvSpPr>
          <p:cNvPr id="14" name="Rounded Rectangle 13"/>
          <p:cNvSpPr/>
          <p:nvPr/>
        </p:nvSpPr>
        <p:spPr>
          <a:xfrm>
            <a:off x="106253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53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5</a:t>
            </a:r>
          </a:p>
        </p:txBody>
      </p:sp>
      <p:sp>
        <p:nvSpPr>
          <p:cNvPr id="16" name="Rounded Rectangle 15"/>
          <p:cNvSpPr/>
          <p:nvPr/>
        </p:nvSpPr>
        <p:spPr>
          <a:xfrm>
            <a:off x="11082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82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6</a:t>
            </a:r>
          </a:p>
        </p:txBody>
      </p:sp>
      <p:sp>
        <p:nvSpPr>
          <p:cNvPr id="18" name="Rounded Rectangle 17"/>
          <p:cNvSpPr/>
          <p:nvPr/>
        </p:nvSpPr>
        <p:spPr>
          <a:xfrm>
            <a:off x="11539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39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7</a:t>
            </a:r>
          </a:p>
        </p:txBody>
      </p:sp>
      <p:sp>
        <p:nvSpPr>
          <p:cNvPr id="20" name="TextBox 19"/>
          <p:cNvSpPr txBox="1"/>
          <p:nvPr/>
        </p:nvSpPr>
        <p:spPr>
          <a:xfrm>
            <a:off x="365760"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WHAT THIS LAYER CARRIES</a:t>
            </a:r>
          </a:p>
        </p:txBody>
      </p:sp>
      <p:sp>
        <p:nvSpPr>
          <p:cNvPr id="21" name="Rounded Rectangle 20"/>
          <p:cNvSpPr/>
          <p:nvPr/>
        </p:nvSpPr>
        <p:spPr>
          <a:xfrm>
            <a:off x="365760"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 y="1280160"/>
            <a:ext cx="82296" cy="768096"/>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Capture tools</a:t>
            </a:r>
          </a:p>
        </p:txBody>
      </p:sp>
      <p:sp>
        <p:nvSpPr>
          <p:cNvPr id="24" name="TextBox 23"/>
          <p:cNvSpPr txBox="1"/>
          <p:nvPr/>
        </p:nvSpPr>
        <p:spPr>
          <a:xfrm>
            <a:off x="694944"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capture_photo · capture_context · record_statement. Time, place and conditions logged unasked.</a:t>
            </a:r>
          </a:p>
        </p:txBody>
      </p:sp>
      <p:sp>
        <p:nvSpPr>
          <p:cNvPr id="25" name="Rounded Rectangle 24"/>
          <p:cNvSpPr/>
          <p:nvPr/>
        </p:nvSpPr>
        <p:spPr>
          <a:xfrm>
            <a:off x="3694176"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22191" y="1280160"/>
            <a:ext cx="82296" cy="768096"/>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Extract party</a:t>
            </a:r>
          </a:p>
        </p:txBody>
      </p:sp>
      <p:sp>
        <p:nvSpPr>
          <p:cNvPr id="28" name="TextBox 27"/>
          <p:cNvSpPr txBox="1"/>
          <p:nvPr/>
        </p:nvSpPr>
        <p:spPr>
          <a:xfrm>
            <a:off x="4023360"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Licence and insurance card into structured fields, from a photograph or from speech.</a:t>
            </a:r>
          </a:p>
        </p:txBody>
      </p:sp>
      <p:sp>
        <p:nvSpPr>
          <p:cNvPr id="29" name="Rounded Rectangle 28"/>
          <p:cNvSpPr/>
          <p:nvPr/>
        </p:nvSpPr>
        <p:spPr>
          <a:xfrm>
            <a:off x="365760"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2423160"/>
            <a:ext cx="82296" cy="768096"/>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Knowledge tools</a:t>
            </a:r>
          </a:p>
        </p:txBody>
      </p:sp>
      <p:sp>
        <p:nvSpPr>
          <p:cNvPr id="32" name="TextBox 31"/>
          <p:cNvSpPr txBox="1"/>
          <p:nvPr/>
        </p:nvSpPr>
        <p:spPr>
          <a:xfrm>
            <a:off x="694944"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check_policy and assess_duties. Retrieval with a citation on every answer.</a:t>
            </a:r>
          </a:p>
        </p:txBody>
      </p:sp>
      <p:sp>
        <p:nvSpPr>
          <p:cNvPr id="33" name="Rounded Rectangle 32"/>
          <p:cNvSpPr/>
          <p:nvPr/>
        </p:nvSpPr>
        <p:spPr>
          <a:xfrm>
            <a:off x="3694176"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22191" y="2423160"/>
            <a:ext cx="82296" cy="768096"/>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0"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Output tools</a:t>
            </a:r>
          </a:p>
        </p:txBody>
      </p:sp>
      <p:sp>
        <p:nvSpPr>
          <p:cNvPr id="36" name="TextBox 35"/>
          <p:cNvSpPr txBox="1"/>
          <p:nvPr/>
        </p:nvSpPr>
        <p:spPr>
          <a:xfrm>
            <a:off x="4023360"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build_evidence_pack assembles locally. file_fnol is the only tool that leaves the device.</a:t>
            </a:r>
          </a:p>
        </p:txBody>
      </p:sp>
      <p:sp>
        <p:nvSpPr>
          <p:cNvPr id="37" name="Rounded Rectangle 36"/>
          <p:cNvSpPr/>
          <p:nvPr/>
        </p:nvSpPr>
        <p:spPr>
          <a:xfrm>
            <a:off x="365760"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3776" y="3566160"/>
            <a:ext cx="82296" cy="768096"/>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Open-Meteo</a:t>
            </a:r>
          </a:p>
        </p:txBody>
      </p:sp>
      <p:sp>
        <p:nvSpPr>
          <p:cNvPr id="40" name="TextBox 39"/>
          <p:cNvSpPr txBox="1"/>
          <p:nvPr/>
        </p:nvSpPr>
        <p:spPr>
          <a:xfrm>
            <a:off x="694944"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Free and keyless. Conditions at that exact timestamp, not today's forecast.</a:t>
            </a:r>
          </a:p>
        </p:txBody>
      </p:sp>
      <p:sp>
        <p:nvSpPr>
          <p:cNvPr id="41" name="Rounded Rectangle 40"/>
          <p:cNvSpPr/>
          <p:nvPr/>
        </p:nvSpPr>
        <p:spPr>
          <a:xfrm>
            <a:off x="3694176"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822191" y="3566160"/>
            <a:ext cx="82296" cy="768096"/>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The registry</a:t>
            </a:r>
          </a:p>
        </p:txBody>
      </p:sp>
      <p:sp>
        <p:nvSpPr>
          <p:cNvPr id="44" name="TextBox 43"/>
          <p:cNvSpPr txBox="1"/>
          <p:nvPr/>
        </p:nvSpPr>
        <p:spPr>
          <a:xfrm>
            <a:off x="4023360"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Each tool declares an argument schema, a mode, and whether it needs approval.</a:t>
            </a:r>
          </a:p>
        </p:txBody>
      </p:sp>
      <p:sp>
        <p:nvSpPr>
          <p:cNvPr id="45" name="Rounded Rectangle 44"/>
          <p:cNvSpPr/>
          <p:nvPr/>
        </p:nvSpPr>
        <p:spPr>
          <a:xfrm>
            <a:off x="365760" y="4599431"/>
            <a:ext cx="6510527" cy="548640"/>
          </a:xfrm>
          <a:prstGeom prst="roundRect">
            <a:avLst>
              <a:gd name="adj" fmla="val 6000"/>
            </a:avLst>
          </a:prstGeom>
          <a:solidFill>
            <a:srgbClr val="FFFFFF"/>
          </a:solidFill>
          <a:ln w="12700">
            <a:solidFill>
              <a:srgbClr val="7A4F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4681727"/>
            <a:ext cx="2468880" cy="182880"/>
          </a:xfrm>
          <a:prstGeom prst="rect">
            <a:avLst/>
          </a:prstGeom>
          <a:noFill/>
        </p:spPr>
        <p:txBody>
          <a:bodyPr wrap="square" lIns="0" rIns="0" tIns="0" bIns="0" anchor="t">
            <a:spAutoFit/>
          </a:bodyPr>
          <a:lstStyle/>
          <a:p>
            <a:pPr algn="l"/>
            <a:r>
              <a:rPr sz="860" b="1" i="0">
                <a:solidFill>
                  <a:srgbClr val="7A4FA3"/>
                </a:solidFill>
                <a:latin typeface="Calibri"/>
              </a:rPr>
              <a:t>FEATURES IT DELIVERS</a:t>
            </a:r>
          </a:p>
        </p:txBody>
      </p:sp>
      <p:sp>
        <p:nvSpPr>
          <p:cNvPr id="47" name="Rounded Rectangle 46"/>
          <p:cNvSpPr/>
          <p:nvPr/>
        </p:nvSpPr>
        <p:spPr>
          <a:xfrm>
            <a:off x="3063240"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11</a:t>
            </a:r>
          </a:p>
        </p:txBody>
      </p:sp>
      <p:sp>
        <p:nvSpPr>
          <p:cNvPr id="49" name="Rounded Rectangle 48"/>
          <p:cNvSpPr/>
          <p:nvPr/>
        </p:nvSpPr>
        <p:spPr>
          <a:xfrm>
            <a:off x="3438144"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8144"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12</a:t>
            </a:r>
          </a:p>
        </p:txBody>
      </p:sp>
      <p:sp>
        <p:nvSpPr>
          <p:cNvPr id="51" name="Rounded Rectangle 50"/>
          <p:cNvSpPr/>
          <p:nvPr/>
        </p:nvSpPr>
        <p:spPr>
          <a:xfrm>
            <a:off x="3813048"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3048"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13</a:t>
            </a:r>
          </a:p>
        </p:txBody>
      </p:sp>
      <p:sp>
        <p:nvSpPr>
          <p:cNvPr id="53" name="Rounded Rectangle 52"/>
          <p:cNvSpPr/>
          <p:nvPr/>
        </p:nvSpPr>
        <p:spPr>
          <a:xfrm>
            <a:off x="4187952"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87952"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14</a:t>
            </a:r>
          </a:p>
        </p:txBody>
      </p:sp>
      <p:sp>
        <p:nvSpPr>
          <p:cNvPr id="55" name="Rounded Rectangle 54"/>
          <p:cNvSpPr/>
          <p:nvPr/>
        </p:nvSpPr>
        <p:spPr>
          <a:xfrm>
            <a:off x="4562856"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62856"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15</a:t>
            </a:r>
          </a:p>
        </p:txBody>
      </p:sp>
      <p:sp>
        <p:nvSpPr>
          <p:cNvPr id="57" name="Rounded Rectangle 56"/>
          <p:cNvSpPr/>
          <p:nvPr/>
        </p:nvSpPr>
        <p:spPr>
          <a:xfrm>
            <a:off x="4937760"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37760"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20</a:t>
            </a:r>
          </a:p>
        </p:txBody>
      </p:sp>
      <p:sp>
        <p:nvSpPr>
          <p:cNvPr id="59" name="Rounded Rectangle 58"/>
          <p:cNvSpPr/>
          <p:nvPr/>
        </p:nvSpPr>
        <p:spPr>
          <a:xfrm>
            <a:off x="5312664"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12664"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21</a:t>
            </a:r>
          </a:p>
        </p:txBody>
      </p:sp>
      <p:sp>
        <p:nvSpPr>
          <p:cNvPr id="61" name="Rounded Rectangle 60"/>
          <p:cNvSpPr/>
          <p:nvPr/>
        </p:nvSpPr>
        <p:spPr>
          <a:xfrm>
            <a:off x="5687568" y="4727447"/>
            <a:ext cx="310896" cy="274320"/>
          </a:xfrm>
          <a:prstGeom prst="roundRect">
            <a:avLst>
              <a:gd name="adj" fmla="val 40000"/>
            </a:avLst>
          </a:prstGeom>
          <a:solidFill>
            <a:srgbClr val="EFE9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87568" y="4791455"/>
            <a:ext cx="310896" cy="164592"/>
          </a:xfrm>
          <a:prstGeom prst="rect">
            <a:avLst/>
          </a:prstGeom>
          <a:noFill/>
        </p:spPr>
        <p:txBody>
          <a:bodyPr wrap="square" lIns="0" rIns="0" tIns="0" bIns="0" anchor="t">
            <a:spAutoFit/>
          </a:bodyPr>
          <a:lstStyle/>
          <a:p>
            <a:pPr algn="ctr"/>
            <a:r>
              <a:rPr sz="860" b="1" i="0">
                <a:solidFill>
                  <a:srgbClr val="7A4FA3"/>
                </a:solidFill>
                <a:latin typeface="Calibri"/>
              </a:rPr>
              <a:t>24</a:t>
            </a:r>
          </a:p>
        </p:txBody>
      </p:sp>
      <p:sp>
        <p:nvSpPr>
          <p:cNvPr id="63" name="Rounded Rectangle 62"/>
          <p:cNvSpPr/>
          <p:nvPr/>
        </p:nvSpPr>
        <p:spPr>
          <a:xfrm>
            <a:off x="365760" y="5257799"/>
            <a:ext cx="6510527" cy="1197864"/>
          </a:xfrm>
          <a:prstGeom prst="roundRect">
            <a:avLst>
              <a:gd name="adj" fmla="val 6000"/>
            </a:avLst>
          </a:prstGeom>
          <a:solidFill>
            <a:srgbClr val="FFF4F0"/>
          </a:solidFill>
          <a:ln w="12700">
            <a:solidFill>
              <a:srgbClr val="E8B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30352" y="5358383"/>
            <a:ext cx="1463040" cy="182880"/>
          </a:xfrm>
          <a:prstGeom prst="rect">
            <a:avLst/>
          </a:prstGeom>
          <a:noFill/>
        </p:spPr>
        <p:txBody>
          <a:bodyPr wrap="square" lIns="0" rIns="0" tIns="0" bIns="0" anchor="t">
            <a:spAutoFit/>
          </a:bodyPr>
          <a:lstStyle/>
          <a:p>
            <a:pPr algn="l"/>
            <a:r>
              <a:rPr sz="860" b="1" i="0">
                <a:solidFill>
                  <a:srgbClr val="A85A3C"/>
                </a:solidFill>
                <a:latin typeface="Calibri"/>
              </a:rPr>
              <a:t>IF IT FAILS</a:t>
            </a:r>
          </a:p>
        </p:txBody>
      </p:sp>
      <p:sp>
        <p:nvSpPr>
          <p:cNvPr id="65" name="TextBox 64"/>
          <p:cNvSpPr txBox="1"/>
          <p:nvPr/>
        </p:nvSpPr>
        <p:spPr>
          <a:xfrm>
            <a:off x="530352" y="5568695"/>
            <a:ext cx="6181343" cy="850392"/>
          </a:xfrm>
          <a:prstGeom prst="rect">
            <a:avLst/>
          </a:prstGeom>
          <a:noFill/>
        </p:spPr>
        <p:txBody>
          <a:bodyPr wrap="square" lIns="0" rIns="0" tIns="0" bIns="0" anchor="t">
            <a:spAutoFit/>
          </a:bodyPr>
          <a:lstStyle/>
          <a:p>
            <a:pPr algn="l">
              <a:lnSpc>
                <a:spcPct val="120000"/>
              </a:lnSpc>
            </a:pPr>
            <a:r>
              <a:rPr sz="950" b="0" i="0">
                <a:solidFill>
                  <a:srgbClr val="7A4630"/>
                </a:solidFill>
                <a:latin typeface="Calibri"/>
              </a:rPr>
              <a:t>A capture that fails verification twice is marked FAILED with a reason and the planner routes around it. Open-Meteo down means conditions are recorded as unknown, never guessed.</a:t>
            </a:r>
          </a:p>
        </p:txBody>
      </p:sp>
      <p:sp>
        <p:nvSpPr>
          <p:cNvPr id="66" name="TextBox 65"/>
          <p:cNvSpPr txBox="1"/>
          <p:nvPr/>
        </p:nvSpPr>
        <p:spPr>
          <a:xfrm>
            <a:off x="7059168"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HOW IT CONNECTS</a:t>
            </a:r>
          </a:p>
        </p:txBody>
      </p:sp>
      <p:sp>
        <p:nvSpPr>
          <p:cNvPr id="67" name="Rounded Rectangle 66"/>
          <p:cNvSpPr/>
          <p:nvPr/>
        </p:nvSpPr>
        <p:spPr>
          <a:xfrm>
            <a:off x="7059168" y="1152144"/>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187183" y="1335024"/>
            <a:ext cx="438912" cy="438912"/>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187183" y="1453896"/>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0" name="TextBox 69"/>
          <p:cNvSpPr txBox="1"/>
          <p:nvPr/>
        </p:nvSpPr>
        <p:spPr>
          <a:xfrm>
            <a:off x="7735823" y="1271016"/>
            <a:ext cx="3922776" cy="201168"/>
          </a:xfrm>
          <a:prstGeom prst="rect">
            <a:avLst/>
          </a:prstGeom>
          <a:noFill/>
        </p:spPr>
        <p:txBody>
          <a:bodyPr wrap="square" lIns="0" rIns="0" tIns="0" bIns="0" anchor="t">
            <a:spAutoFit/>
          </a:bodyPr>
          <a:lstStyle/>
          <a:p>
            <a:pPr algn="l"/>
            <a:r>
              <a:rPr sz="1050" b="1" i="0">
                <a:solidFill>
                  <a:srgbClr val="0E3A4C"/>
                </a:solidFill>
                <a:latin typeface="Calibri"/>
              </a:rPr>
              <a:t>Called only by the agent core</a:t>
            </a:r>
          </a:p>
        </p:txBody>
      </p:sp>
      <p:sp>
        <p:nvSpPr>
          <p:cNvPr id="71" name="TextBox 70"/>
          <p:cNvSpPr txBox="1"/>
          <p:nvPr/>
        </p:nvSpPr>
        <p:spPr>
          <a:xfrm>
            <a:off x="7735823" y="1499616"/>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Never by the interface, never by another tool. One caller keeps the audit trail honest.</a:t>
            </a:r>
          </a:p>
        </p:txBody>
      </p:sp>
      <p:sp>
        <p:nvSpPr>
          <p:cNvPr id="72" name="Rounded Rectangle 71"/>
          <p:cNvSpPr/>
          <p:nvPr/>
        </p:nvSpPr>
        <p:spPr>
          <a:xfrm>
            <a:off x="7059168" y="2057400"/>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7187183" y="2240280"/>
            <a:ext cx="438912" cy="438912"/>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187183" y="2359152"/>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5" name="TextBox 74"/>
          <p:cNvSpPr txBox="1"/>
          <p:nvPr/>
        </p:nvSpPr>
        <p:spPr>
          <a:xfrm>
            <a:off x="7735823" y="2176272"/>
            <a:ext cx="3922776" cy="201168"/>
          </a:xfrm>
          <a:prstGeom prst="rect">
            <a:avLst/>
          </a:prstGeom>
          <a:noFill/>
        </p:spPr>
        <p:txBody>
          <a:bodyPr wrap="square" lIns="0" rIns="0" tIns="0" bIns="0" anchor="t">
            <a:spAutoFit/>
          </a:bodyPr>
          <a:lstStyle/>
          <a:p>
            <a:pPr algn="l"/>
            <a:r>
              <a:rPr sz="1050" b="1" i="0">
                <a:solidFill>
                  <a:srgbClr val="0E3A4C"/>
                </a:solidFill>
                <a:latin typeface="Calibri"/>
              </a:rPr>
              <a:t>Reaches the device and the world</a:t>
            </a:r>
          </a:p>
        </p:txBody>
      </p:sp>
      <p:sp>
        <p:nvSpPr>
          <p:cNvPr id="76" name="TextBox 75"/>
          <p:cNvSpPr txBox="1"/>
          <p:nvPr/>
        </p:nvSpPr>
        <p:spPr>
          <a:xfrm>
            <a:off x="7735823" y="2404872"/>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Camera and GPS through layer 1, policy and duties through layer 4, weather through Open-Meteo.</a:t>
            </a:r>
          </a:p>
        </p:txBody>
      </p:sp>
      <p:sp>
        <p:nvSpPr>
          <p:cNvPr id="77" name="Rounded Rectangle 76"/>
          <p:cNvSpPr/>
          <p:nvPr/>
        </p:nvSpPr>
        <p:spPr>
          <a:xfrm>
            <a:off x="7059168" y="2962656"/>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7187183" y="3145536"/>
            <a:ext cx="438912" cy="438912"/>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187183" y="3264408"/>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80" name="TextBox 79"/>
          <p:cNvSpPr txBox="1"/>
          <p:nvPr/>
        </p:nvSpPr>
        <p:spPr>
          <a:xfrm>
            <a:off x="7735823" y="3081528"/>
            <a:ext cx="3922776" cy="201168"/>
          </a:xfrm>
          <a:prstGeom prst="rect">
            <a:avLst/>
          </a:prstGeom>
          <a:noFill/>
        </p:spPr>
        <p:txBody>
          <a:bodyPr wrap="square" lIns="0" rIns="0" tIns="0" bIns="0" anchor="t">
            <a:spAutoFit/>
          </a:bodyPr>
          <a:lstStyle/>
          <a:p>
            <a:pPr algn="l"/>
            <a:r>
              <a:rPr sz="1050" b="1" i="0">
                <a:solidFill>
                  <a:srgbClr val="0E3A4C"/>
                </a:solidFill>
                <a:latin typeface="Calibri"/>
              </a:rPr>
              <a:t>The registry IS the safety gate</a:t>
            </a:r>
          </a:p>
        </p:txBody>
      </p:sp>
      <p:sp>
        <p:nvSpPr>
          <p:cNvPr id="81" name="TextBox 80"/>
          <p:cNvSpPr txBox="1"/>
          <p:nvPr/>
        </p:nvSpPr>
        <p:spPr>
          <a:xfrm>
            <a:off x="7735823" y="3310128"/>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requires_approval is data on the tool, so the confirm node cannot be bypassed by a prompt.</a:t>
            </a:r>
          </a:p>
        </p:txBody>
      </p:sp>
      <p:sp>
        <p:nvSpPr>
          <p:cNvPr id="82" name="Rounded Rectangle 81"/>
          <p:cNvSpPr/>
          <p:nvPr/>
        </p:nvSpPr>
        <p:spPr>
          <a:xfrm>
            <a:off x="7059168" y="3959352"/>
            <a:ext cx="4764024" cy="2496311"/>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242048" y="4087368"/>
            <a:ext cx="4206240" cy="182880"/>
          </a:xfrm>
          <a:prstGeom prst="rect">
            <a:avLst/>
          </a:prstGeom>
          <a:noFill/>
        </p:spPr>
        <p:txBody>
          <a:bodyPr wrap="square" lIns="0" rIns="0" tIns="0" bIns="0" anchor="t">
            <a:spAutoFit/>
          </a:bodyPr>
          <a:lstStyle/>
          <a:p>
            <a:pPr algn="l"/>
            <a:r>
              <a:rPr sz="860" b="1" i="0">
                <a:solidFill>
                  <a:srgbClr val="463283"/>
                </a:solidFill>
                <a:latin typeface="Calibri"/>
              </a:rPr>
              <a:t>THE DECISION THAT MATTERS HERE</a:t>
            </a:r>
          </a:p>
        </p:txBody>
      </p:sp>
      <p:sp>
        <p:nvSpPr>
          <p:cNvPr id="84" name="TextBox 83"/>
          <p:cNvSpPr txBox="1"/>
          <p:nvPr/>
        </p:nvSpPr>
        <p:spPr>
          <a:xfrm>
            <a:off x="7242048" y="4343400"/>
            <a:ext cx="4398264" cy="2057400"/>
          </a:xfrm>
          <a:prstGeom prst="rect">
            <a:avLst/>
          </a:prstGeom>
          <a:noFill/>
        </p:spPr>
        <p:txBody>
          <a:bodyPr wrap="square" lIns="0" rIns="0" tIns="0" bIns="0" anchor="t">
            <a:spAutoFit/>
          </a:bodyPr>
          <a:lstStyle/>
          <a:p>
            <a:pPr algn="l">
              <a:lnSpc>
                <a:spcPct val="126000"/>
              </a:lnSpc>
            </a:pPr>
            <a:r>
              <a:rPr sz="1100" b="0" i="0">
                <a:solidFill>
                  <a:srgbClr val="0E3A4C"/>
                </a:solidFill>
                <a:latin typeface="Calibri"/>
              </a:rPr>
              <a:t>Approval is a property of the tool, declared once.
Only file_fnol leaves the phone, so only file_fnol is gated. Keeping that line sharp is what stops the confirmation becoming noise she learns to tap through.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7863840" cy="310896"/>
          </a:xfrm>
          <a:prstGeom prst="rect">
            <a:avLst/>
          </a:prstGeom>
          <a:noFill/>
        </p:spPr>
        <p:txBody>
          <a:bodyPr wrap="square" lIns="0" rIns="0" tIns="0" bIns="0" anchor="t">
            <a:spAutoFit/>
          </a:bodyPr>
          <a:lstStyle/>
          <a:p>
            <a:pPr algn="l"/>
            <a:r>
              <a:rPr sz="1800" b="1" i="0">
                <a:solidFill>
                  <a:srgbClr val="FFFFFF"/>
                </a:solidFill>
                <a:latin typeface="Cambria"/>
              </a:rPr>
              <a:t>LAYER 4  ·  KNOWLEDGE, DATA &amp; MEMORY</a:t>
            </a:r>
          </a:p>
        </p:txBody>
      </p:sp>
      <p:sp>
        <p:nvSpPr>
          <p:cNvPr id="5" name="TextBox 4"/>
          <p:cNvSpPr txBox="1"/>
          <p:nvPr/>
        </p:nvSpPr>
        <p:spPr>
          <a:xfrm>
            <a:off x="365760" y="466344"/>
            <a:ext cx="7863840" cy="201168"/>
          </a:xfrm>
          <a:prstGeom prst="rect">
            <a:avLst/>
          </a:prstGeom>
          <a:noFill/>
        </p:spPr>
        <p:txBody>
          <a:bodyPr wrap="square" lIns="0" rIns="0" tIns="0" bIns="0" anchor="t">
            <a:spAutoFit/>
          </a:bodyPr>
          <a:lstStyle/>
          <a:p>
            <a:pPr algn="l"/>
            <a:r>
              <a:rPr sz="950" b="0" i="0">
                <a:solidFill>
                  <a:srgbClr val="9FC0D0"/>
                </a:solidFill>
                <a:latin typeface="Calibri"/>
              </a:rPr>
              <a:t>One job per store.</a:t>
            </a:r>
          </a:p>
        </p:txBody>
      </p:sp>
      <p:sp>
        <p:nvSpPr>
          <p:cNvPr id="6" name="Rounded Rectangle 5"/>
          <p:cNvSpPr/>
          <p:nvPr/>
        </p:nvSpPr>
        <p:spPr>
          <a:xfrm>
            <a:off x="8796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96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1</a:t>
            </a:r>
          </a:p>
        </p:txBody>
      </p:sp>
      <p:sp>
        <p:nvSpPr>
          <p:cNvPr id="8" name="Rounded Rectangle 7"/>
          <p:cNvSpPr/>
          <p:nvPr/>
        </p:nvSpPr>
        <p:spPr>
          <a:xfrm>
            <a:off x="9253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2</a:t>
            </a:r>
          </a:p>
        </p:txBody>
      </p:sp>
      <p:sp>
        <p:nvSpPr>
          <p:cNvPr id="10" name="Rounded Rectangle 9"/>
          <p:cNvSpPr/>
          <p:nvPr/>
        </p:nvSpPr>
        <p:spPr>
          <a:xfrm>
            <a:off x="97109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9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3</a:t>
            </a:r>
          </a:p>
        </p:txBody>
      </p:sp>
      <p:sp>
        <p:nvSpPr>
          <p:cNvPr id="12" name="Rounded Rectangle 11"/>
          <p:cNvSpPr/>
          <p:nvPr/>
        </p:nvSpPr>
        <p:spPr>
          <a:xfrm>
            <a:off x="10168128" y="274320"/>
            <a:ext cx="384048" cy="237744"/>
          </a:xfrm>
          <a:prstGeom prst="roundRect">
            <a:avLst>
              <a:gd name="adj" fmla="val 35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333756"/>
            <a:ext cx="384048" cy="146304"/>
          </a:xfrm>
          <a:prstGeom prst="rect">
            <a:avLst/>
          </a:prstGeom>
          <a:noFill/>
        </p:spPr>
        <p:txBody>
          <a:bodyPr wrap="square" lIns="0" rIns="0" tIns="0" bIns="0" anchor="t">
            <a:spAutoFit/>
          </a:bodyPr>
          <a:lstStyle/>
          <a:p>
            <a:pPr algn="ctr"/>
            <a:r>
              <a:rPr sz="800" b="1" i="0">
                <a:solidFill>
                  <a:srgbClr val="FFFFFF"/>
                </a:solidFill>
                <a:latin typeface="Calibri"/>
              </a:rPr>
              <a:t>4</a:t>
            </a:r>
          </a:p>
        </p:txBody>
      </p:sp>
      <p:sp>
        <p:nvSpPr>
          <p:cNvPr id="14" name="Rounded Rectangle 13"/>
          <p:cNvSpPr/>
          <p:nvPr/>
        </p:nvSpPr>
        <p:spPr>
          <a:xfrm>
            <a:off x="106253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53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5</a:t>
            </a:r>
          </a:p>
        </p:txBody>
      </p:sp>
      <p:sp>
        <p:nvSpPr>
          <p:cNvPr id="16" name="Rounded Rectangle 15"/>
          <p:cNvSpPr/>
          <p:nvPr/>
        </p:nvSpPr>
        <p:spPr>
          <a:xfrm>
            <a:off x="11082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82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6</a:t>
            </a:r>
          </a:p>
        </p:txBody>
      </p:sp>
      <p:sp>
        <p:nvSpPr>
          <p:cNvPr id="18" name="Rounded Rectangle 17"/>
          <p:cNvSpPr/>
          <p:nvPr/>
        </p:nvSpPr>
        <p:spPr>
          <a:xfrm>
            <a:off x="11539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39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7</a:t>
            </a:r>
          </a:p>
        </p:txBody>
      </p:sp>
      <p:sp>
        <p:nvSpPr>
          <p:cNvPr id="20" name="TextBox 19"/>
          <p:cNvSpPr txBox="1"/>
          <p:nvPr/>
        </p:nvSpPr>
        <p:spPr>
          <a:xfrm>
            <a:off x="365760"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WHAT THIS LAYER CARRIES</a:t>
            </a:r>
          </a:p>
        </p:txBody>
      </p:sp>
      <p:sp>
        <p:nvSpPr>
          <p:cNvPr id="21" name="Rounded Rectangle 20"/>
          <p:cNvSpPr/>
          <p:nvPr/>
        </p:nvSpPr>
        <p:spPr>
          <a:xfrm>
            <a:off x="365760"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 y="1280160"/>
            <a:ext cx="82296" cy="768096"/>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Pinecone · policy</a:t>
            </a:r>
          </a:p>
        </p:txBody>
      </p:sp>
      <p:sp>
        <p:nvSpPr>
          <p:cNvPr id="24" name="TextBox 23"/>
          <p:cNvSpPr txBox="1"/>
          <p:nvPr/>
        </p:nvSpPr>
        <p:spPr>
          <a:xfrm>
            <a:off x="694944"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Her excess, protected no-claims, and the 24-hour notification clause nobody reads.</a:t>
            </a:r>
          </a:p>
        </p:txBody>
      </p:sp>
      <p:sp>
        <p:nvSpPr>
          <p:cNvPr id="25" name="Rounded Rectangle 24"/>
          <p:cNvSpPr/>
          <p:nvPr/>
        </p:nvSpPr>
        <p:spPr>
          <a:xfrm>
            <a:off x="3694176"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22191" y="1280160"/>
            <a:ext cx="82296" cy="768096"/>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Pinecone · duties</a:t>
            </a:r>
          </a:p>
        </p:txBody>
      </p:sp>
      <p:sp>
        <p:nvSpPr>
          <p:cNvPr id="28" name="TextBox 27"/>
          <p:cNvSpPr txBox="1"/>
          <p:nvPr/>
        </p:nvSpPr>
        <p:spPr>
          <a:xfrm>
            <a:off x="4023360"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When police must attend, the duty to exchange details, private-land rules, reporting windows.</a:t>
            </a:r>
          </a:p>
        </p:txBody>
      </p:sp>
      <p:sp>
        <p:nvSpPr>
          <p:cNvPr id="29" name="Rounded Rectangle 28"/>
          <p:cNvSpPr/>
          <p:nvPr/>
        </p:nvSpPr>
        <p:spPr>
          <a:xfrm>
            <a:off x="365760"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2423160"/>
            <a:ext cx="82296" cy="768096"/>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Pinecone · intake</a:t>
            </a:r>
          </a:p>
        </p:txBody>
      </p:sp>
      <p:sp>
        <p:nvSpPr>
          <p:cNvPr id="32" name="TextBox 31"/>
          <p:cNvSpPr txBox="1"/>
          <p:nvPr/>
        </p:nvSpPr>
        <p:spPr>
          <a:xfrm>
            <a:off x="694944"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The fields and photographs the claim form actually demands. This drives completeness.</a:t>
            </a:r>
          </a:p>
        </p:txBody>
      </p:sp>
      <p:sp>
        <p:nvSpPr>
          <p:cNvPr id="33" name="Rounded Rectangle 32"/>
          <p:cNvSpPr/>
          <p:nvPr/>
        </p:nvSpPr>
        <p:spPr>
          <a:xfrm>
            <a:off x="3694176"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22191" y="2423160"/>
            <a:ext cx="82296" cy="768096"/>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0"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Pinecone · denials</a:t>
            </a:r>
          </a:p>
        </p:txBody>
      </p:sp>
      <p:sp>
        <p:nvSpPr>
          <p:cNvPr id="36" name="TextBox 35"/>
          <p:cNvSpPr txBox="1"/>
          <p:nvPr/>
        </p:nvSpPr>
        <p:spPr>
          <a:xfrm>
            <a:off x="4023360"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Why claims genuinely fail — admitted liability, cars moved, no witness details.</a:t>
            </a:r>
          </a:p>
        </p:txBody>
      </p:sp>
      <p:sp>
        <p:nvSpPr>
          <p:cNvPr id="37" name="Rounded Rectangle 36"/>
          <p:cNvSpPr/>
          <p:nvPr/>
        </p:nvSpPr>
        <p:spPr>
          <a:xfrm>
            <a:off x="365760"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3776" y="3566160"/>
            <a:ext cx="82296" cy="768096"/>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SQLite</a:t>
            </a:r>
          </a:p>
        </p:txBody>
      </p:sp>
      <p:sp>
        <p:nvSpPr>
          <p:cNvPr id="40" name="TextBox 39"/>
          <p:cNvSpPr txBox="1"/>
          <p:nvPr/>
        </p:nvSpPr>
        <p:spPr>
          <a:xfrm>
            <a:off x="694944"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Evidence ledger, scene clock, her profile and past incidents. Exact and queryable.</a:t>
            </a:r>
          </a:p>
        </p:txBody>
      </p:sp>
      <p:sp>
        <p:nvSpPr>
          <p:cNvPr id="41" name="Rounded Rectangle 40"/>
          <p:cNvSpPr/>
          <p:nvPr/>
        </p:nvSpPr>
        <p:spPr>
          <a:xfrm>
            <a:off x="3694176"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822191" y="3566160"/>
            <a:ext cx="82296" cy="768096"/>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Domain pack</a:t>
            </a:r>
          </a:p>
        </p:txBody>
      </p:sp>
      <p:sp>
        <p:nvSpPr>
          <p:cNvPr id="44" name="TextBox 43"/>
          <p:cNvSpPr txBox="1"/>
          <p:nvPr/>
        </p:nvSpPr>
        <p:spPr>
          <a:xfrm>
            <a:off x="4023360"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Evidence catalogue, scene events, hard-stop and speech rules. Read-only at runtime.</a:t>
            </a:r>
          </a:p>
        </p:txBody>
      </p:sp>
      <p:sp>
        <p:nvSpPr>
          <p:cNvPr id="45" name="Rounded Rectangle 44"/>
          <p:cNvSpPr/>
          <p:nvPr/>
        </p:nvSpPr>
        <p:spPr>
          <a:xfrm>
            <a:off x="365760" y="4599431"/>
            <a:ext cx="6510527" cy="548640"/>
          </a:xfrm>
          <a:prstGeom prst="roundRect">
            <a:avLst>
              <a:gd name="adj" fmla="val 6000"/>
            </a:avLst>
          </a:prstGeom>
          <a:solidFill>
            <a:srgbClr val="FFFFFF"/>
          </a:solidFill>
          <a:ln w="12700">
            <a:solidFill>
              <a:srgbClr val="2E7D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4681727"/>
            <a:ext cx="2468880" cy="182880"/>
          </a:xfrm>
          <a:prstGeom prst="rect">
            <a:avLst/>
          </a:prstGeom>
          <a:noFill/>
        </p:spPr>
        <p:txBody>
          <a:bodyPr wrap="square" lIns="0" rIns="0" tIns="0" bIns="0" anchor="t">
            <a:spAutoFit/>
          </a:bodyPr>
          <a:lstStyle/>
          <a:p>
            <a:pPr algn="l"/>
            <a:r>
              <a:rPr sz="860" b="1" i="0">
                <a:solidFill>
                  <a:srgbClr val="2E7D52"/>
                </a:solidFill>
                <a:latin typeface="Calibri"/>
              </a:rPr>
              <a:t>FEATURES IT DELIVERS</a:t>
            </a:r>
          </a:p>
        </p:txBody>
      </p:sp>
      <p:sp>
        <p:nvSpPr>
          <p:cNvPr id="47" name="Rounded Rectangle 46"/>
          <p:cNvSpPr/>
          <p:nvPr/>
        </p:nvSpPr>
        <p:spPr>
          <a:xfrm>
            <a:off x="3063240"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1</a:t>
            </a:r>
          </a:p>
        </p:txBody>
      </p:sp>
      <p:sp>
        <p:nvSpPr>
          <p:cNvPr id="49" name="Rounded Rectangle 48"/>
          <p:cNvSpPr/>
          <p:nvPr/>
        </p:nvSpPr>
        <p:spPr>
          <a:xfrm>
            <a:off x="3438144"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8144"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2</a:t>
            </a:r>
          </a:p>
        </p:txBody>
      </p:sp>
      <p:sp>
        <p:nvSpPr>
          <p:cNvPr id="51" name="Rounded Rectangle 50"/>
          <p:cNvSpPr/>
          <p:nvPr/>
        </p:nvSpPr>
        <p:spPr>
          <a:xfrm>
            <a:off x="3813048"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3048"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9</a:t>
            </a:r>
          </a:p>
        </p:txBody>
      </p:sp>
      <p:sp>
        <p:nvSpPr>
          <p:cNvPr id="53" name="Rounded Rectangle 52"/>
          <p:cNvSpPr/>
          <p:nvPr/>
        </p:nvSpPr>
        <p:spPr>
          <a:xfrm>
            <a:off x="4187952"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87952"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16</a:t>
            </a:r>
          </a:p>
        </p:txBody>
      </p:sp>
      <p:sp>
        <p:nvSpPr>
          <p:cNvPr id="55" name="Rounded Rectangle 54"/>
          <p:cNvSpPr/>
          <p:nvPr/>
        </p:nvSpPr>
        <p:spPr>
          <a:xfrm>
            <a:off x="4562856"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62856"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17</a:t>
            </a:r>
          </a:p>
        </p:txBody>
      </p:sp>
      <p:sp>
        <p:nvSpPr>
          <p:cNvPr id="57" name="Rounded Rectangle 56"/>
          <p:cNvSpPr/>
          <p:nvPr/>
        </p:nvSpPr>
        <p:spPr>
          <a:xfrm>
            <a:off x="4937760"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37760"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21</a:t>
            </a:r>
          </a:p>
        </p:txBody>
      </p:sp>
      <p:sp>
        <p:nvSpPr>
          <p:cNvPr id="59" name="Rounded Rectangle 58"/>
          <p:cNvSpPr/>
          <p:nvPr/>
        </p:nvSpPr>
        <p:spPr>
          <a:xfrm>
            <a:off x="5312664"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12664"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23</a:t>
            </a:r>
          </a:p>
        </p:txBody>
      </p:sp>
      <p:sp>
        <p:nvSpPr>
          <p:cNvPr id="61" name="Rounded Rectangle 60"/>
          <p:cNvSpPr/>
          <p:nvPr/>
        </p:nvSpPr>
        <p:spPr>
          <a:xfrm>
            <a:off x="5687568"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687568"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25</a:t>
            </a:r>
          </a:p>
        </p:txBody>
      </p:sp>
      <p:sp>
        <p:nvSpPr>
          <p:cNvPr id="63" name="Rounded Rectangle 62"/>
          <p:cNvSpPr/>
          <p:nvPr/>
        </p:nvSpPr>
        <p:spPr>
          <a:xfrm>
            <a:off x="6062472"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062472"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26</a:t>
            </a:r>
          </a:p>
        </p:txBody>
      </p:sp>
      <p:sp>
        <p:nvSpPr>
          <p:cNvPr id="65" name="Rounded Rectangle 64"/>
          <p:cNvSpPr/>
          <p:nvPr/>
        </p:nvSpPr>
        <p:spPr>
          <a:xfrm>
            <a:off x="6437376"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37376"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29</a:t>
            </a:r>
          </a:p>
        </p:txBody>
      </p:sp>
      <p:sp>
        <p:nvSpPr>
          <p:cNvPr id="67" name="Rounded Rectangle 66"/>
          <p:cNvSpPr/>
          <p:nvPr/>
        </p:nvSpPr>
        <p:spPr>
          <a:xfrm>
            <a:off x="6812280" y="4727447"/>
            <a:ext cx="310896" cy="274320"/>
          </a:xfrm>
          <a:prstGeom prst="roundRect">
            <a:avLst>
              <a:gd name="adj" fmla="val 40000"/>
            </a:avLst>
          </a:prstGeom>
          <a:solidFill>
            <a:srgbClr val="E5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812280" y="4791455"/>
            <a:ext cx="310896" cy="164592"/>
          </a:xfrm>
          <a:prstGeom prst="rect">
            <a:avLst/>
          </a:prstGeom>
          <a:noFill/>
        </p:spPr>
        <p:txBody>
          <a:bodyPr wrap="square" lIns="0" rIns="0" tIns="0" bIns="0" anchor="t">
            <a:spAutoFit/>
          </a:bodyPr>
          <a:lstStyle/>
          <a:p>
            <a:pPr algn="ctr"/>
            <a:r>
              <a:rPr sz="860" b="1" i="0">
                <a:solidFill>
                  <a:srgbClr val="2E7D52"/>
                </a:solidFill>
                <a:latin typeface="Calibri"/>
              </a:rPr>
              <a:t>30</a:t>
            </a:r>
          </a:p>
        </p:txBody>
      </p:sp>
      <p:sp>
        <p:nvSpPr>
          <p:cNvPr id="69" name="Rounded Rectangle 68"/>
          <p:cNvSpPr/>
          <p:nvPr/>
        </p:nvSpPr>
        <p:spPr>
          <a:xfrm>
            <a:off x="365760" y="5257799"/>
            <a:ext cx="6510527" cy="1197864"/>
          </a:xfrm>
          <a:prstGeom prst="roundRect">
            <a:avLst>
              <a:gd name="adj" fmla="val 6000"/>
            </a:avLst>
          </a:prstGeom>
          <a:solidFill>
            <a:srgbClr val="FFF4F0"/>
          </a:solidFill>
          <a:ln w="12700">
            <a:solidFill>
              <a:srgbClr val="E8B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0352" y="5358383"/>
            <a:ext cx="1463040" cy="182880"/>
          </a:xfrm>
          <a:prstGeom prst="rect">
            <a:avLst/>
          </a:prstGeom>
          <a:noFill/>
        </p:spPr>
        <p:txBody>
          <a:bodyPr wrap="square" lIns="0" rIns="0" tIns="0" bIns="0" anchor="t">
            <a:spAutoFit/>
          </a:bodyPr>
          <a:lstStyle/>
          <a:p>
            <a:pPr algn="l"/>
            <a:r>
              <a:rPr sz="860" b="1" i="0">
                <a:solidFill>
                  <a:srgbClr val="A85A3C"/>
                </a:solidFill>
                <a:latin typeface="Calibri"/>
              </a:rPr>
              <a:t>IF IT FAILS</a:t>
            </a:r>
          </a:p>
        </p:txBody>
      </p:sp>
      <p:sp>
        <p:nvSpPr>
          <p:cNvPr id="71" name="TextBox 70"/>
          <p:cNvSpPr txBox="1"/>
          <p:nvPr/>
        </p:nvSpPr>
        <p:spPr>
          <a:xfrm>
            <a:off x="530352" y="5568695"/>
            <a:ext cx="6181343" cy="850392"/>
          </a:xfrm>
          <a:prstGeom prst="rect">
            <a:avLst/>
          </a:prstGeom>
          <a:noFill/>
        </p:spPr>
        <p:txBody>
          <a:bodyPr wrap="square" lIns="0" rIns="0" tIns="0" bIns="0" anchor="t">
            <a:spAutoFit/>
          </a:bodyPr>
          <a:lstStyle/>
          <a:p>
            <a:pPr algn="l">
              <a:lnSpc>
                <a:spcPct val="120000"/>
              </a:lnSpc>
            </a:pPr>
            <a:r>
              <a:rPr sz="950" b="0" i="0">
                <a:solidFill>
                  <a:srgbClr val="7A4630"/>
                </a:solidFill>
                <a:latin typeface="Calibri"/>
              </a:rPr>
              <a:t>If Pinecone is unreachable the agent serves the pre-warmed slice already in state and refuses ad-hoc questions rather than improvising. It degrades toward silence, never toward invention.</a:t>
            </a:r>
          </a:p>
        </p:txBody>
      </p:sp>
      <p:sp>
        <p:nvSpPr>
          <p:cNvPr id="72" name="TextBox 71"/>
          <p:cNvSpPr txBox="1"/>
          <p:nvPr/>
        </p:nvSpPr>
        <p:spPr>
          <a:xfrm>
            <a:off x="7059168"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HOW IT CONNECTS</a:t>
            </a:r>
          </a:p>
        </p:txBody>
      </p:sp>
      <p:sp>
        <p:nvSpPr>
          <p:cNvPr id="73" name="Rounded Rectangle 72"/>
          <p:cNvSpPr/>
          <p:nvPr/>
        </p:nvSpPr>
        <p:spPr>
          <a:xfrm>
            <a:off x="7059168" y="1152144"/>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7187183" y="1335024"/>
            <a:ext cx="438912" cy="438912"/>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87183" y="1453896"/>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6" name="TextBox 75"/>
          <p:cNvSpPr txBox="1"/>
          <p:nvPr/>
        </p:nvSpPr>
        <p:spPr>
          <a:xfrm>
            <a:off x="7735823" y="1271016"/>
            <a:ext cx="3922776" cy="201168"/>
          </a:xfrm>
          <a:prstGeom prst="rect">
            <a:avLst/>
          </a:prstGeom>
          <a:noFill/>
        </p:spPr>
        <p:txBody>
          <a:bodyPr wrap="square" lIns="0" rIns="0" tIns="0" bIns="0" anchor="t">
            <a:spAutoFit/>
          </a:bodyPr>
          <a:lstStyle/>
          <a:p>
            <a:pPr algn="l"/>
            <a:r>
              <a:rPr sz="1050" b="1" i="0">
                <a:solidFill>
                  <a:srgbClr val="0E3A4C"/>
                </a:solidFill>
                <a:latin typeface="Calibri"/>
              </a:rPr>
              <a:t>Pre-warmed at scene open</a:t>
            </a:r>
          </a:p>
        </p:txBody>
      </p:sp>
      <p:sp>
        <p:nvSpPr>
          <p:cNvPr id="77" name="TextBox 76"/>
          <p:cNvSpPr txBox="1"/>
          <p:nvPr/>
        </p:nvSpPr>
        <p:spPr>
          <a:xfrm>
            <a:off x="7735823" y="1499616"/>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Policy and duties are fetched once, before the crisis work starts. There is no time to search mid-instruction.</a:t>
            </a:r>
          </a:p>
        </p:txBody>
      </p:sp>
      <p:sp>
        <p:nvSpPr>
          <p:cNvPr id="78" name="Rounded Rectangle 77"/>
          <p:cNvSpPr/>
          <p:nvPr/>
        </p:nvSpPr>
        <p:spPr>
          <a:xfrm>
            <a:off x="7059168" y="2057400"/>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7187183" y="2240280"/>
            <a:ext cx="438912" cy="438912"/>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187183" y="2359152"/>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81" name="TextBox 80"/>
          <p:cNvSpPr txBox="1"/>
          <p:nvPr/>
        </p:nvSpPr>
        <p:spPr>
          <a:xfrm>
            <a:off x="7735823" y="2176272"/>
            <a:ext cx="3922776" cy="201168"/>
          </a:xfrm>
          <a:prstGeom prst="rect">
            <a:avLst/>
          </a:prstGeom>
          <a:noFill/>
        </p:spPr>
        <p:txBody>
          <a:bodyPr wrap="square" lIns="0" rIns="0" tIns="0" bIns="0" anchor="t">
            <a:spAutoFit/>
          </a:bodyPr>
          <a:lstStyle/>
          <a:p>
            <a:pPr algn="l"/>
            <a:r>
              <a:rPr sz="1050" b="1" i="0">
                <a:solidFill>
                  <a:srgbClr val="0E3A4C"/>
                </a:solidFill>
                <a:latin typeface="Calibri"/>
              </a:rPr>
              <a:t>Embeddings come from Nebius</a:t>
            </a:r>
          </a:p>
        </p:txBody>
      </p:sp>
      <p:sp>
        <p:nvSpPr>
          <p:cNvPr id="82" name="TextBox 81"/>
          <p:cNvSpPr txBox="1"/>
          <p:nvPr/>
        </p:nvSpPr>
        <p:spPr>
          <a:xfrm>
            <a:off x="7735823" y="2404872"/>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The same provider indexes the corpora and embeds the query, so both sides of retrieval match.</a:t>
            </a:r>
          </a:p>
        </p:txBody>
      </p:sp>
      <p:sp>
        <p:nvSpPr>
          <p:cNvPr id="83" name="Rounded Rectangle 82"/>
          <p:cNvSpPr/>
          <p:nvPr/>
        </p:nvSpPr>
        <p:spPr>
          <a:xfrm>
            <a:off x="7059168" y="2962656"/>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187183" y="3145536"/>
            <a:ext cx="438912" cy="438912"/>
          </a:xfrm>
          <a:prstGeom prst="roundRect">
            <a:avLst>
              <a:gd name="adj" fmla="val 50000"/>
            </a:avLst>
          </a:prstGeom>
          <a:solidFill>
            <a:srgbClr val="2E7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187183" y="3264408"/>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86" name="TextBox 85"/>
          <p:cNvSpPr txBox="1"/>
          <p:nvPr/>
        </p:nvSpPr>
        <p:spPr>
          <a:xfrm>
            <a:off x="7735823" y="3081528"/>
            <a:ext cx="3922776" cy="201168"/>
          </a:xfrm>
          <a:prstGeom prst="rect">
            <a:avLst/>
          </a:prstGeom>
          <a:noFill/>
        </p:spPr>
        <p:txBody>
          <a:bodyPr wrap="square" lIns="0" rIns="0" tIns="0" bIns="0" anchor="t">
            <a:spAutoFit/>
          </a:bodyPr>
          <a:lstStyle/>
          <a:p>
            <a:pPr algn="l"/>
            <a:r>
              <a:rPr sz="1050" b="1" i="0">
                <a:solidFill>
                  <a:srgbClr val="0E3A4C"/>
                </a:solidFill>
                <a:latin typeface="Calibri"/>
              </a:rPr>
              <a:t>Every chunk carries provenance</a:t>
            </a:r>
          </a:p>
        </p:txBody>
      </p:sp>
      <p:sp>
        <p:nvSpPr>
          <p:cNvPr id="87" name="TextBox 86"/>
          <p:cNvSpPr txBox="1"/>
          <p:nvPr/>
        </p:nvSpPr>
        <p:spPr>
          <a:xfrm>
            <a:off x="7735823" y="3310128"/>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Namespace, document, section, text. An assertion without a citation is a defect, scored at 100%.</a:t>
            </a:r>
          </a:p>
        </p:txBody>
      </p:sp>
      <p:sp>
        <p:nvSpPr>
          <p:cNvPr id="88" name="Rounded Rectangle 87"/>
          <p:cNvSpPr/>
          <p:nvPr/>
        </p:nvSpPr>
        <p:spPr>
          <a:xfrm>
            <a:off x="7059168" y="3959352"/>
            <a:ext cx="4764024" cy="2496311"/>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242048" y="4087368"/>
            <a:ext cx="4206240" cy="182880"/>
          </a:xfrm>
          <a:prstGeom prst="rect">
            <a:avLst/>
          </a:prstGeom>
          <a:noFill/>
        </p:spPr>
        <p:txBody>
          <a:bodyPr wrap="square" lIns="0" rIns="0" tIns="0" bIns="0" anchor="t">
            <a:spAutoFit/>
          </a:bodyPr>
          <a:lstStyle/>
          <a:p>
            <a:pPr algn="l"/>
            <a:r>
              <a:rPr sz="860" b="1" i="0">
                <a:solidFill>
                  <a:srgbClr val="463283"/>
                </a:solidFill>
                <a:latin typeface="Calibri"/>
              </a:rPr>
              <a:t>THE DECISION THAT MATTERS HERE</a:t>
            </a:r>
          </a:p>
        </p:txBody>
      </p:sp>
      <p:sp>
        <p:nvSpPr>
          <p:cNvPr id="90" name="TextBox 89"/>
          <p:cNvSpPr txBox="1"/>
          <p:nvPr/>
        </p:nvSpPr>
        <p:spPr>
          <a:xfrm>
            <a:off x="7242048" y="4343400"/>
            <a:ext cx="4398264" cy="2057400"/>
          </a:xfrm>
          <a:prstGeom prst="rect">
            <a:avLst/>
          </a:prstGeom>
          <a:noFill/>
        </p:spPr>
        <p:txBody>
          <a:bodyPr wrap="square" lIns="0" rIns="0" tIns="0" bIns="0" anchor="t">
            <a:spAutoFit/>
          </a:bodyPr>
          <a:lstStyle/>
          <a:p>
            <a:pPr algn="l">
              <a:lnSpc>
                <a:spcPct val="126000"/>
              </a:lnSpc>
            </a:pPr>
            <a:r>
              <a:rPr sz="1100" b="0" i="0">
                <a:solidFill>
                  <a:srgbClr val="0E3A4C"/>
                </a:solidFill>
                <a:latin typeface="Calibri"/>
              </a:rPr>
              <a:t>Pinecone holds knowledge. SQLite holds numbers and structure. The pack holds the domain.
A completeness count is arithmetic, and arithmetic does not belong in a component that returns nearest neighbours.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7863840" cy="310896"/>
          </a:xfrm>
          <a:prstGeom prst="rect">
            <a:avLst/>
          </a:prstGeom>
          <a:noFill/>
        </p:spPr>
        <p:txBody>
          <a:bodyPr wrap="square" lIns="0" rIns="0" tIns="0" bIns="0" anchor="t">
            <a:spAutoFit/>
          </a:bodyPr>
          <a:lstStyle/>
          <a:p>
            <a:pPr algn="l"/>
            <a:r>
              <a:rPr sz="1800" b="1" i="0">
                <a:solidFill>
                  <a:srgbClr val="FFFFFF"/>
                </a:solidFill>
                <a:latin typeface="Cambria"/>
              </a:rPr>
              <a:t>LAYER 5  ·  MODEL PROVIDER &amp; CLOUD INFERENCE</a:t>
            </a:r>
          </a:p>
        </p:txBody>
      </p:sp>
      <p:sp>
        <p:nvSpPr>
          <p:cNvPr id="5" name="TextBox 4"/>
          <p:cNvSpPr txBox="1"/>
          <p:nvPr/>
        </p:nvSpPr>
        <p:spPr>
          <a:xfrm>
            <a:off x="365760" y="466344"/>
            <a:ext cx="7863840" cy="201168"/>
          </a:xfrm>
          <a:prstGeom prst="rect">
            <a:avLst/>
          </a:prstGeom>
          <a:noFill/>
        </p:spPr>
        <p:txBody>
          <a:bodyPr wrap="square" lIns="0" rIns="0" tIns="0" bIns="0" anchor="t">
            <a:spAutoFit/>
          </a:bodyPr>
          <a:lstStyle/>
          <a:p>
            <a:pPr algn="l"/>
            <a:r>
              <a:rPr sz="950" b="0" i="0">
                <a:solidFill>
                  <a:srgbClr val="9FC0D0"/>
                </a:solidFill>
                <a:latin typeface="Calibri"/>
              </a:rPr>
              <a:t>Nebius. Two tiers, chosen per node.</a:t>
            </a:r>
          </a:p>
        </p:txBody>
      </p:sp>
      <p:sp>
        <p:nvSpPr>
          <p:cNvPr id="6" name="Rounded Rectangle 5"/>
          <p:cNvSpPr/>
          <p:nvPr/>
        </p:nvSpPr>
        <p:spPr>
          <a:xfrm>
            <a:off x="8796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96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1</a:t>
            </a:r>
          </a:p>
        </p:txBody>
      </p:sp>
      <p:sp>
        <p:nvSpPr>
          <p:cNvPr id="8" name="Rounded Rectangle 7"/>
          <p:cNvSpPr/>
          <p:nvPr/>
        </p:nvSpPr>
        <p:spPr>
          <a:xfrm>
            <a:off x="9253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2</a:t>
            </a:r>
          </a:p>
        </p:txBody>
      </p:sp>
      <p:sp>
        <p:nvSpPr>
          <p:cNvPr id="10" name="Rounded Rectangle 9"/>
          <p:cNvSpPr/>
          <p:nvPr/>
        </p:nvSpPr>
        <p:spPr>
          <a:xfrm>
            <a:off x="97109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9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3</a:t>
            </a:r>
          </a:p>
        </p:txBody>
      </p:sp>
      <p:sp>
        <p:nvSpPr>
          <p:cNvPr id="12" name="Rounded Rectangle 11"/>
          <p:cNvSpPr/>
          <p:nvPr/>
        </p:nvSpPr>
        <p:spPr>
          <a:xfrm>
            <a:off x="101681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4</a:t>
            </a:r>
          </a:p>
        </p:txBody>
      </p:sp>
      <p:sp>
        <p:nvSpPr>
          <p:cNvPr id="14" name="Rounded Rectangle 13"/>
          <p:cNvSpPr/>
          <p:nvPr/>
        </p:nvSpPr>
        <p:spPr>
          <a:xfrm>
            <a:off x="10625328" y="274320"/>
            <a:ext cx="384048" cy="237744"/>
          </a:xfrm>
          <a:prstGeom prst="roundRect">
            <a:avLst>
              <a:gd name="adj" fmla="val 35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5328" y="333756"/>
            <a:ext cx="384048" cy="146304"/>
          </a:xfrm>
          <a:prstGeom prst="rect">
            <a:avLst/>
          </a:prstGeom>
          <a:noFill/>
        </p:spPr>
        <p:txBody>
          <a:bodyPr wrap="square" lIns="0" rIns="0" tIns="0" bIns="0" anchor="t">
            <a:spAutoFit/>
          </a:bodyPr>
          <a:lstStyle/>
          <a:p>
            <a:pPr algn="ctr"/>
            <a:r>
              <a:rPr sz="800" b="1" i="0">
                <a:solidFill>
                  <a:srgbClr val="FFFFFF"/>
                </a:solidFill>
                <a:latin typeface="Calibri"/>
              </a:rPr>
              <a:t>5</a:t>
            </a:r>
          </a:p>
        </p:txBody>
      </p:sp>
      <p:sp>
        <p:nvSpPr>
          <p:cNvPr id="16" name="Rounded Rectangle 15"/>
          <p:cNvSpPr/>
          <p:nvPr/>
        </p:nvSpPr>
        <p:spPr>
          <a:xfrm>
            <a:off x="11082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82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6</a:t>
            </a:r>
          </a:p>
        </p:txBody>
      </p:sp>
      <p:sp>
        <p:nvSpPr>
          <p:cNvPr id="18" name="Rounded Rectangle 17"/>
          <p:cNvSpPr/>
          <p:nvPr/>
        </p:nvSpPr>
        <p:spPr>
          <a:xfrm>
            <a:off x="11539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39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7</a:t>
            </a:r>
          </a:p>
        </p:txBody>
      </p:sp>
      <p:sp>
        <p:nvSpPr>
          <p:cNvPr id="20" name="TextBox 19"/>
          <p:cNvSpPr txBox="1"/>
          <p:nvPr/>
        </p:nvSpPr>
        <p:spPr>
          <a:xfrm>
            <a:off x="365760"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WHAT THIS LAYER CARRIES</a:t>
            </a:r>
          </a:p>
        </p:txBody>
      </p:sp>
      <p:sp>
        <p:nvSpPr>
          <p:cNvPr id="21" name="Rounded Rectangle 20"/>
          <p:cNvSpPr/>
          <p:nvPr/>
        </p:nvSpPr>
        <p:spPr>
          <a:xfrm>
            <a:off x="365760"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 y="1280160"/>
            <a:ext cx="82296" cy="768096"/>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Fast tier</a:t>
            </a:r>
          </a:p>
        </p:txBody>
      </p:sp>
      <p:sp>
        <p:nvSpPr>
          <p:cNvPr id="24" name="TextBox 23"/>
          <p:cNvSpPr txBox="1"/>
          <p:nvPr/>
        </p:nvSpPr>
        <p:spPr>
          <a:xfrm>
            <a:off x="694944"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Runs on every turn: the guard's classifier, interpretation, and wording. Inside the 2.5s budget.</a:t>
            </a:r>
          </a:p>
        </p:txBody>
      </p:sp>
      <p:sp>
        <p:nvSpPr>
          <p:cNvPr id="25" name="Rounded Rectangle 24"/>
          <p:cNvSpPr/>
          <p:nvPr/>
        </p:nvSpPr>
        <p:spPr>
          <a:xfrm>
            <a:off x="3694176"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22191" y="1280160"/>
            <a:ext cx="82296" cy="768096"/>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Reason tier</a:t>
            </a:r>
          </a:p>
        </p:txBody>
      </p:sp>
      <p:sp>
        <p:nvSpPr>
          <p:cNvPr id="28" name="TextBox 27"/>
          <p:cNvSpPr txBox="1"/>
          <p:nvPr/>
        </p:nvSpPr>
        <p:spPr>
          <a:xfrm>
            <a:off x="4023360"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Off the critical path: answering a question, assessing duties, assembling the pack.</a:t>
            </a:r>
          </a:p>
        </p:txBody>
      </p:sp>
      <p:sp>
        <p:nvSpPr>
          <p:cNvPr id="29" name="Rounded Rectangle 28"/>
          <p:cNvSpPr/>
          <p:nvPr/>
        </p:nvSpPr>
        <p:spPr>
          <a:xfrm>
            <a:off x="365760"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2423160"/>
            <a:ext cx="82296" cy="768096"/>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Embeddings</a:t>
            </a:r>
          </a:p>
        </p:txBody>
      </p:sp>
      <p:sp>
        <p:nvSpPr>
          <p:cNvPr id="32" name="TextBox 31"/>
          <p:cNvSpPr txBox="1"/>
          <p:nvPr/>
        </p:nvSpPr>
        <p:spPr>
          <a:xfrm>
            <a:off x="694944"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Corpus ingestion and query embedding for Pinecone. One provider for both sides.</a:t>
            </a:r>
          </a:p>
        </p:txBody>
      </p:sp>
      <p:sp>
        <p:nvSpPr>
          <p:cNvPr id="33" name="Rounded Rectangle 32"/>
          <p:cNvSpPr/>
          <p:nvPr/>
        </p:nvSpPr>
        <p:spPr>
          <a:xfrm>
            <a:off x="3694176"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22191" y="2423160"/>
            <a:ext cx="82296" cy="768096"/>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0"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Vision</a:t>
            </a:r>
          </a:p>
        </p:txBody>
      </p:sp>
      <p:sp>
        <p:nvSpPr>
          <p:cNvPr id="36" name="TextBox 35"/>
          <p:cNvSpPr txBox="1"/>
          <p:nvPr/>
        </p:nvSpPr>
        <p:spPr>
          <a:xfrm>
            <a:off x="4023360"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inspect_photo and extract_party. Is that number plate actually legible?</a:t>
            </a:r>
          </a:p>
        </p:txBody>
      </p:sp>
      <p:sp>
        <p:nvSpPr>
          <p:cNvPr id="37" name="Rounded Rectangle 36"/>
          <p:cNvSpPr/>
          <p:nvPr/>
        </p:nvSpPr>
        <p:spPr>
          <a:xfrm>
            <a:off x="365760"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3776" y="3566160"/>
            <a:ext cx="82296" cy="768096"/>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Structured output</a:t>
            </a:r>
          </a:p>
        </p:txBody>
      </p:sp>
      <p:sp>
        <p:nvSpPr>
          <p:cNvPr id="40" name="TextBox 39"/>
          <p:cNvSpPr txBox="1"/>
          <p:nvPr/>
        </p:nvSpPr>
        <p:spPr>
          <a:xfrm>
            <a:off x="694944"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Pydantic schemas on every call, one retry on a malformed reply, then fail honestly.</a:t>
            </a:r>
          </a:p>
        </p:txBody>
      </p:sp>
      <p:sp>
        <p:nvSpPr>
          <p:cNvPr id="41" name="Rounded Rectangle 40"/>
          <p:cNvSpPr/>
          <p:nvPr/>
        </p:nvSpPr>
        <p:spPr>
          <a:xfrm>
            <a:off x="3694176"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822191" y="3566160"/>
            <a:ext cx="82296" cy="768096"/>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Accounting</a:t>
            </a:r>
          </a:p>
        </p:txBody>
      </p:sp>
      <p:sp>
        <p:nvSpPr>
          <p:cNvPr id="44" name="TextBox 43"/>
          <p:cNvSpPr txBox="1"/>
          <p:nvPr/>
        </p:nvSpPr>
        <p:spPr>
          <a:xfrm>
            <a:off x="4023360"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Tokens, latency and cost per tier and per node, fed to the observability layer.</a:t>
            </a:r>
          </a:p>
        </p:txBody>
      </p:sp>
      <p:sp>
        <p:nvSpPr>
          <p:cNvPr id="45" name="Rounded Rectangle 44"/>
          <p:cNvSpPr/>
          <p:nvPr/>
        </p:nvSpPr>
        <p:spPr>
          <a:xfrm>
            <a:off x="365760" y="4599431"/>
            <a:ext cx="6510527" cy="548640"/>
          </a:xfrm>
          <a:prstGeom prst="roundRect">
            <a:avLst>
              <a:gd name="adj" fmla="val 6000"/>
            </a:avLst>
          </a:prstGeom>
          <a:solidFill>
            <a:srgbClr val="FFFFFF"/>
          </a:solidFill>
          <a:ln w="12700">
            <a:solidFill>
              <a:srgbClr val="3450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4681727"/>
            <a:ext cx="2468880" cy="182880"/>
          </a:xfrm>
          <a:prstGeom prst="rect">
            <a:avLst/>
          </a:prstGeom>
          <a:noFill/>
        </p:spPr>
        <p:txBody>
          <a:bodyPr wrap="square" lIns="0" rIns="0" tIns="0" bIns="0" anchor="t">
            <a:spAutoFit/>
          </a:bodyPr>
          <a:lstStyle/>
          <a:p>
            <a:pPr algn="l"/>
            <a:r>
              <a:rPr sz="860" b="1" i="0">
                <a:solidFill>
                  <a:srgbClr val="34509B"/>
                </a:solidFill>
                <a:latin typeface="Calibri"/>
              </a:rPr>
              <a:t>FEATURES IT DELIVERS</a:t>
            </a:r>
          </a:p>
        </p:txBody>
      </p:sp>
      <p:sp>
        <p:nvSpPr>
          <p:cNvPr id="47" name="Rounded Rectangle 46"/>
          <p:cNvSpPr/>
          <p:nvPr/>
        </p:nvSpPr>
        <p:spPr>
          <a:xfrm>
            <a:off x="3063240" y="4727447"/>
            <a:ext cx="310896" cy="274320"/>
          </a:xfrm>
          <a:prstGeom prst="roundRect">
            <a:avLst>
              <a:gd name="adj" fmla="val 40000"/>
            </a:avLst>
          </a:prstGeom>
          <a:solidFill>
            <a:srgbClr val="E6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791455"/>
            <a:ext cx="310896" cy="164592"/>
          </a:xfrm>
          <a:prstGeom prst="rect">
            <a:avLst/>
          </a:prstGeom>
          <a:noFill/>
        </p:spPr>
        <p:txBody>
          <a:bodyPr wrap="square" lIns="0" rIns="0" tIns="0" bIns="0" anchor="t">
            <a:spAutoFit/>
          </a:bodyPr>
          <a:lstStyle/>
          <a:p>
            <a:pPr algn="ctr"/>
            <a:r>
              <a:rPr sz="860" b="1" i="0">
                <a:solidFill>
                  <a:srgbClr val="34509B"/>
                </a:solidFill>
                <a:latin typeface="Calibri"/>
              </a:rPr>
              <a:t>12</a:t>
            </a:r>
          </a:p>
        </p:txBody>
      </p:sp>
      <p:sp>
        <p:nvSpPr>
          <p:cNvPr id="49" name="Rounded Rectangle 48"/>
          <p:cNvSpPr/>
          <p:nvPr/>
        </p:nvSpPr>
        <p:spPr>
          <a:xfrm>
            <a:off x="3438144" y="4727447"/>
            <a:ext cx="310896" cy="274320"/>
          </a:xfrm>
          <a:prstGeom prst="roundRect">
            <a:avLst>
              <a:gd name="adj" fmla="val 40000"/>
            </a:avLst>
          </a:prstGeom>
          <a:solidFill>
            <a:srgbClr val="E6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8144" y="4791455"/>
            <a:ext cx="310896" cy="164592"/>
          </a:xfrm>
          <a:prstGeom prst="rect">
            <a:avLst/>
          </a:prstGeom>
          <a:noFill/>
        </p:spPr>
        <p:txBody>
          <a:bodyPr wrap="square" lIns="0" rIns="0" tIns="0" bIns="0" anchor="t">
            <a:spAutoFit/>
          </a:bodyPr>
          <a:lstStyle/>
          <a:p>
            <a:pPr algn="ctr"/>
            <a:r>
              <a:rPr sz="860" b="1" i="0">
                <a:solidFill>
                  <a:srgbClr val="34509B"/>
                </a:solidFill>
                <a:latin typeface="Calibri"/>
              </a:rPr>
              <a:t>13</a:t>
            </a:r>
          </a:p>
        </p:txBody>
      </p:sp>
      <p:sp>
        <p:nvSpPr>
          <p:cNvPr id="51" name="Rounded Rectangle 50"/>
          <p:cNvSpPr/>
          <p:nvPr/>
        </p:nvSpPr>
        <p:spPr>
          <a:xfrm>
            <a:off x="3813048" y="4727447"/>
            <a:ext cx="310896" cy="274320"/>
          </a:xfrm>
          <a:prstGeom prst="roundRect">
            <a:avLst>
              <a:gd name="adj" fmla="val 40000"/>
            </a:avLst>
          </a:prstGeom>
          <a:solidFill>
            <a:srgbClr val="E6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3048" y="4791455"/>
            <a:ext cx="310896" cy="164592"/>
          </a:xfrm>
          <a:prstGeom prst="rect">
            <a:avLst/>
          </a:prstGeom>
          <a:noFill/>
        </p:spPr>
        <p:txBody>
          <a:bodyPr wrap="square" lIns="0" rIns="0" tIns="0" bIns="0" anchor="t">
            <a:spAutoFit/>
          </a:bodyPr>
          <a:lstStyle/>
          <a:p>
            <a:pPr algn="ctr"/>
            <a:r>
              <a:rPr sz="860" b="1" i="0">
                <a:solidFill>
                  <a:srgbClr val="34509B"/>
                </a:solidFill>
                <a:latin typeface="Calibri"/>
              </a:rPr>
              <a:t>22</a:t>
            </a:r>
          </a:p>
        </p:txBody>
      </p:sp>
      <p:sp>
        <p:nvSpPr>
          <p:cNvPr id="53" name="Rounded Rectangle 52"/>
          <p:cNvSpPr/>
          <p:nvPr/>
        </p:nvSpPr>
        <p:spPr>
          <a:xfrm>
            <a:off x="4187952" y="4727447"/>
            <a:ext cx="310896" cy="274320"/>
          </a:xfrm>
          <a:prstGeom prst="roundRect">
            <a:avLst>
              <a:gd name="adj" fmla="val 40000"/>
            </a:avLst>
          </a:prstGeom>
          <a:solidFill>
            <a:srgbClr val="E6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87952" y="4791455"/>
            <a:ext cx="310896" cy="164592"/>
          </a:xfrm>
          <a:prstGeom prst="rect">
            <a:avLst/>
          </a:prstGeom>
          <a:noFill/>
        </p:spPr>
        <p:txBody>
          <a:bodyPr wrap="square" lIns="0" rIns="0" tIns="0" bIns="0" anchor="t">
            <a:spAutoFit/>
          </a:bodyPr>
          <a:lstStyle/>
          <a:p>
            <a:pPr algn="ctr"/>
            <a:r>
              <a:rPr sz="860" b="1" i="0">
                <a:solidFill>
                  <a:srgbClr val="34509B"/>
                </a:solidFill>
                <a:latin typeface="Calibri"/>
              </a:rPr>
              <a:t>23</a:t>
            </a:r>
          </a:p>
        </p:txBody>
      </p:sp>
      <p:sp>
        <p:nvSpPr>
          <p:cNvPr id="55" name="Rounded Rectangle 54"/>
          <p:cNvSpPr/>
          <p:nvPr/>
        </p:nvSpPr>
        <p:spPr>
          <a:xfrm>
            <a:off x="365760" y="5257799"/>
            <a:ext cx="6510527" cy="1197864"/>
          </a:xfrm>
          <a:prstGeom prst="roundRect">
            <a:avLst>
              <a:gd name="adj" fmla="val 6000"/>
            </a:avLst>
          </a:prstGeom>
          <a:solidFill>
            <a:srgbClr val="FFF4F0"/>
          </a:solidFill>
          <a:ln w="12700">
            <a:solidFill>
              <a:srgbClr val="E8B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30352" y="5358383"/>
            <a:ext cx="1463040" cy="182880"/>
          </a:xfrm>
          <a:prstGeom prst="rect">
            <a:avLst/>
          </a:prstGeom>
          <a:noFill/>
        </p:spPr>
        <p:txBody>
          <a:bodyPr wrap="square" lIns="0" rIns="0" tIns="0" bIns="0" anchor="t">
            <a:spAutoFit/>
          </a:bodyPr>
          <a:lstStyle/>
          <a:p>
            <a:pPr algn="l"/>
            <a:r>
              <a:rPr sz="860" b="1" i="0">
                <a:solidFill>
                  <a:srgbClr val="A85A3C"/>
                </a:solidFill>
                <a:latin typeface="Calibri"/>
              </a:rPr>
              <a:t>IF IT FAILS</a:t>
            </a:r>
          </a:p>
        </p:txBody>
      </p:sp>
      <p:sp>
        <p:nvSpPr>
          <p:cNvPr id="57" name="TextBox 56"/>
          <p:cNvSpPr txBox="1"/>
          <p:nvPr/>
        </p:nvSpPr>
        <p:spPr>
          <a:xfrm>
            <a:off x="530352" y="5568695"/>
            <a:ext cx="6181343" cy="850392"/>
          </a:xfrm>
          <a:prstGeom prst="rect">
            <a:avLst/>
          </a:prstGeom>
          <a:noFill/>
        </p:spPr>
        <p:txBody>
          <a:bodyPr wrap="square" lIns="0" rIns="0" tIns="0" bIns="0" anchor="t">
            <a:spAutoFit/>
          </a:bodyPr>
          <a:lstStyle/>
          <a:p>
            <a:pPr algn="l">
              <a:lnSpc>
                <a:spcPct val="120000"/>
              </a:lnSpc>
            </a:pPr>
            <a:r>
              <a:rPr sz="950" b="0" i="0">
                <a:solidFill>
                  <a:srgbClr val="7A4630"/>
                </a:solidFill>
                <a:latin typeface="Calibri"/>
              </a:rPr>
              <a:t>Unreachable at scene open: refuse to start with a clear message rather than half-guiding someone through a collision. Unreachable mid-scene: fall back to pack templates.</a:t>
            </a:r>
          </a:p>
        </p:txBody>
      </p:sp>
      <p:sp>
        <p:nvSpPr>
          <p:cNvPr id="58" name="TextBox 57"/>
          <p:cNvSpPr txBox="1"/>
          <p:nvPr/>
        </p:nvSpPr>
        <p:spPr>
          <a:xfrm>
            <a:off x="7059168"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HOW IT CONNECTS</a:t>
            </a:r>
          </a:p>
        </p:txBody>
      </p:sp>
      <p:sp>
        <p:nvSpPr>
          <p:cNvPr id="59" name="Rounded Rectangle 58"/>
          <p:cNvSpPr/>
          <p:nvPr/>
        </p:nvSpPr>
        <p:spPr>
          <a:xfrm>
            <a:off x="7059168" y="1152144"/>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7187183" y="1335024"/>
            <a:ext cx="438912" cy="438912"/>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87183" y="1453896"/>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62" name="TextBox 61"/>
          <p:cNvSpPr txBox="1"/>
          <p:nvPr/>
        </p:nvSpPr>
        <p:spPr>
          <a:xfrm>
            <a:off x="7735823" y="1271016"/>
            <a:ext cx="3922776" cy="201168"/>
          </a:xfrm>
          <a:prstGeom prst="rect">
            <a:avLst/>
          </a:prstGeom>
          <a:noFill/>
        </p:spPr>
        <p:txBody>
          <a:bodyPr wrap="square" lIns="0" rIns="0" tIns="0" bIns="0" anchor="t">
            <a:spAutoFit/>
          </a:bodyPr>
          <a:lstStyle/>
          <a:p>
            <a:pPr algn="l"/>
            <a:r>
              <a:rPr sz="1050" b="1" i="0">
                <a:solidFill>
                  <a:srgbClr val="0E3A4C"/>
                </a:solidFill>
                <a:latin typeface="Calibri"/>
              </a:rPr>
              <a:t>Called by the agent core and vision tools</a:t>
            </a:r>
          </a:p>
        </p:txBody>
      </p:sp>
      <p:sp>
        <p:nvSpPr>
          <p:cNvPr id="63" name="TextBox 62"/>
          <p:cNvSpPr txBox="1"/>
          <p:nvPr/>
        </p:nvSpPr>
        <p:spPr>
          <a:xfrm>
            <a:off x="7735823" y="1499616"/>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Nothing else reaches the provider. One place to change the model, one place to measure it.</a:t>
            </a:r>
          </a:p>
        </p:txBody>
      </p:sp>
      <p:sp>
        <p:nvSpPr>
          <p:cNvPr id="64" name="Rounded Rectangle 63"/>
          <p:cNvSpPr/>
          <p:nvPr/>
        </p:nvSpPr>
        <p:spPr>
          <a:xfrm>
            <a:off x="7059168" y="2057400"/>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7187183" y="2240280"/>
            <a:ext cx="438912" cy="438912"/>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87183" y="2359152"/>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67" name="TextBox 66"/>
          <p:cNvSpPr txBox="1"/>
          <p:nvPr/>
        </p:nvSpPr>
        <p:spPr>
          <a:xfrm>
            <a:off x="7735823" y="2176272"/>
            <a:ext cx="3922776" cy="201168"/>
          </a:xfrm>
          <a:prstGeom prst="rect">
            <a:avLst/>
          </a:prstGeom>
          <a:noFill/>
        </p:spPr>
        <p:txBody>
          <a:bodyPr wrap="square" lIns="0" rIns="0" tIns="0" bIns="0" anchor="t">
            <a:spAutoFit/>
          </a:bodyPr>
          <a:lstStyle/>
          <a:p>
            <a:pPr algn="l"/>
            <a:r>
              <a:rPr sz="1050" b="1" i="0">
                <a:solidFill>
                  <a:srgbClr val="0E3A4C"/>
                </a:solidFill>
                <a:latin typeface="Calibri"/>
              </a:rPr>
              <a:t>OpenAI-compatible wire format</a:t>
            </a:r>
          </a:p>
        </p:txBody>
      </p:sp>
      <p:sp>
        <p:nvSpPr>
          <p:cNvPr id="68" name="TextBox 67"/>
          <p:cNvSpPr txBox="1"/>
          <p:nvPr/>
        </p:nvSpPr>
        <p:spPr>
          <a:xfrm>
            <a:off x="7735823" y="2404872"/>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Nebius speaks it, so the provider is a base URL and a model name in config rather than an architectural commitment.</a:t>
            </a:r>
          </a:p>
        </p:txBody>
      </p:sp>
      <p:sp>
        <p:nvSpPr>
          <p:cNvPr id="69" name="Rounded Rectangle 68"/>
          <p:cNvSpPr/>
          <p:nvPr/>
        </p:nvSpPr>
        <p:spPr>
          <a:xfrm>
            <a:off x="7059168" y="2962656"/>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7187183" y="3145536"/>
            <a:ext cx="438912" cy="438912"/>
          </a:xfrm>
          <a:prstGeom prst="roundRect">
            <a:avLst>
              <a:gd name="adj" fmla="val 50000"/>
            </a:avLst>
          </a:prstGeom>
          <a:solidFill>
            <a:srgbClr val="34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187183" y="3264408"/>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2" name="TextBox 71"/>
          <p:cNvSpPr txBox="1"/>
          <p:nvPr/>
        </p:nvSpPr>
        <p:spPr>
          <a:xfrm>
            <a:off x="7735823" y="3081528"/>
            <a:ext cx="3922776" cy="201168"/>
          </a:xfrm>
          <a:prstGeom prst="rect">
            <a:avLst/>
          </a:prstGeom>
          <a:noFill/>
        </p:spPr>
        <p:txBody>
          <a:bodyPr wrap="square" lIns="0" rIns="0" tIns="0" bIns="0" anchor="t">
            <a:spAutoFit/>
          </a:bodyPr>
          <a:lstStyle/>
          <a:p>
            <a:pPr algn="l"/>
            <a:r>
              <a:rPr sz="1050" b="1" i="0">
                <a:solidFill>
                  <a:srgbClr val="0E3A4C"/>
                </a:solidFill>
                <a:latin typeface="Calibri"/>
              </a:rPr>
              <a:t>Every call is a span</a:t>
            </a:r>
          </a:p>
        </p:txBody>
      </p:sp>
      <p:sp>
        <p:nvSpPr>
          <p:cNvPr id="73" name="TextBox 72"/>
          <p:cNvSpPr txBox="1"/>
          <p:nvPr/>
        </p:nvSpPr>
        <p:spPr>
          <a:xfrm>
            <a:off x="7735823" y="3310128"/>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Which tier, which node, how long, how much. That is what makes the tier split defensible rather than a guess.</a:t>
            </a:r>
          </a:p>
        </p:txBody>
      </p:sp>
      <p:sp>
        <p:nvSpPr>
          <p:cNvPr id="74" name="Rounded Rectangle 73"/>
          <p:cNvSpPr/>
          <p:nvPr/>
        </p:nvSpPr>
        <p:spPr>
          <a:xfrm>
            <a:off x="7059168" y="3959352"/>
            <a:ext cx="4764024" cy="2496311"/>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242048" y="4087368"/>
            <a:ext cx="4206240" cy="182880"/>
          </a:xfrm>
          <a:prstGeom prst="rect">
            <a:avLst/>
          </a:prstGeom>
          <a:noFill/>
        </p:spPr>
        <p:txBody>
          <a:bodyPr wrap="square" lIns="0" rIns="0" tIns="0" bIns="0" anchor="t">
            <a:spAutoFit/>
          </a:bodyPr>
          <a:lstStyle/>
          <a:p>
            <a:pPr algn="l"/>
            <a:r>
              <a:rPr sz="860" b="1" i="0">
                <a:solidFill>
                  <a:srgbClr val="463283"/>
                </a:solidFill>
                <a:latin typeface="Calibri"/>
              </a:rPr>
              <a:t>THE DECISION THAT MATTERS HERE</a:t>
            </a:r>
          </a:p>
        </p:txBody>
      </p:sp>
      <p:sp>
        <p:nvSpPr>
          <p:cNvPr id="76" name="TextBox 75"/>
          <p:cNvSpPr txBox="1"/>
          <p:nvPr/>
        </p:nvSpPr>
        <p:spPr>
          <a:xfrm>
            <a:off x="7242048" y="4343400"/>
            <a:ext cx="4398264" cy="2057400"/>
          </a:xfrm>
          <a:prstGeom prst="rect">
            <a:avLst/>
          </a:prstGeom>
          <a:noFill/>
        </p:spPr>
        <p:txBody>
          <a:bodyPr wrap="square" lIns="0" rIns="0" tIns="0" bIns="0" anchor="t">
            <a:spAutoFit/>
          </a:bodyPr>
          <a:lstStyle/>
          <a:p>
            <a:pPr algn="l">
              <a:lnSpc>
                <a:spcPct val="126000"/>
              </a:lnSpc>
            </a:pPr>
            <a:r>
              <a:rPr sz="1100" b="0" i="0">
                <a:solidFill>
                  <a:srgbClr val="0E3A4C"/>
                </a:solidFill>
                <a:latin typeface="Calibri"/>
              </a:rPr>
              <a:t>Two tiers, selected per node — not one model for everything.
The model that words an instruction to someone standing in the rain and the model that writes the closing narrative have different jobs. One is judged on latency, the other on quality.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7863840" cy="310896"/>
          </a:xfrm>
          <a:prstGeom prst="rect">
            <a:avLst/>
          </a:prstGeom>
          <a:noFill/>
        </p:spPr>
        <p:txBody>
          <a:bodyPr wrap="square" lIns="0" rIns="0" tIns="0" bIns="0" anchor="t">
            <a:spAutoFit/>
          </a:bodyPr>
          <a:lstStyle/>
          <a:p>
            <a:pPr algn="l"/>
            <a:r>
              <a:rPr sz="1800" b="1" i="0">
                <a:solidFill>
                  <a:srgbClr val="FFFFFF"/>
                </a:solidFill>
                <a:latin typeface="Cambria"/>
              </a:rPr>
              <a:t>6  ·  OBSERVABILITY / EVALS</a:t>
            </a:r>
          </a:p>
        </p:txBody>
      </p:sp>
      <p:sp>
        <p:nvSpPr>
          <p:cNvPr id="5" name="TextBox 4"/>
          <p:cNvSpPr txBox="1"/>
          <p:nvPr/>
        </p:nvSpPr>
        <p:spPr>
          <a:xfrm>
            <a:off x="365760" y="466344"/>
            <a:ext cx="7863840" cy="201168"/>
          </a:xfrm>
          <a:prstGeom prst="rect">
            <a:avLst/>
          </a:prstGeom>
          <a:noFill/>
        </p:spPr>
        <p:txBody>
          <a:bodyPr wrap="square" lIns="0" rIns="0" tIns="0" bIns="0" anchor="t">
            <a:spAutoFit/>
          </a:bodyPr>
          <a:lstStyle/>
          <a:p>
            <a:pPr algn="l"/>
            <a:r>
              <a:rPr sz="950" b="0" i="0">
                <a:solidFill>
                  <a:srgbClr val="9FC0D0"/>
                </a:solidFill>
                <a:latin typeface="Calibri"/>
              </a:rPr>
              <a:t>LangSmith. How we know it works — and catch it when it does not.</a:t>
            </a:r>
          </a:p>
        </p:txBody>
      </p:sp>
      <p:sp>
        <p:nvSpPr>
          <p:cNvPr id="6" name="Rounded Rectangle 5"/>
          <p:cNvSpPr/>
          <p:nvPr/>
        </p:nvSpPr>
        <p:spPr>
          <a:xfrm>
            <a:off x="8796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96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1</a:t>
            </a:r>
          </a:p>
        </p:txBody>
      </p:sp>
      <p:sp>
        <p:nvSpPr>
          <p:cNvPr id="8" name="Rounded Rectangle 7"/>
          <p:cNvSpPr/>
          <p:nvPr/>
        </p:nvSpPr>
        <p:spPr>
          <a:xfrm>
            <a:off x="9253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2</a:t>
            </a:r>
          </a:p>
        </p:txBody>
      </p:sp>
      <p:sp>
        <p:nvSpPr>
          <p:cNvPr id="10" name="Rounded Rectangle 9"/>
          <p:cNvSpPr/>
          <p:nvPr/>
        </p:nvSpPr>
        <p:spPr>
          <a:xfrm>
            <a:off x="97109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9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3</a:t>
            </a:r>
          </a:p>
        </p:txBody>
      </p:sp>
      <p:sp>
        <p:nvSpPr>
          <p:cNvPr id="12" name="Rounded Rectangle 11"/>
          <p:cNvSpPr/>
          <p:nvPr/>
        </p:nvSpPr>
        <p:spPr>
          <a:xfrm>
            <a:off x="101681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4</a:t>
            </a:r>
          </a:p>
        </p:txBody>
      </p:sp>
      <p:sp>
        <p:nvSpPr>
          <p:cNvPr id="14" name="Rounded Rectangle 13"/>
          <p:cNvSpPr/>
          <p:nvPr/>
        </p:nvSpPr>
        <p:spPr>
          <a:xfrm>
            <a:off x="106253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53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5</a:t>
            </a:r>
          </a:p>
        </p:txBody>
      </p:sp>
      <p:sp>
        <p:nvSpPr>
          <p:cNvPr id="16" name="Rounded Rectangle 15"/>
          <p:cNvSpPr/>
          <p:nvPr/>
        </p:nvSpPr>
        <p:spPr>
          <a:xfrm>
            <a:off x="11082528" y="274320"/>
            <a:ext cx="384048" cy="237744"/>
          </a:xfrm>
          <a:prstGeom prst="roundRect">
            <a:avLst>
              <a:gd name="adj" fmla="val 35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82528" y="333756"/>
            <a:ext cx="384048" cy="146304"/>
          </a:xfrm>
          <a:prstGeom prst="rect">
            <a:avLst/>
          </a:prstGeom>
          <a:noFill/>
        </p:spPr>
        <p:txBody>
          <a:bodyPr wrap="square" lIns="0" rIns="0" tIns="0" bIns="0" anchor="t">
            <a:spAutoFit/>
          </a:bodyPr>
          <a:lstStyle/>
          <a:p>
            <a:pPr algn="ctr"/>
            <a:r>
              <a:rPr sz="800" b="1" i="0">
                <a:solidFill>
                  <a:srgbClr val="FFFFFF"/>
                </a:solidFill>
                <a:latin typeface="Calibri"/>
              </a:rPr>
              <a:t>6</a:t>
            </a:r>
          </a:p>
        </p:txBody>
      </p:sp>
      <p:sp>
        <p:nvSpPr>
          <p:cNvPr id="18" name="Rounded Rectangle 17"/>
          <p:cNvSpPr/>
          <p:nvPr/>
        </p:nvSpPr>
        <p:spPr>
          <a:xfrm>
            <a:off x="11539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39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7</a:t>
            </a:r>
          </a:p>
        </p:txBody>
      </p:sp>
      <p:sp>
        <p:nvSpPr>
          <p:cNvPr id="20" name="TextBox 19"/>
          <p:cNvSpPr txBox="1"/>
          <p:nvPr/>
        </p:nvSpPr>
        <p:spPr>
          <a:xfrm>
            <a:off x="365760"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WHAT THIS LAYER CARRIES</a:t>
            </a:r>
          </a:p>
        </p:txBody>
      </p:sp>
      <p:sp>
        <p:nvSpPr>
          <p:cNvPr id="21" name="Rounded Rectangle 20"/>
          <p:cNvSpPr/>
          <p:nvPr/>
        </p:nvSpPr>
        <p:spPr>
          <a:xfrm>
            <a:off x="365760"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 y="1280160"/>
            <a:ext cx="82296" cy="768096"/>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Traces</a:t>
            </a:r>
          </a:p>
        </p:txBody>
      </p:sp>
      <p:sp>
        <p:nvSpPr>
          <p:cNvPr id="24" name="TextBox 23"/>
          <p:cNvSpPr txBox="1"/>
          <p:nvPr/>
        </p:nvSpPr>
        <p:spPr>
          <a:xfrm>
            <a:off x="694944"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One trace per scene, one span per turn. The record of what the agent believed and chose.</a:t>
            </a:r>
          </a:p>
        </p:txBody>
      </p:sp>
      <p:sp>
        <p:nvSpPr>
          <p:cNvPr id="25" name="Rounded Rectangle 24"/>
          <p:cNvSpPr/>
          <p:nvPr/>
        </p:nvSpPr>
        <p:spPr>
          <a:xfrm>
            <a:off x="3694176"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22191" y="1280160"/>
            <a:ext cx="82296" cy="768096"/>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Planner comparison</a:t>
            </a:r>
          </a:p>
        </p:txBody>
      </p:sp>
      <p:sp>
        <p:nvSpPr>
          <p:cNvPr id="28" name="TextBox 27"/>
          <p:cNvSpPr txBox="1"/>
          <p:nvPr/>
        </p:nvSpPr>
        <p:spPr>
          <a:xfrm>
            <a:off x="4023360"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Every span carries the urgency table it weighed — not only the item it picked.</a:t>
            </a:r>
          </a:p>
        </p:txBody>
      </p:sp>
      <p:sp>
        <p:nvSpPr>
          <p:cNvPr id="29" name="Rounded Rectangle 28"/>
          <p:cNvSpPr/>
          <p:nvPr/>
        </p:nvSpPr>
        <p:spPr>
          <a:xfrm>
            <a:off x="365760"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2423160"/>
            <a:ext cx="82296" cy="768096"/>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Golden datasets</a:t>
            </a:r>
          </a:p>
        </p:txBody>
      </p:sp>
      <p:sp>
        <p:nvSpPr>
          <p:cNvPr id="32" name="TextBox 31"/>
          <p:cNvSpPr txBox="1"/>
          <p:nvPr/>
        </p:nvSpPr>
        <p:spPr>
          <a:xfrm>
            <a:off x="694944"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Six scripted scenarios: clean run, two interrupts, injury, hostility, apology.</a:t>
            </a:r>
          </a:p>
        </p:txBody>
      </p:sp>
      <p:sp>
        <p:nvSpPr>
          <p:cNvPr id="33" name="Rounded Rectangle 32"/>
          <p:cNvSpPr/>
          <p:nvPr/>
        </p:nvSpPr>
        <p:spPr>
          <a:xfrm>
            <a:off x="3694176"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22191" y="2423160"/>
            <a:ext cx="82296" cy="768096"/>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0"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Experiments</a:t>
            </a:r>
          </a:p>
        </p:txBody>
      </p:sp>
      <p:sp>
        <p:nvSpPr>
          <p:cNvPr id="36" name="TextBox 35"/>
          <p:cNvSpPr txBox="1"/>
          <p:nvPr/>
        </p:nvSpPr>
        <p:spPr>
          <a:xfrm>
            <a:off x="4023360"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Every prompt or pack change runs against the goldens and is compared with the last version.</a:t>
            </a:r>
          </a:p>
        </p:txBody>
      </p:sp>
      <p:sp>
        <p:nvSpPr>
          <p:cNvPr id="37" name="Rounded Rectangle 36"/>
          <p:cNvSpPr/>
          <p:nvPr/>
        </p:nvSpPr>
        <p:spPr>
          <a:xfrm>
            <a:off x="365760"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3776" y="3566160"/>
            <a:ext cx="82296" cy="768096"/>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Scenario runner</a:t>
            </a:r>
          </a:p>
        </p:txBody>
      </p:sp>
      <p:sp>
        <p:nvSpPr>
          <p:cNvPr id="40" name="TextBox 39"/>
          <p:cNvSpPr txBox="1"/>
          <p:nvPr/>
        </p:nvSpPr>
        <p:spPr>
          <a:xfrm>
            <a:off x="694944"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A scripted clock and scripted context, so ordering tests give the same answer every run.</a:t>
            </a:r>
          </a:p>
        </p:txBody>
      </p:sp>
      <p:sp>
        <p:nvSpPr>
          <p:cNvPr id="41" name="Rounded Rectangle 40"/>
          <p:cNvSpPr/>
          <p:nvPr/>
        </p:nvSpPr>
        <p:spPr>
          <a:xfrm>
            <a:off x="3694176"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822191" y="3566160"/>
            <a:ext cx="82296" cy="768096"/>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Seven metrics</a:t>
            </a:r>
          </a:p>
        </p:txBody>
      </p:sp>
      <p:sp>
        <p:nvSpPr>
          <p:cNvPr id="44" name="TextBox 43"/>
          <p:cNvSpPr txBox="1"/>
          <p:nvPr/>
        </p:nvSpPr>
        <p:spPr>
          <a:xfrm>
            <a:off x="4023360"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Completeness, ordering, escalation, prohibited coaching, grounding, photo QA, latency.</a:t>
            </a:r>
          </a:p>
        </p:txBody>
      </p:sp>
      <p:sp>
        <p:nvSpPr>
          <p:cNvPr id="45" name="Rounded Rectangle 44"/>
          <p:cNvSpPr/>
          <p:nvPr/>
        </p:nvSpPr>
        <p:spPr>
          <a:xfrm>
            <a:off x="365760" y="4599431"/>
            <a:ext cx="6510527" cy="548640"/>
          </a:xfrm>
          <a:prstGeom prst="roundRect">
            <a:avLst>
              <a:gd name="adj" fmla="val 6000"/>
            </a:avLst>
          </a:prstGeom>
          <a:solidFill>
            <a:srgbClr val="FFFFFF"/>
          </a:solidFill>
          <a:ln w="12700">
            <a:solidFill>
              <a:srgbClr val="B779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4681727"/>
            <a:ext cx="2468880" cy="182880"/>
          </a:xfrm>
          <a:prstGeom prst="rect">
            <a:avLst/>
          </a:prstGeom>
          <a:noFill/>
        </p:spPr>
        <p:txBody>
          <a:bodyPr wrap="square" lIns="0" rIns="0" tIns="0" bIns="0" anchor="t">
            <a:spAutoFit/>
          </a:bodyPr>
          <a:lstStyle/>
          <a:p>
            <a:pPr algn="l"/>
            <a:r>
              <a:rPr sz="860" b="1" i="0">
                <a:solidFill>
                  <a:srgbClr val="B7791F"/>
                </a:solidFill>
                <a:latin typeface="Calibri"/>
              </a:rPr>
              <a:t>FEATURES IT DELIVERS</a:t>
            </a:r>
          </a:p>
        </p:txBody>
      </p:sp>
      <p:sp>
        <p:nvSpPr>
          <p:cNvPr id="47" name="Rounded Rectangle 46"/>
          <p:cNvSpPr/>
          <p:nvPr/>
        </p:nvSpPr>
        <p:spPr>
          <a:xfrm>
            <a:off x="3063240" y="4727447"/>
            <a:ext cx="310896" cy="274320"/>
          </a:xfrm>
          <a:prstGeom prst="roundRect">
            <a:avLst>
              <a:gd name="adj" fmla="val 40000"/>
            </a:avLst>
          </a:prstGeom>
          <a:solidFill>
            <a:srgbClr val="F6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791455"/>
            <a:ext cx="310896" cy="164592"/>
          </a:xfrm>
          <a:prstGeom prst="rect">
            <a:avLst/>
          </a:prstGeom>
          <a:noFill/>
        </p:spPr>
        <p:txBody>
          <a:bodyPr wrap="square" lIns="0" rIns="0" tIns="0" bIns="0" anchor="t">
            <a:spAutoFit/>
          </a:bodyPr>
          <a:lstStyle/>
          <a:p>
            <a:pPr algn="ctr"/>
            <a:r>
              <a:rPr sz="860" b="1" i="0">
                <a:solidFill>
                  <a:srgbClr val="B7791F"/>
                </a:solidFill>
                <a:latin typeface="Calibri"/>
              </a:rPr>
              <a:t>27</a:t>
            </a:r>
          </a:p>
        </p:txBody>
      </p:sp>
      <p:sp>
        <p:nvSpPr>
          <p:cNvPr id="49" name="Rounded Rectangle 48"/>
          <p:cNvSpPr/>
          <p:nvPr/>
        </p:nvSpPr>
        <p:spPr>
          <a:xfrm>
            <a:off x="3438144" y="4727447"/>
            <a:ext cx="365760" cy="274320"/>
          </a:xfrm>
          <a:prstGeom prst="roundRect">
            <a:avLst>
              <a:gd name="adj" fmla="val 40000"/>
            </a:avLst>
          </a:prstGeom>
          <a:solidFill>
            <a:srgbClr val="F6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8144" y="4791455"/>
            <a:ext cx="365760" cy="164592"/>
          </a:xfrm>
          <a:prstGeom prst="rect">
            <a:avLst/>
          </a:prstGeom>
          <a:noFill/>
        </p:spPr>
        <p:txBody>
          <a:bodyPr wrap="square" lIns="0" rIns="0" tIns="0" bIns="0" anchor="t">
            <a:spAutoFit/>
          </a:bodyPr>
          <a:lstStyle/>
          <a:p>
            <a:pPr algn="ctr"/>
            <a:r>
              <a:rPr sz="860" b="1" i="0">
                <a:solidFill>
                  <a:srgbClr val="B7791F"/>
                </a:solidFill>
                <a:latin typeface="Calibri"/>
              </a:rPr>
              <a:t>all 30 validated</a:t>
            </a:r>
          </a:p>
        </p:txBody>
      </p:sp>
      <p:sp>
        <p:nvSpPr>
          <p:cNvPr id="51" name="Rounded Rectangle 50"/>
          <p:cNvSpPr/>
          <p:nvPr/>
        </p:nvSpPr>
        <p:spPr>
          <a:xfrm>
            <a:off x="365760" y="5257799"/>
            <a:ext cx="6510527" cy="1197864"/>
          </a:xfrm>
          <a:prstGeom prst="roundRect">
            <a:avLst>
              <a:gd name="adj" fmla="val 6000"/>
            </a:avLst>
          </a:prstGeom>
          <a:solidFill>
            <a:srgbClr val="FFF4F0"/>
          </a:solidFill>
          <a:ln w="12700">
            <a:solidFill>
              <a:srgbClr val="E8B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0352" y="5358383"/>
            <a:ext cx="1463040" cy="182880"/>
          </a:xfrm>
          <a:prstGeom prst="rect">
            <a:avLst/>
          </a:prstGeom>
          <a:noFill/>
        </p:spPr>
        <p:txBody>
          <a:bodyPr wrap="square" lIns="0" rIns="0" tIns="0" bIns="0" anchor="t">
            <a:spAutoFit/>
          </a:bodyPr>
          <a:lstStyle/>
          <a:p>
            <a:pPr algn="l"/>
            <a:r>
              <a:rPr sz="860" b="1" i="0">
                <a:solidFill>
                  <a:srgbClr val="A85A3C"/>
                </a:solidFill>
                <a:latin typeface="Calibri"/>
              </a:rPr>
              <a:t>IF IT FAILS</a:t>
            </a:r>
          </a:p>
        </p:txBody>
      </p:sp>
      <p:sp>
        <p:nvSpPr>
          <p:cNvPr id="53" name="TextBox 52"/>
          <p:cNvSpPr txBox="1"/>
          <p:nvPr/>
        </p:nvSpPr>
        <p:spPr>
          <a:xfrm>
            <a:off x="530352" y="5568695"/>
            <a:ext cx="6181343" cy="850392"/>
          </a:xfrm>
          <a:prstGeom prst="rect">
            <a:avLst/>
          </a:prstGeom>
          <a:noFill/>
        </p:spPr>
        <p:txBody>
          <a:bodyPr wrap="square" lIns="0" rIns="0" tIns="0" bIns="0" anchor="t">
            <a:spAutoFit/>
          </a:bodyPr>
          <a:lstStyle/>
          <a:p>
            <a:pPr algn="l">
              <a:lnSpc>
                <a:spcPct val="120000"/>
              </a:lnSpc>
            </a:pPr>
            <a:r>
              <a:rPr sz="950" b="0" i="0">
                <a:solidFill>
                  <a:srgbClr val="7A4630"/>
                </a:solidFill>
                <a:latin typeface="Calibri"/>
              </a:rPr>
              <a:t>If LangSmith is unavailable the scene still runs; traces buffer locally and the eval suite runs offline against the same goldens. Observability is never on the critical path.</a:t>
            </a:r>
          </a:p>
        </p:txBody>
      </p:sp>
      <p:sp>
        <p:nvSpPr>
          <p:cNvPr id="54" name="TextBox 53"/>
          <p:cNvSpPr txBox="1"/>
          <p:nvPr/>
        </p:nvSpPr>
        <p:spPr>
          <a:xfrm>
            <a:off x="7059168"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HOW IT CONNECTS</a:t>
            </a:r>
          </a:p>
        </p:txBody>
      </p:sp>
      <p:sp>
        <p:nvSpPr>
          <p:cNvPr id="55" name="Rounded Rectangle 54"/>
          <p:cNvSpPr/>
          <p:nvPr/>
        </p:nvSpPr>
        <p:spPr>
          <a:xfrm>
            <a:off x="7059168" y="1152144"/>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7187183" y="1335024"/>
            <a:ext cx="438912" cy="438912"/>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87183" y="1453896"/>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58" name="TextBox 57"/>
          <p:cNvSpPr txBox="1"/>
          <p:nvPr/>
        </p:nvSpPr>
        <p:spPr>
          <a:xfrm>
            <a:off x="7735823" y="1271016"/>
            <a:ext cx="3922776" cy="201168"/>
          </a:xfrm>
          <a:prstGeom prst="rect">
            <a:avLst/>
          </a:prstGeom>
          <a:noFill/>
        </p:spPr>
        <p:txBody>
          <a:bodyPr wrap="square" lIns="0" rIns="0" tIns="0" bIns="0" anchor="t">
            <a:spAutoFit/>
          </a:bodyPr>
          <a:lstStyle/>
          <a:p>
            <a:pPr algn="l"/>
            <a:r>
              <a:rPr sz="1050" b="1" i="0">
                <a:solidFill>
                  <a:srgbClr val="0E3A4C"/>
                </a:solidFill>
                <a:latin typeface="Calibri"/>
              </a:rPr>
              <a:t>Instrumented from the agent core</a:t>
            </a:r>
          </a:p>
        </p:txBody>
      </p:sp>
      <p:sp>
        <p:nvSpPr>
          <p:cNvPr id="59" name="TextBox 58"/>
          <p:cNvSpPr txBox="1"/>
          <p:nvPr/>
        </p:nvSpPr>
        <p:spPr>
          <a:xfrm>
            <a:off x="7735823" y="1499616"/>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The graph emits; nothing else has to remember to log. Coverage is structural rather than diligent.</a:t>
            </a:r>
          </a:p>
        </p:txBody>
      </p:sp>
      <p:sp>
        <p:nvSpPr>
          <p:cNvPr id="60" name="Rounded Rectangle 59"/>
          <p:cNvSpPr/>
          <p:nvPr/>
        </p:nvSpPr>
        <p:spPr>
          <a:xfrm>
            <a:off x="7059168" y="2057400"/>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7187183" y="2240280"/>
            <a:ext cx="438912" cy="438912"/>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87183" y="2359152"/>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63" name="TextBox 62"/>
          <p:cNvSpPr txBox="1"/>
          <p:nvPr/>
        </p:nvSpPr>
        <p:spPr>
          <a:xfrm>
            <a:off x="7735823" y="2176272"/>
            <a:ext cx="3922776" cy="201168"/>
          </a:xfrm>
          <a:prstGeom prst="rect">
            <a:avLst/>
          </a:prstGeom>
          <a:noFill/>
        </p:spPr>
        <p:txBody>
          <a:bodyPr wrap="square" lIns="0" rIns="0" tIns="0" bIns="0" anchor="t">
            <a:spAutoFit/>
          </a:bodyPr>
          <a:lstStyle/>
          <a:p>
            <a:pPr algn="l"/>
            <a:r>
              <a:rPr sz="1050" b="1" i="0">
                <a:solidFill>
                  <a:srgbClr val="0E3A4C"/>
                </a:solidFill>
                <a:latin typeface="Calibri"/>
              </a:rPr>
              <a:t>Reads nothing, changes nothing</a:t>
            </a:r>
          </a:p>
        </p:txBody>
      </p:sp>
      <p:sp>
        <p:nvSpPr>
          <p:cNvPr id="64" name="TextBox 63"/>
          <p:cNvSpPr txBox="1"/>
          <p:nvPr/>
        </p:nvSpPr>
        <p:spPr>
          <a:xfrm>
            <a:off x="7735823" y="2404872"/>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Purely observational at runtime. It cannot alter a scene, which is why it is safe to leave switched on.</a:t>
            </a:r>
          </a:p>
        </p:txBody>
      </p:sp>
      <p:sp>
        <p:nvSpPr>
          <p:cNvPr id="65" name="Rounded Rectangle 64"/>
          <p:cNvSpPr/>
          <p:nvPr/>
        </p:nvSpPr>
        <p:spPr>
          <a:xfrm>
            <a:off x="7059168" y="2962656"/>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7187183" y="3145536"/>
            <a:ext cx="438912" cy="438912"/>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87183" y="3264408"/>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68" name="TextBox 67"/>
          <p:cNvSpPr txBox="1"/>
          <p:nvPr/>
        </p:nvSpPr>
        <p:spPr>
          <a:xfrm>
            <a:off x="7735823" y="3081528"/>
            <a:ext cx="3922776" cy="201168"/>
          </a:xfrm>
          <a:prstGeom prst="rect">
            <a:avLst/>
          </a:prstGeom>
          <a:noFill/>
        </p:spPr>
        <p:txBody>
          <a:bodyPr wrap="square" lIns="0" rIns="0" tIns="0" bIns="0" anchor="t">
            <a:spAutoFit/>
          </a:bodyPr>
          <a:lstStyle/>
          <a:p>
            <a:pPr algn="l"/>
            <a:r>
              <a:rPr sz="1050" b="1" i="0">
                <a:solidFill>
                  <a:srgbClr val="0E3A4C"/>
                </a:solidFill>
                <a:latin typeface="Calibri"/>
              </a:rPr>
              <a:t>Two metrics are build gates</a:t>
            </a:r>
          </a:p>
        </p:txBody>
      </p:sp>
      <p:sp>
        <p:nvSpPr>
          <p:cNvPr id="69" name="TextBox 68"/>
          <p:cNvSpPr txBox="1"/>
          <p:nvPr/>
        </p:nvSpPr>
        <p:spPr>
          <a:xfrm>
            <a:off x="7735823" y="3310128"/>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Escalation correctness and prohibited coaching have no tolerance. They fail the build rather than lowering a score.</a:t>
            </a:r>
          </a:p>
        </p:txBody>
      </p:sp>
      <p:sp>
        <p:nvSpPr>
          <p:cNvPr id="70" name="Rounded Rectangle 69"/>
          <p:cNvSpPr/>
          <p:nvPr/>
        </p:nvSpPr>
        <p:spPr>
          <a:xfrm>
            <a:off x="7059168" y="3959352"/>
            <a:ext cx="4764024" cy="2496311"/>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42048" y="4087368"/>
            <a:ext cx="4206240" cy="182880"/>
          </a:xfrm>
          <a:prstGeom prst="rect">
            <a:avLst/>
          </a:prstGeom>
          <a:noFill/>
        </p:spPr>
        <p:txBody>
          <a:bodyPr wrap="square" lIns="0" rIns="0" tIns="0" bIns="0" anchor="t">
            <a:spAutoFit/>
          </a:bodyPr>
          <a:lstStyle/>
          <a:p>
            <a:pPr algn="l"/>
            <a:r>
              <a:rPr sz="860" b="1" i="0">
                <a:solidFill>
                  <a:srgbClr val="463283"/>
                </a:solidFill>
                <a:latin typeface="Calibri"/>
              </a:rPr>
              <a:t>THE DECISION THAT MATTERS HERE</a:t>
            </a:r>
          </a:p>
        </p:txBody>
      </p:sp>
      <p:sp>
        <p:nvSpPr>
          <p:cNvPr id="72" name="TextBox 71"/>
          <p:cNvSpPr txBox="1"/>
          <p:nvPr/>
        </p:nvSpPr>
        <p:spPr>
          <a:xfrm>
            <a:off x="7242048" y="4343400"/>
            <a:ext cx="4398264" cy="2057400"/>
          </a:xfrm>
          <a:prstGeom prst="rect">
            <a:avLst/>
          </a:prstGeom>
          <a:noFill/>
        </p:spPr>
        <p:txBody>
          <a:bodyPr wrap="square" lIns="0" rIns="0" tIns="0" bIns="0" anchor="t">
            <a:spAutoFit/>
          </a:bodyPr>
          <a:lstStyle/>
          <a:p>
            <a:pPr algn="l">
              <a:lnSpc>
                <a:spcPct val="126000"/>
              </a:lnSpc>
            </a:pPr>
            <a:r>
              <a:rPr sz="1100" b="0" i="0">
                <a:solidFill>
                  <a:srgbClr val="0E3A4C"/>
                </a:solidFill>
                <a:latin typeface="Calibri"/>
              </a:rPr>
              <a:t>The planner's whole comparison goes on the span, not only its choice.
That turns “it reordered because he was leaving” from a claim into something you can point at — and it is the best thing to put on screen in the demo.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7863840" cy="310896"/>
          </a:xfrm>
          <a:prstGeom prst="rect">
            <a:avLst/>
          </a:prstGeom>
          <a:noFill/>
        </p:spPr>
        <p:txBody>
          <a:bodyPr wrap="square" lIns="0" rIns="0" tIns="0" bIns="0" anchor="t">
            <a:spAutoFit/>
          </a:bodyPr>
          <a:lstStyle/>
          <a:p>
            <a:pPr algn="l"/>
            <a:r>
              <a:rPr sz="1800" b="1" i="0">
                <a:solidFill>
                  <a:srgbClr val="FFFFFF"/>
                </a:solidFill>
                <a:latin typeface="Cambria"/>
              </a:rPr>
              <a:t>7  ·  AI SAFETY / GUARDRAILS</a:t>
            </a:r>
          </a:p>
        </p:txBody>
      </p:sp>
      <p:sp>
        <p:nvSpPr>
          <p:cNvPr id="5" name="TextBox 4"/>
          <p:cNvSpPr txBox="1"/>
          <p:nvPr/>
        </p:nvSpPr>
        <p:spPr>
          <a:xfrm>
            <a:off x="365760" y="466344"/>
            <a:ext cx="7863840" cy="201168"/>
          </a:xfrm>
          <a:prstGeom prst="rect">
            <a:avLst/>
          </a:prstGeom>
          <a:noFill/>
        </p:spPr>
        <p:txBody>
          <a:bodyPr wrap="square" lIns="0" rIns="0" tIns="0" bIns="0" anchor="t">
            <a:spAutoFit/>
          </a:bodyPr>
          <a:lstStyle/>
          <a:p>
            <a:pPr algn="l"/>
            <a:r>
              <a:rPr sz="950" b="0" i="0">
                <a:solidFill>
                  <a:srgbClr val="9FC0D0"/>
                </a:solidFill>
                <a:latin typeface="Calibri"/>
              </a:rPr>
              <a:t>Custom built, because these rules are collision-specific.</a:t>
            </a:r>
          </a:p>
        </p:txBody>
      </p:sp>
      <p:sp>
        <p:nvSpPr>
          <p:cNvPr id="6" name="Rounded Rectangle 5"/>
          <p:cNvSpPr/>
          <p:nvPr/>
        </p:nvSpPr>
        <p:spPr>
          <a:xfrm>
            <a:off x="8796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96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1</a:t>
            </a:r>
          </a:p>
        </p:txBody>
      </p:sp>
      <p:sp>
        <p:nvSpPr>
          <p:cNvPr id="8" name="Rounded Rectangle 7"/>
          <p:cNvSpPr/>
          <p:nvPr/>
        </p:nvSpPr>
        <p:spPr>
          <a:xfrm>
            <a:off x="92537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537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2</a:t>
            </a:r>
          </a:p>
        </p:txBody>
      </p:sp>
      <p:sp>
        <p:nvSpPr>
          <p:cNvPr id="10" name="Rounded Rectangle 9"/>
          <p:cNvSpPr/>
          <p:nvPr/>
        </p:nvSpPr>
        <p:spPr>
          <a:xfrm>
            <a:off x="97109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109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3</a:t>
            </a:r>
          </a:p>
        </p:txBody>
      </p:sp>
      <p:sp>
        <p:nvSpPr>
          <p:cNvPr id="12" name="Rounded Rectangle 11"/>
          <p:cNvSpPr/>
          <p:nvPr/>
        </p:nvSpPr>
        <p:spPr>
          <a:xfrm>
            <a:off x="101681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81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4</a:t>
            </a:r>
          </a:p>
        </p:txBody>
      </p:sp>
      <p:sp>
        <p:nvSpPr>
          <p:cNvPr id="14" name="Rounded Rectangle 13"/>
          <p:cNvSpPr/>
          <p:nvPr/>
        </p:nvSpPr>
        <p:spPr>
          <a:xfrm>
            <a:off x="106253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253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5</a:t>
            </a:r>
          </a:p>
        </p:txBody>
      </p:sp>
      <p:sp>
        <p:nvSpPr>
          <p:cNvPr id="16" name="Rounded Rectangle 15"/>
          <p:cNvSpPr/>
          <p:nvPr/>
        </p:nvSpPr>
        <p:spPr>
          <a:xfrm>
            <a:off x="11082528" y="274320"/>
            <a:ext cx="384048" cy="237744"/>
          </a:xfrm>
          <a:prstGeom prst="roundRect">
            <a:avLst>
              <a:gd name="adj" fmla="val 35000"/>
            </a:avLst>
          </a:prstGeom>
          <a:solidFill>
            <a:srgbClr val="2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82528" y="333756"/>
            <a:ext cx="384048" cy="146304"/>
          </a:xfrm>
          <a:prstGeom prst="rect">
            <a:avLst/>
          </a:prstGeom>
          <a:noFill/>
        </p:spPr>
        <p:txBody>
          <a:bodyPr wrap="square" lIns="0" rIns="0" tIns="0" bIns="0" anchor="t">
            <a:spAutoFit/>
          </a:bodyPr>
          <a:lstStyle/>
          <a:p>
            <a:pPr algn="ctr"/>
            <a:r>
              <a:rPr sz="800" b="1" i="0">
                <a:solidFill>
                  <a:srgbClr val="6E8CA0"/>
                </a:solidFill>
                <a:latin typeface="Calibri"/>
              </a:rPr>
              <a:t>6</a:t>
            </a:r>
          </a:p>
        </p:txBody>
      </p:sp>
      <p:sp>
        <p:nvSpPr>
          <p:cNvPr id="18" name="Rounded Rectangle 17"/>
          <p:cNvSpPr/>
          <p:nvPr/>
        </p:nvSpPr>
        <p:spPr>
          <a:xfrm>
            <a:off x="11539728" y="274320"/>
            <a:ext cx="384048" cy="237744"/>
          </a:xfrm>
          <a:prstGeom prst="roundRect">
            <a:avLst>
              <a:gd name="adj" fmla="val 35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539728" y="333756"/>
            <a:ext cx="384048" cy="146304"/>
          </a:xfrm>
          <a:prstGeom prst="rect">
            <a:avLst/>
          </a:prstGeom>
          <a:noFill/>
        </p:spPr>
        <p:txBody>
          <a:bodyPr wrap="square" lIns="0" rIns="0" tIns="0" bIns="0" anchor="t">
            <a:spAutoFit/>
          </a:bodyPr>
          <a:lstStyle/>
          <a:p>
            <a:pPr algn="ctr"/>
            <a:r>
              <a:rPr sz="800" b="1" i="0">
                <a:solidFill>
                  <a:srgbClr val="FFFFFF"/>
                </a:solidFill>
                <a:latin typeface="Calibri"/>
              </a:rPr>
              <a:t>7</a:t>
            </a:r>
          </a:p>
        </p:txBody>
      </p:sp>
      <p:sp>
        <p:nvSpPr>
          <p:cNvPr id="20" name="TextBox 19"/>
          <p:cNvSpPr txBox="1"/>
          <p:nvPr/>
        </p:nvSpPr>
        <p:spPr>
          <a:xfrm>
            <a:off x="365760"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WHAT THIS LAYER CARRIES</a:t>
            </a:r>
          </a:p>
        </p:txBody>
      </p:sp>
      <p:sp>
        <p:nvSpPr>
          <p:cNvPr id="21" name="Rounded Rectangle 20"/>
          <p:cNvSpPr/>
          <p:nvPr/>
        </p:nvSpPr>
        <p:spPr>
          <a:xfrm>
            <a:off x="365760"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3776" y="1280160"/>
            <a:ext cx="82296" cy="768096"/>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Hard stops</a:t>
            </a:r>
          </a:p>
        </p:txBody>
      </p:sp>
      <p:sp>
        <p:nvSpPr>
          <p:cNvPr id="24" name="TextBox 23"/>
          <p:cNvSpPr txBox="1"/>
          <p:nvPr/>
        </p:nvSpPr>
        <p:spPr>
          <a:xfrm>
            <a:off x="694944"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Injury, hostility, fire, weapons, suspected staging. Enforced at the guard, before the planner.</a:t>
            </a:r>
          </a:p>
        </p:txBody>
      </p:sp>
      <p:sp>
        <p:nvSpPr>
          <p:cNvPr id="25" name="Rounded Rectangle 24"/>
          <p:cNvSpPr/>
          <p:nvPr/>
        </p:nvSpPr>
        <p:spPr>
          <a:xfrm>
            <a:off x="3694176" y="1152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822191" y="1280160"/>
            <a:ext cx="82296" cy="768096"/>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1261872"/>
            <a:ext cx="2724911" cy="237744"/>
          </a:xfrm>
          <a:prstGeom prst="rect">
            <a:avLst/>
          </a:prstGeom>
          <a:noFill/>
        </p:spPr>
        <p:txBody>
          <a:bodyPr wrap="square" lIns="0" rIns="0" tIns="0" bIns="0" anchor="t">
            <a:spAutoFit/>
          </a:bodyPr>
          <a:lstStyle/>
          <a:p>
            <a:pPr algn="l"/>
            <a:r>
              <a:rPr sz="1150" b="1" i="0">
                <a:solidFill>
                  <a:srgbClr val="0E3A4C"/>
                </a:solidFill>
                <a:latin typeface="Calibri"/>
              </a:rPr>
              <a:t>Prohibited speech</a:t>
            </a:r>
          </a:p>
        </p:txBody>
      </p:sp>
      <p:sp>
        <p:nvSpPr>
          <p:cNvPr id="28" name="TextBox 27"/>
          <p:cNvSpPr txBox="1"/>
          <p:nvPr/>
        </p:nvSpPr>
        <p:spPr>
          <a:xfrm>
            <a:off x="4023360" y="1517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Never coaches an admission of fault — and interrupts her when she is about to apologise.</a:t>
            </a:r>
          </a:p>
        </p:txBody>
      </p:sp>
      <p:sp>
        <p:nvSpPr>
          <p:cNvPr id="29" name="Rounded Rectangle 28"/>
          <p:cNvSpPr/>
          <p:nvPr/>
        </p:nvSpPr>
        <p:spPr>
          <a:xfrm>
            <a:off x="365760"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2423160"/>
            <a:ext cx="82296" cy="768096"/>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Approval gates</a:t>
            </a:r>
          </a:p>
        </p:txBody>
      </p:sp>
      <p:sp>
        <p:nvSpPr>
          <p:cNvPr id="32" name="TextBox 31"/>
          <p:cNvSpPr txBox="1"/>
          <p:nvPr/>
        </p:nvSpPr>
        <p:spPr>
          <a:xfrm>
            <a:off x="694944"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requires_approval routed through the confirm node. Nothing leaves the phone alone.</a:t>
            </a:r>
          </a:p>
        </p:txBody>
      </p:sp>
      <p:sp>
        <p:nvSpPr>
          <p:cNvPr id="33" name="Rounded Rectangle 32"/>
          <p:cNvSpPr/>
          <p:nvPr/>
        </p:nvSpPr>
        <p:spPr>
          <a:xfrm>
            <a:off x="3694176" y="2295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822191" y="2423160"/>
            <a:ext cx="82296" cy="768096"/>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23360" y="2404872"/>
            <a:ext cx="2724911" cy="237744"/>
          </a:xfrm>
          <a:prstGeom prst="rect">
            <a:avLst/>
          </a:prstGeom>
          <a:noFill/>
        </p:spPr>
        <p:txBody>
          <a:bodyPr wrap="square" lIns="0" rIns="0" tIns="0" bIns="0" anchor="t">
            <a:spAutoFit/>
          </a:bodyPr>
          <a:lstStyle/>
          <a:p>
            <a:pPr algn="l"/>
            <a:r>
              <a:rPr sz="1150" b="1" i="0">
                <a:solidFill>
                  <a:srgbClr val="0E3A4C"/>
                </a:solidFill>
                <a:latin typeface="Calibri"/>
              </a:rPr>
              <a:t>Grounding</a:t>
            </a:r>
          </a:p>
        </p:txBody>
      </p:sp>
      <p:sp>
        <p:nvSpPr>
          <p:cNvPr id="36" name="TextBox 35"/>
          <p:cNvSpPr txBox="1"/>
          <p:nvPr/>
        </p:nvSpPr>
        <p:spPr>
          <a:xfrm>
            <a:off x="4023360" y="2660903"/>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Every assertion cites a retrieved chunk. It may say it does not know; it may not invent a rule.</a:t>
            </a:r>
          </a:p>
        </p:txBody>
      </p:sp>
      <p:sp>
        <p:nvSpPr>
          <p:cNvPr id="37" name="Rounded Rectangle 36"/>
          <p:cNvSpPr/>
          <p:nvPr/>
        </p:nvSpPr>
        <p:spPr>
          <a:xfrm>
            <a:off x="365760"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93776" y="3566160"/>
            <a:ext cx="82296" cy="768096"/>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Scope refusals</a:t>
            </a:r>
          </a:p>
        </p:txBody>
      </p:sp>
      <p:sp>
        <p:nvSpPr>
          <p:cNvPr id="40" name="TextBox 39"/>
          <p:cNvSpPr txBox="1"/>
          <p:nvPr/>
        </p:nvSpPr>
        <p:spPr>
          <a:xfrm>
            <a:off x="694944"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No opinion on fault. No emergency dispatch. No legal or insurance advice.</a:t>
            </a:r>
          </a:p>
        </p:txBody>
      </p:sp>
      <p:sp>
        <p:nvSpPr>
          <p:cNvPr id="41" name="Rounded Rectangle 40"/>
          <p:cNvSpPr/>
          <p:nvPr/>
        </p:nvSpPr>
        <p:spPr>
          <a:xfrm>
            <a:off x="3694176" y="3438144"/>
            <a:ext cx="3182111" cy="1024128"/>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3822191" y="3566160"/>
            <a:ext cx="82296" cy="768096"/>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23360" y="3547872"/>
            <a:ext cx="2724911" cy="237744"/>
          </a:xfrm>
          <a:prstGeom prst="rect">
            <a:avLst/>
          </a:prstGeom>
          <a:noFill/>
        </p:spPr>
        <p:txBody>
          <a:bodyPr wrap="square" lIns="0" rIns="0" tIns="0" bIns="0" anchor="t">
            <a:spAutoFit/>
          </a:bodyPr>
          <a:lstStyle/>
          <a:p>
            <a:pPr algn="l"/>
            <a:r>
              <a:rPr sz="1150" b="1" i="0">
                <a:solidFill>
                  <a:srgbClr val="0E3A4C"/>
                </a:solidFill>
                <a:latin typeface="Calibri"/>
              </a:rPr>
              <a:t>Zero-tolerance evals</a:t>
            </a:r>
          </a:p>
        </p:txBody>
      </p:sp>
      <p:sp>
        <p:nvSpPr>
          <p:cNvPr id="44" name="TextBox 43"/>
          <p:cNvSpPr txBox="1"/>
          <p:nvPr/>
        </p:nvSpPr>
        <p:spPr>
          <a:xfrm>
            <a:off x="4023360" y="3803904"/>
            <a:ext cx="2724911" cy="548640"/>
          </a:xfrm>
          <a:prstGeom prst="rect">
            <a:avLst/>
          </a:prstGeom>
          <a:noFill/>
        </p:spPr>
        <p:txBody>
          <a:bodyPr wrap="square" lIns="0" rIns="0" tIns="0" bIns="0" anchor="t">
            <a:spAutoFit/>
          </a:bodyPr>
          <a:lstStyle/>
          <a:p>
            <a:pPr algn="l">
              <a:lnSpc>
                <a:spcPct val="120000"/>
              </a:lnSpc>
            </a:pPr>
            <a:r>
              <a:rPr sz="950" b="0" i="0">
                <a:solidFill>
                  <a:srgbClr val="6B7A85"/>
                </a:solidFill>
                <a:latin typeface="Calibri"/>
              </a:rPr>
              <a:t>Escalation and prohibited coaching, measured every run, failing the build at one breach.</a:t>
            </a:r>
          </a:p>
        </p:txBody>
      </p:sp>
      <p:sp>
        <p:nvSpPr>
          <p:cNvPr id="45" name="Rounded Rectangle 44"/>
          <p:cNvSpPr/>
          <p:nvPr/>
        </p:nvSpPr>
        <p:spPr>
          <a:xfrm>
            <a:off x="365760" y="4599431"/>
            <a:ext cx="6510527" cy="548640"/>
          </a:xfrm>
          <a:prstGeom prst="roundRect">
            <a:avLst>
              <a:gd name="adj" fmla="val 6000"/>
            </a:avLst>
          </a:prstGeom>
          <a:solidFill>
            <a:srgbClr val="FFFFFF"/>
          </a:solidFill>
          <a:ln w="12700">
            <a:solidFill>
              <a:srgbClr val="9E2B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4681727"/>
            <a:ext cx="2468880" cy="182880"/>
          </a:xfrm>
          <a:prstGeom prst="rect">
            <a:avLst/>
          </a:prstGeom>
          <a:noFill/>
        </p:spPr>
        <p:txBody>
          <a:bodyPr wrap="square" lIns="0" rIns="0" tIns="0" bIns="0" anchor="t">
            <a:spAutoFit/>
          </a:bodyPr>
          <a:lstStyle/>
          <a:p>
            <a:pPr algn="l"/>
            <a:r>
              <a:rPr sz="860" b="1" i="0">
                <a:solidFill>
                  <a:srgbClr val="9E2B25"/>
                </a:solidFill>
                <a:latin typeface="Calibri"/>
              </a:rPr>
              <a:t>FEATURES IT DELIVERS</a:t>
            </a:r>
          </a:p>
        </p:txBody>
      </p:sp>
      <p:sp>
        <p:nvSpPr>
          <p:cNvPr id="47" name="Rounded Rectangle 46"/>
          <p:cNvSpPr/>
          <p:nvPr/>
        </p:nvSpPr>
        <p:spPr>
          <a:xfrm>
            <a:off x="3063240" y="4727447"/>
            <a:ext cx="310896" cy="274320"/>
          </a:xfrm>
          <a:prstGeom prst="roundRect">
            <a:avLst>
              <a:gd name="adj" fmla="val 40000"/>
            </a:avLst>
          </a:prstGeom>
          <a:solidFill>
            <a:srgbClr val="F3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063240" y="4791455"/>
            <a:ext cx="310896" cy="164592"/>
          </a:xfrm>
          <a:prstGeom prst="rect">
            <a:avLst/>
          </a:prstGeom>
          <a:noFill/>
        </p:spPr>
        <p:txBody>
          <a:bodyPr wrap="square" lIns="0" rIns="0" tIns="0" bIns="0" anchor="t">
            <a:spAutoFit/>
          </a:bodyPr>
          <a:lstStyle/>
          <a:p>
            <a:pPr algn="ctr"/>
            <a:r>
              <a:rPr sz="860" b="1" i="0">
                <a:solidFill>
                  <a:srgbClr val="9E2B25"/>
                </a:solidFill>
                <a:latin typeface="Calibri"/>
              </a:rPr>
              <a:t>5</a:t>
            </a:r>
          </a:p>
        </p:txBody>
      </p:sp>
      <p:sp>
        <p:nvSpPr>
          <p:cNvPr id="49" name="Rounded Rectangle 48"/>
          <p:cNvSpPr/>
          <p:nvPr/>
        </p:nvSpPr>
        <p:spPr>
          <a:xfrm>
            <a:off x="3438144" y="4727447"/>
            <a:ext cx="310896" cy="274320"/>
          </a:xfrm>
          <a:prstGeom prst="roundRect">
            <a:avLst>
              <a:gd name="adj" fmla="val 40000"/>
            </a:avLst>
          </a:prstGeom>
          <a:solidFill>
            <a:srgbClr val="F3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38144" y="4791455"/>
            <a:ext cx="310896" cy="164592"/>
          </a:xfrm>
          <a:prstGeom prst="rect">
            <a:avLst/>
          </a:prstGeom>
          <a:noFill/>
        </p:spPr>
        <p:txBody>
          <a:bodyPr wrap="square" lIns="0" rIns="0" tIns="0" bIns="0" anchor="t">
            <a:spAutoFit/>
          </a:bodyPr>
          <a:lstStyle/>
          <a:p>
            <a:pPr algn="ctr"/>
            <a:r>
              <a:rPr sz="860" b="1" i="0">
                <a:solidFill>
                  <a:srgbClr val="9E2B25"/>
                </a:solidFill>
                <a:latin typeface="Calibri"/>
              </a:rPr>
              <a:t>10</a:t>
            </a:r>
          </a:p>
        </p:txBody>
      </p:sp>
      <p:sp>
        <p:nvSpPr>
          <p:cNvPr id="51" name="Rounded Rectangle 50"/>
          <p:cNvSpPr/>
          <p:nvPr/>
        </p:nvSpPr>
        <p:spPr>
          <a:xfrm>
            <a:off x="3813048" y="4727447"/>
            <a:ext cx="310896" cy="274320"/>
          </a:xfrm>
          <a:prstGeom prst="roundRect">
            <a:avLst>
              <a:gd name="adj" fmla="val 40000"/>
            </a:avLst>
          </a:prstGeom>
          <a:solidFill>
            <a:srgbClr val="F3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13048" y="4791455"/>
            <a:ext cx="310896" cy="164592"/>
          </a:xfrm>
          <a:prstGeom prst="rect">
            <a:avLst/>
          </a:prstGeom>
          <a:noFill/>
        </p:spPr>
        <p:txBody>
          <a:bodyPr wrap="square" lIns="0" rIns="0" tIns="0" bIns="0" anchor="t">
            <a:spAutoFit/>
          </a:bodyPr>
          <a:lstStyle/>
          <a:p>
            <a:pPr algn="ctr"/>
            <a:r>
              <a:rPr sz="860" b="1" i="0">
                <a:solidFill>
                  <a:srgbClr val="9E2B25"/>
                </a:solidFill>
                <a:latin typeface="Calibri"/>
              </a:rPr>
              <a:t>18</a:t>
            </a:r>
          </a:p>
        </p:txBody>
      </p:sp>
      <p:sp>
        <p:nvSpPr>
          <p:cNvPr id="53" name="Rounded Rectangle 52"/>
          <p:cNvSpPr/>
          <p:nvPr/>
        </p:nvSpPr>
        <p:spPr>
          <a:xfrm>
            <a:off x="4187952" y="4727447"/>
            <a:ext cx="310896" cy="274320"/>
          </a:xfrm>
          <a:prstGeom prst="roundRect">
            <a:avLst>
              <a:gd name="adj" fmla="val 40000"/>
            </a:avLst>
          </a:prstGeom>
          <a:solidFill>
            <a:srgbClr val="F3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87952" y="4791455"/>
            <a:ext cx="310896" cy="164592"/>
          </a:xfrm>
          <a:prstGeom prst="rect">
            <a:avLst/>
          </a:prstGeom>
          <a:noFill/>
        </p:spPr>
        <p:txBody>
          <a:bodyPr wrap="square" lIns="0" rIns="0" tIns="0" bIns="0" anchor="t">
            <a:spAutoFit/>
          </a:bodyPr>
          <a:lstStyle/>
          <a:p>
            <a:pPr algn="ctr"/>
            <a:r>
              <a:rPr sz="860" b="1" i="0">
                <a:solidFill>
                  <a:srgbClr val="9E2B25"/>
                </a:solidFill>
                <a:latin typeface="Calibri"/>
              </a:rPr>
              <a:t>24</a:t>
            </a:r>
          </a:p>
        </p:txBody>
      </p:sp>
      <p:sp>
        <p:nvSpPr>
          <p:cNvPr id="55" name="Rounded Rectangle 54"/>
          <p:cNvSpPr/>
          <p:nvPr/>
        </p:nvSpPr>
        <p:spPr>
          <a:xfrm>
            <a:off x="4562856" y="4727447"/>
            <a:ext cx="310896" cy="274320"/>
          </a:xfrm>
          <a:prstGeom prst="roundRect">
            <a:avLst>
              <a:gd name="adj" fmla="val 40000"/>
            </a:avLst>
          </a:prstGeom>
          <a:solidFill>
            <a:srgbClr val="F3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62856" y="4791455"/>
            <a:ext cx="310896" cy="164592"/>
          </a:xfrm>
          <a:prstGeom prst="rect">
            <a:avLst/>
          </a:prstGeom>
          <a:noFill/>
        </p:spPr>
        <p:txBody>
          <a:bodyPr wrap="square" lIns="0" rIns="0" tIns="0" bIns="0" anchor="t">
            <a:spAutoFit/>
          </a:bodyPr>
          <a:lstStyle/>
          <a:p>
            <a:pPr algn="ctr"/>
            <a:r>
              <a:rPr sz="860" b="1" i="0">
                <a:solidFill>
                  <a:srgbClr val="9E2B25"/>
                </a:solidFill>
                <a:latin typeface="Calibri"/>
              </a:rPr>
              <a:t>26</a:t>
            </a:r>
          </a:p>
        </p:txBody>
      </p:sp>
      <p:sp>
        <p:nvSpPr>
          <p:cNvPr id="57" name="Rounded Rectangle 56"/>
          <p:cNvSpPr/>
          <p:nvPr/>
        </p:nvSpPr>
        <p:spPr>
          <a:xfrm>
            <a:off x="4937760" y="4727447"/>
            <a:ext cx="310896" cy="274320"/>
          </a:xfrm>
          <a:prstGeom prst="roundRect">
            <a:avLst>
              <a:gd name="adj" fmla="val 40000"/>
            </a:avLst>
          </a:prstGeom>
          <a:solidFill>
            <a:srgbClr val="F3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937760" y="4791455"/>
            <a:ext cx="310896" cy="164592"/>
          </a:xfrm>
          <a:prstGeom prst="rect">
            <a:avLst/>
          </a:prstGeom>
          <a:noFill/>
        </p:spPr>
        <p:txBody>
          <a:bodyPr wrap="square" lIns="0" rIns="0" tIns="0" bIns="0" anchor="t">
            <a:spAutoFit/>
          </a:bodyPr>
          <a:lstStyle/>
          <a:p>
            <a:pPr algn="ctr"/>
            <a:r>
              <a:rPr sz="860" b="1" i="0">
                <a:solidFill>
                  <a:srgbClr val="9E2B25"/>
                </a:solidFill>
                <a:latin typeface="Calibri"/>
              </a:rPr>
              <a:t>28</a:t>
            </a:r>
          </a:p>
        </p:txBody>
      </p:sp>
      <p:sp>
        <p:nvSpPr>
          <p:cNvPr id="59" name="Rounded Rectangle 58"/>
          <p:cNvSpPr/>
          <p:nvPr/>
        </p:nvSpPr>
        <p:spPr>
          <a:xfrm>
            <a:off x="365760" y="5257799"/>
            <a:ext cx="6510527" cy="1197864"/>
          </a:xfrm>
          <a:prstGeom prst="roundRect">
            <a:avLst>
              <a:gd name="adj" fmla="val 6000"/>
            </a:avLst>
          </a:prstGeom>
          <a:solidFill>
            <a:srgbClr val="FFF4F0"/>
          </a:solidFill>
          <a:ln w="12700">
            <a:solidFill>
              <a:srgbClr val="E8B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0352" y="5358383"/>
            <a:ext cx="1463040" cy="182880"/>
          </a:xfrm>
          <a:prstGeom prst="rect">
            <a:avLst/>
          </a:prstGeom>
          <a:noFill/>
        </p:spPr>
        <p:txBody>
          <a:bodyPr wrap="square" lIns="0" rIns="0" tIns="0" bIns="0" anchor="t">
            <a:spAutoFit/>
          </a:bodyPr>
          <a:lstStyle/>
          <a:p>
            <a:pPr algn="l"/>
            <a:r>
              <a:rPr sz="860" b="1" i="0">
                <a:solidFill>
                  <a:srgbClr val="A85A3C"/>
                </a:solidFill>
                <a:latin typeface="Calibri"/>
              </a:rPr>
              <a:t>IF IT FAILS</a:t>
            </a:r>
          </a:p>
        </p:txBody>
      </p:sp>
      <p:sp>
        <p:nvSpPr>
          <p:cNvPr id="61" name="TextBox 60"/>
          <p:cNvSpPr txBox="1"/>
          <p:nvPr/>
        </p:nvSpPr>
        <p:spPr>
          <a:xfrm>
            <a:off x="530352" y="5568695"/>
            <a:ext cx="6181343" cy="850392"/>
          </a:xfrm>
          <a:prstGeom prst="rect">
            <a:avLst/>
          </a:prstGeom>
          <a:noFill/>
        </p:spPr>
        <p:txBody>
          <a:bodyPr wrap="square" lIns="0" rIns="0" tIns="0" bIns="0" anchor="t">
            <a:spAutoFit/>
          </a:bodyPr>
          <a:lstStyle/>
          <a:p>
            <a:pPr algn="l">
              <a:lnSpc>
                <a:spcPct val="120000"/>
              </a:lnSpc>
            </a:pPr>
            <a:r>
              <a:rPr sz="950" b="0" i="0">
                <a:solidFill>
                  <a:srgbClr val="7A4630"/>
                </a:solidFill>
                <a:latin typeface="Calibri"/>
              </a:rPr>
              <a:t>There is no degraded safety mode. If the guard cannot run, the session does not start. Everything else in this deck can be lost before this one is.</a:t>
            </a:r>
          </a:p>
        </p:txBody>
      </p:sp>
      <p:sp>
        <p:nvSpPr>
          <p:cNvPr id="62" name="TextBox 61"/>
          <p:cNvSpPr txBox="1"/>
          <p:nvPr/>
        </p:nvSpPr>
        <p:spPr>
          <a:xfrm>
            <a:off x="7059168" y="914400"/>
            <a:ext cx="3657600" cy="182880"/>
          </a:xfrm>
          <a:prstGeom prst="rect">
            <a:avLst/>
          </a:prstGeom>
          <a:noFill/>
        </p:spPr>
        <p:txBody>
          <a:bodyPr wrap="square" lIns="0" rIns="0" tIns="0" bIns="0" anchor="t">
            <a:spAutoFit/>
          </a:bodyPr>
          <a:lstStyle/>
          <a:p>
            <a:pPr algn="l"/>
            <a:r>
              <a:rPr sz="900" b="1" i="0">
                <a:solidFill>
                  <a:srgbClr val="6B7A85"/>
                </a:solidFill>
                <a:latin typeface="Calibri"/>
              </a:rPr>
              <a:t>HOW IT CONNECTS</a:t>
            </a:r>
          </a:p>
        </p:txBody>
      </p:sp>
      <p:sp>
        <p:nvSpPr>
          <p:cNvPr id="63" name="Rounded Rectangle 62"/>
          <p:cNvSpPr/>
          <p:nvPr/>
        </p:nvSpPr>
        <p:spPr>
          <a:xfrm>
            <a:off x="7059168" y="1152144"/>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187183" y="1335024"/>
            <a:ext cx="438912" cy="438912"/>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187183" y="1453896"/>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66" name="TextBox 65"/>
          <p:cNvSpPr txBox="1"/>
          <p:nvPr/>
        </p:nvSpPr>
        <p:spPr>
          <a:xfrm>
            <a:off x="7735823" y="1271016"/>
            <a:ext cx="3922776" cy="201168"/>
          </a:xfrm>
          <a:prstGeom prst="rect">
            <a:avLst/>
          </a:prstGeom>
          <a:noFill/>
        </p:spPr>
        <p:txBody>
          <a:bodyPr wrap="square" lIns="0" rIns="0" tIns="0" bIns="0" anchor="t">
            <a:spAutoFit/>
          </a:bodyPr>
          <a:lstStyle/>
          <a:p>
            <a:pPr algn="l"/>
            <a:r>
              <a:rPr sz="1050" b="1" i="0">
                <a:solidFill>
                  <a:srgbClr val="0E3A4C"/>
                </a:solidFill>
                <a:latin typeface="Calibri"/>
              </a:rPr>
              <a:t>Touches every layer, owned by none</a:t>
            </a:r>
          </a:p>
        </p:txBody>
      </p:sp>
      <p:sp>
        <p:nvSpPr>
          <p:cNvPr id="67" name="TextBox 66"/>
          <p:cNvSpPr txBox="1"/>
          <p:nvPr/>
        </p:nvSpPr>
        <p:spPr>
          <a:xfrm>
            <a:off x="7735823" y="1499616"/>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That is why it is drawn as a column. A safety layer could be routed around; a column cannot.</a:t>
            </a:r>
          </a:p>
        </p:txBody>
      </p:sp>
      <p:sp>
        <p:nvSpPr>
          <p:cNvPr id="68" name="Rounded Rectangle 67"/>
          <p:cNvSpPr/>
          <p:nvPr/>
        </p:nvSpPr>
        <p:spPr>
          <a:xfrm>
            <a:off x="7059168" y="2057400"/>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7187183" y="2240280"/>
            <a:ext cx="438912" cy="438912"/>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87183" y="2359152"/>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1" name="TextBox 70"/>
          <p:cNvSpPr txBox="1"/>
          <p:nvPr/>
        </p:nvSpPr>
        <p:spPr>
          <a:xfrm>
            <a:off x="7735823" y="2176272"/>
            <a:ext cx="3922776" cy="201168"/>
          </a:xfrm>
          <a:prstGeom prst="rect">
            <a:avLst/>
          </a:prstGeom>
          <a:noFill/>
        </p:spPr>
        <p:txBody>
          <a:bodyPr wrap="square" lIns="0" rIns="0" tIns="0" bIns="0" anchor="t">
            <a:spAutoFit/>
          </a:bodyPr>
          <a:lstStyle/>
          <a:p>
            <a:pPr algn="l"/>
            <a:r>
              <a:rPr sz="1050" b="1" i="0">
                <a:solidFill>
                  <a:srgbClr val="0E3A4C"/>
                </a:solidFill>
                <a:latin typeface="Calibri"/>
              </a:rPr>
              <a:t>Enforced structurally, not by prompt</a:t>
            </a:r>
          </a:p>
        </p:txBody>
      </p:sp>
      <p:sp>
        <p:nvSpPr>
          <p:cNvPr id="72" name="TextBox 71"/>
          <p:cNvSpPr txBox="1"/>
          <p:nvPr/>
        </p:nvSpPr>
        <p:spPr>
          <a:xfrm>
            <a:off x="7735823" y="2404872"/>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The guard is a node. Approval is a field. Grounding is a retrieval contract. None of it depends on the model complying.</a:t>
            </a:r>
          </a:p>
        </p:txBody>
      </p:sp>
      <p:sp>
        <p:nvSpPr>
          <p:cNvPr id="73" name="Rounded Rectangle 72"/>
          <p:cNvSpPr/>
          <p:nvPr/>
        </p:nvSpPr>
        <p:spPr>
          <a:xfrm>
            <a:off x="7059168" y="2962656"/>
            <a:ext cx="4764024" cy="804672"/>
          </a:xfrm>
          <a:prstGeom prst="roundRect">
            <a:avLst>
              <a:gd name="adj" fmla="val 6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7187183" y="3145536"/>
            <a:ext cx="438912" cy="438912"/>
          </a:xfrm>
          <a:prstGeom prst="roundRect">
            <a:avLst>
              <a:gd name="adj" fmla="val 50000"/>
            </a:avLst>
          </a:prstGeom>
          <a:solidFill>
            <a:srgbClr val="9E2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87183" y="3264408"/>
            <a:ext cx="438912" cy="201168"/>
          </a:xfrm>
          <a:prstGeom prst="rect">
            <a:avLst/>
          </a:prstGeom>
          <a:noFill/>
        </p:spPr>
        <p:txBody>
          <a:bodyPr wrap="square" lIns="0" rIns="0" tIns="0" bIns="0" anchor="t">
            <a:spAutoFit/>
          </a:bodyPr>
          <a:lstStyle/>
          <a:p>
            <a:pPr algn="ctr"/>
            <a:r>
              <a:rPr sz="1200" b="1" i="0">
                <a:solidFill>
                  <a:srgbClr val="FFFFFF"/>
                </a:solidFill>
                <a:latin typeface="Calibri"/>
              </a:rPr>
              <a:t>→</a:t>
            </a:r>
          </a:p>
        </p:txBody>
      </p:sp>
      <p:sp>
        <p:nvSpPr>
          <p:cNvPr id="76" name="TextBox 75"/>
          <p:cNvSpPr txBox="1"/>
          <p:nvPr/>
        </p:nvSpPr>
        <p:spPr>
          <a:xfrm>
            <a:off x="7735823" y="3081528"/>
            <a:ext cx="3922776" cy="201168"/>
          </a:xfrm>
          <a:prstGeom prst="rect">
            <a:avLst/>
          </a:prstGeom>
          <a:noFill/>
        </p:spPr>
        <p:txBody>
          <a:bodyPr wrap="square" lIns="0" rIns="0" tIns="0" bIns="0" anchor="t">
            <a:spAutoFit/>
          </a:bodyPr>
          <a:lstStyle/>
          <a:p>
            <a:pPr algn="l"/>
            <a:r>
              <a:rPr sz="1050" b="1" i="0">
                <a:solidFill>
                  <a:srgbClr val="0E3A4C"/>
                </a:solidFill>
                <a:latin typeface="Calibri"/>
              </a:rPr>
              <a:t>Proven in observability</a:t>
            </a:r>
          </a:p>
        </p:txBody>
      </p:sp>
      <p:sp>
        <p:nvSpPr>
          <p:cNvPr id="77" name="TextBox 76"/>
          <p:cNvSpPr txBox="1"/>
          <p:nvPr/>
        </p:nvSpPr>
        <p:spPr>
          <a:xfrm>
            <a:off x="7735823" y="3310128"/>
            <a:ext cx="3922776" cy="347472"/>
          </a:xfrm>
          <a:prstGeom prst="rect">
            <a:avLst/>
          </a:prstGeom>
          <a:noFill/>
        </p:spPr>
        <p:txBody>
          <a:bodyPr wrap="square" lIns="0" rIns="0" tIns="0" bIns="0" anchor="t">
            <a:spAutoFit/>
          </a:bodyPr>
          <a:lstStyle/>
          <a:p>
            <a:pPr algn="l">
              <a:lnSpc>
                <a:spcPct val="118000"/>
              </a:lnSpc>
            </a:pPr>
            <a:r>
              <a:rPr sz="919" b="0" i="0">
                <a:solidFill>
                  <a:srgbClr val="6B7A85"/>
                </a:solidFill>
                <a:latin typeface="Calibri"/>
              </a:rPr>
              <a:t>Every guardrail has a metric behind it, so “it is safe” is a number rather than an intention.</a:t>
            </a:r>
          </a:p>
        </p:txBody>
      </p:sp>
      <p:sp>
        <p:nvSpPr>
          <p:cNvPr id="78" name="Rounded Rectangle 77"/>
          <p:cNvSpPr/>
          <p:nvPr/>
        </p:nvSpPr>
        <p:spPr>
          <a:xfrm>
            <a:off x="7059168" y="3959352"/>
            <a:ext cx="4764024" cy="2496311"/>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242048" y="4087368"/>
            <a:ext cx="4206240" cy="182880"/>
          </a:xfrm>
          <a:prstGeom prst="rect">
            <a:avLst/>
          </a:prstGeom>
          <a:noFill/>
        </p:spPr>
        <p:txBody>
          <a:bodyPr wrap="square" lIns="0" rIns="0" tIns="0" bIns="0" anchor="t">
            <a:spAutoFit/>
          </a:bodyPr>
          <a:lstStyle/>
          <a:p>
            <a:pPr algn="l"/>
            <a:r>
              <a:rPr sz="860" b="1" i="0">
                <a:solidFill>
                  <a:srgbClr val="463283"/>
                </a:solidFill>
                <a:latin typeface="Calibri"/>
              </a:rPr>
              <a:t>THE DECISION THAT MATTERS HERE</a:t>
            </a:r>
          </a:p>
        </p:txBody>
      </p:sp>
      <p:sp>
        <p:nvSpPr>
          <p:cNvPr id="80" name="TextBox 79"/>
          <p:cNvSpPr txBox="1"/>
          <p:nvPr/>
        </p:nvSpPr>
        <p:spPr>
          <a:xfrm>
            <a:off x="7242048" y="4343400"/>
            <a:ext cx="4398264" cy="2057400"/>
          </a:xfrm>
          <a:prstGeom prst="rect">
            <a:avLst/>
          </a:prstGeom>
          <a:noFill/>
        </p:spPr>
        <p:txBody>
          <a:bodyPr wrap="square" lIns="0" rIns="0" tIns="0" bIns="0" anchor="t">
            <a:spAutoFit/>
          </a:bodyPr>
          <a:lstStyle/>
          <a:p>
            <a:pPr algn="l">
              <a:lnSpc>
                <a:spcPct val="126000"/>
              </a:lnSpc>
            </a:pPr>
            <a:r>
              <a:rPr sz="1100" b="0" i="0">
                <a:solidFill>
                  <a:srgbClr val="0E3A4C"/>
                </a:solidFill>
                <a:latin typeface="Calibri"/>
              </a:rPr>
              <a:t>Safety is structural, never predicted.
An agent that keeps working its evidence script while somebody is bleeding is the failure this design exists to make impossible — so the guard pre-empts the planner rather than competing with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Architectural decisions</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What we chose, what we rejected, and why.</a:t>
            </a:r>
          </a:p>
        </p:txBody>
      </p:sp>
      <p:sp>
        <p:nvSpPr>
          <p:cNvPr id="6" name="TextBox 5"/>
          <p:cNvSpPr txBox="1"/>
          <p:nvPr/>
        </p:nvSpPr>
        <p:spPr>
          <a:xfrm>
            <a:off x="512064" y="969264"/>
            <a:ext cx="1957456" cy="201168"/>
          </a:xfrm>
          <a:prstGeom prst="rect">
            <a:avLst/>
          </a:prstGeom>
          <a:noFill/>
        </p:spPr>
        <p:txBody>
          <a:bodyPr wrap="square" lIns="0" rIns="0" tIns="0" bIns="0" anchor="t">
            <a:spAutoFit/>
          </a:bodyPr>
          <a:lstStyle/>
          <a:p>
            <a:pPr algn="l"/>
            <a:r>
              <a:rPr sz="860" b="1" i="0">
                <a:solidFill>
                  <a:srgbClr val="6B7A85"/>
                </a:solidFill>
                <a:latin typeface="Calibri"/>
              </a:rPr>
              <a:t>DECISION</a:t>
            </a:r>
          </a:p>
        </p:txBody>
      </p:sp>
      <p:sp>
        <p:nvSpPr>
          <p:cNvPr id="7" name="TextBox 6"/>
          <p:cNvSpPr txBox="1"/>
          <p:nvPr/>
        </p:nvSpPr>
        <p:spPr>
          <a:xfrm>
            <a:off x="2688976" y="969264"/>
            <a:ext cx="2530327" cy="201168"/>
          </a:xfrm>
          <a:prstGeom prst="rect">
            <a:avLst/>
          </a:prstGeom>
          <a:noFill/>
        </p:spPr>
        <p:txBody>
          <a:bodyPr wrap="square" lIns="0" rIns="0" tIns="0" bIns="0" anchor="t">
            <a:spAutoFit/>
          </a:bodyPr>
          <a:lstStyle/>
          <a:p>
            <a:pPr algn="l"/>
            <a:r>
              <a:rPr sz="860" b="1" i="0">
                <a:solidFill>
                  <a:srgbClr val="6B7A85"/>
                </a:solidFill>
                <a:latin typeface="Calibri"/>
              </a:rPr>
              <a:t>CHOSEN</a:t>
            </a:r>
          </a:p>
        </p:txBody>
      </p:sp>
      <p:sp>
        <p:nvSpPr>
          <p:cNvPr id="8" name="TextBox 7"/>
          <p:cNvSpPr txBox="1"/>
          <p:nvPr/>
        </p:nvSpPr>
        <p:spPr>
          <a:xfrm>
            <a:off x="5438759" y="969264"/>
            <a:ext cx="2186604" cy="201168"/>
          </a:xfrm>
          <a:prstGeom prst="rect">
            <a:avLst/>
          </a:prstGeom>
          <a:noFill/>
        </p:spPr>
        <p:txBody>
          <a:bodyPr wrap="square" lIns="0" rIns="0" tIns="0" bIns="0" anchor="t">
            <a:spAutoFit/>
          </a:bodyPr>
          <a:lstStyle/>
          <a:p>
            <a:pPr algn="l"/>
            <a:r>
              <a:rPr sz="860" b="1" i="0">
                <a:solidFill>
                  <a:srgbClr val="6B7A85"/>
                </a:solidFill>
                <a:latin typeface="Calibri"/>
              </a:rPr>
              <a:t>REJECTED</a:t>
            </a:r>
          </a:p>
        </p:txBody>
      </p:sp>
      <p:sp>
        <p:nvSpPr>
          <p:cNvPr id="9" name="TextBox 8"/>
          <p:cNvSpPr txBox="1"/>
          <p:nvPr/>
        </p:nvSpPr>
        <p:spPr>
          <a:xfrm>
            <a:off x="7844820" y="969264"/>
            <a:ext cx="3905219" cy="201168"/>
          </a:xfrm>
          <a:prstGeom prst="rect">
            <a:avLst/>
          </a:prstGeom>
          <a:noFill/>
        </p:spPr>
        <p:txBody>
          <a:bodyPr wrap="square" lIns="0" rIns="0" tIns="0" bIns="0" anchor="t">
            <a:spAutoFit/>
          </a:bodyPr>
          <a:lstStyle/>
          <a:p>
            <a:pPr algn="l"/>
            <a:r>
              <a:rPr sz="860" b="1" i="0">
                <a:solidFill>
                  <a:srgbClr val="6B7A85"/>
                </a:solidFill>
                <a:latin typeface="Calibri"/>
              </a:rPr>
              <a:t>BECAUSE</a:t>
            </a:r>
          </a:p>
        </p:txBody>
      </p:sp>
      <p:sp>
        <p:nvSpPr>
          <p:cNvPr id="10" name="Rounded Rectangle 9"/>
          <p:cNvSpPr/>
          <p:nvPr/>
        </p:nvSpPr>
        <p:spPr>
          <a:xfrm>
            <a:off x="365760" y="124358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3776" y="1353312"/>
            <a:ext cx="73152" cy="573023"/>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380744"/>
            <a:ext cx="1719712" cy="518160"/>
          </a:xfrm>
          <a:prstGeom prst="rect">
            <a:avLst/>
          </a:prstGeom>
          <a:noFill/>
        </p:spPr>
        <p:txBody>
          <a:bodyPr wrap="square" lIns="0" rIns="0" tIns="0" bIns="0" anchor="t">
            <a:spAutoFit/>
          </a:bodyPr>
          <a:lstStyle/>
          <a:p>
            <a:pPr algn="l">
              <a:lnSpc>
                <a:spcPct val="120000"/>
              </a:lnSpc>
            </a:pPr>
            <a:r>
              <a:rPr sz="1000" b="1" i="0">
                <a:solidFill>
                  <a:srgbClr val="0E3A4C"/>
                </a:solidFill>
                <a:latin typeface="Calibri"/>
              </a:rPr>
              <a:t>Who decides the next step</a:t>
            </a:r>
          </a:p>
        </p:txBody>
      </p:sp>
      <p:sp>
        <p:nvSpPr>
          <p:cNvPr id="13" name="TextBox 12"/>
          <p:cNvSpPr txBox="1"/>
          <p:nvPr/>
        </p:nvSpPr>
        <p:spPr>
          <a:xfrm>
            <a:off x="2688976" y="1380744"/>
            <a:ext cx="2475463"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 deterministic planner inside an explicit graph</a:t>
            </a:r>
          </a:p>
        </p:txBody>
      </p:sp>
      <p:sp>
        <p:nvSpPr>
          <p:cNvPr id="14" name="TextBox 13"/>
          <p:cNvSpPr txBox="1"/>
          <p:nvPr/>
        </p:nvSpPr>
        <p:spPr>
          <a:xfrm>
            <a:off x="5438759" y="1380744"/>
            <a:ext cx="2131740"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 single ReAct agent with a tool belt</a:t>
            </a:r>
          </a:p>
        </p:txBody>
      </p:sp>
      <p:sp>
        <p:nvSpPr>
          <p:cNvPr id="15" name="TextBox 14"/>
          <p:cNvSpPr txBox="1"/>
          <p:nvPr/>
        </p:nvSpPr>
        <p:spPr>
          <a:xfrm>
            <a:off x="7844820" y="1380744"/>
            <a:ext cx="3850355"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Ordering has to be scored against a golden sequence, and a hard stop cannot be a prompt instruction</a:t>
            </a:r>
          </a:p>
        </p:txBody>
      </p:sp>
      <p:sp>
        <p:nvSpPr>
          <p:cNvPr id="16" name="Rounded Rectangle 15"/>
          <p:cNvSpPr/>
          <p:nvPr/>
        </p:nvSpPr>
        <p:spPr>
          <a:xfrm>
            <a:off x="365760" y="212750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93776" y="2237232"/>
            <a:ext cx="73152" cy="573023"/>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2264664"/>
            <a:ext cx="1719712" cy="518160"/>
          </a:xfrm>
          <a:prstGeom prst="rect">
            <a:avLst/>
          </a:prstGeom>
          <a:noFill/>
        </p:spPr>
        <p:txBody>
          <a:bodyPr wrap="square" lIns="0" rIns="0" tIns="0" bIns="0" anchor="t">
            <a:spAutoFit/>
          </a:bodyPr>
          <a:lstStyle/>
          <a:p>
            <a:pPr algn="l">
              <a:lnSpc>
                <a:spcPct val="120000"/>
              </a:lnSpc>
            </a:pPr>
            <a:r>
              <a:rPr sz="1000" b="1" i="0">
                <a:solidFill>
                  <a:srgbClr val="0E3A4C"/>
                </a:solidFill>
                <a:latin typeface="Calibri"/>
              </a:rPr>
              <a:t>Where safety sits</a:t>
            </a:r>
          </a:p>
        </p:txBody>
      </p:sp>
      <p:sp>
        <p:nvSpPr>
          <p:cNvPr id="19" name="TextBox 18"/>
          <p:cNvSpPr txBox="1"/>
          <p:nvPr/>
        </p:nvSpPr>
        <p:spPr>
          <a:xfrm>
            <a:off x="2688976" y="2264664"/>
            <a:ext cx="2475463"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 guard node that pre-empts every turn</a:t>
            </a:r>
          </a:p>
        </p:txBody>
      </p:sp>
      <p:sp>
        <p:nvSpPr>
          <p:cNvPr id="20" name="TextBox 19"/>
          <p:cNvSpPr txBox="1"/>
          <p:nvPr/>
        </p:nvSpPr>
        <p:spPr>
          <a:xfrm>
            <a:off x="5438759" y="2264664"/>
            <a:ext cx="2131740"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 branch the planner weighs among others</a:t>
            </a:r>
          </a:p>
        </p:txBody>
      </p:sp>
      <p:sp>
        <p:nvSpPr>
          <p:cNvPr id="21" name="TextBox 20"/>
          <p:cNvSpPr txBox="1"/>
          <p:nvPr/>
        </p:nvSpPr>
        <p:spPr>
          <a:xfrm>
            <a:off x="7844820" y="2264664"/>
            <a:ext cx="3850355"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Anything the planner can weigh, it can also outweigh</a:t>
            </a:r>
          </a:p>
        </p:txBody>
      </p:sp>
      <p:sp>
        <p:nvSpPr>
          <p:cNvPr id="22" name="Rounded Rectangle 21"/>
          <p:cNvSpPr/>
          <p:nvPr/>
        </p:nvSpPr>
        <p:spPr>
          <a:xfrm>
            <a:off x="365760" y="3011423"/>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3776" y="3121152"/>
            <a:ext cx="73152" cy="573023"/>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3148583"/>
            <a:ext cx="1719712" cy="518160"/>
          </a:xfrm>
          <a:prstGeom prst="rect">
            <a:avLst/>
          </a:prstGeom>
          <a:noFill/>
        </p:spPr>
        <p:txBody>
          <a:bodyPr wrap="square" lIns="0" rIns="0" tIns="0" bIns="0" anchor="t">
            <a:spAutoFit/>
          </a:bodyPr>
          <a:lstStyle/>
          <a:p>
            <a:pPr algn="l">
              <a:lnSpc>
                <a:spcPct val="120000"/>
              </a:lnSpc>
            </a:pPr>
            <a:r>
              <a:rPr sz="1000" b="1" i="0">
                <a:solidFill>
                  <a:srgbClr val="0E3A4C"/>
                </a:solidFill>
                <a:latin typeface="Calibri"/>
              </a:rPr>
              <a:t>The primary interface</a:t>
            </a:r>
          </a:p>
        </p:txBody>
      </p:sp>
      <p:sp>
        <p:nvSpPr>
          <p:cNvPr id="25" name="TextBox 24"/>
          <p:cNvSpPr txBox="1"/>
          <p:nvPr/>
        </p:nvSpPr>
        <p:spPr>
          <a:xfrm>
            <a:off x="2688976" y="3148583"/>
            <a:ext cx="2475463"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Text, with voice as an adapter over it</a:t>
            </a:r>
          </a:p>
        </p:txBody>
      </p:sp>
      <p:sp>
        <p:nvSpPr>
          <p:cNvPr id="26" name="TextBox 25"/>
          <p:cNvSpPr txBox="1"/>
          <p:nvPr/>
        </p:nvSpPr>
        <p:spPr>
          <a:xfrm>
            <a:off x="5438759" y="3148583"/>
            <a:ext cx="2131740"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Voice-first with a text fallback bolted on</a:t>
            </a:r>
          </a:p>
        </p:txBody>
      </p:sp>
      <p:sp>
        <p:nvSpPr>
          <p:cNvPr id="27" name="TextBox 26"/>
          <p:cNvSpPr txBox="1"/>
          <p:nvPr/>
        </p:nvSpPr>
        <p:spPr>
          <a:xfrm>
            <a:off x="7844820" y="3148583"/>
            <a:ext cx="3850355"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The riskiest component must not be the one the demo depends on</a:t>
            </a:r>
          </a:p>
        </p:txBody>
      </p:sp>
      <p:sp>
        <p:nvSpPr>
          <p:cNvPr id="28" name="Rounded Rectangle 27"/>
          <p:cNvSpPr/>
          <p:nvPr/>
        </p:nvSpPr>
        <p:spPr>
          <a:xfrm>
            <a:off x="365760" y="389534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93776" y="4005072"/>
            <a:ext cx="73152" cy="573023"/>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 y="4032504"/>
            <a:ext cx="1719712" cy="518160"/>
          </a:xfrm>
          <a:prstGeom prst="rect">
            <a:avLst/>
          </a:prstGeom>
          <a:noFill/>
        </p:spPr>
        <p:txBody>
          <a:bodyPr wrap="square" lIns="0" rIns="0" tIns="0" bIns="0" anchor="t">
            <a:spAutoFit/>
          </a:bodyPr>
          <a:lstStyle/>
          <a:p>
            <a:pPr algn="l">
              <a:lnSpc>
                <a:spcPct val="120000"/>
              </a:lnSpc>
            </a:pPr>
            <a:r>
              <a:rPr sz="1000" b="1" i="0">
                <a:solidFill>
                  <a:srgbClr val="0E3A4C"/>
                </a:solidFill>
                <a:latin typeface="Calibri"/>
              </a:rPr>
              <a:t>Where state lives</a:t>
            </a:r>
          </a:p>
        </p:txBody>
      </p:sp>
      <p:sp>
        <p:nvSpPr>
          <p:cNvPr id="31" name="TextBox 30"/>
          <p:cNvSpPr txBox="1"/>
          <p:nvPr/>
        </p:nvSpPr>
        <p:spPr>
          <a:xfrm>
            <a:off x="2688976" y="4032504"/>
            <a:ext cx="2475463"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SQLite for the ledger and clock; Pinecone for prose</a:t>
            </a:r>
          </a:p>
        </p:txBody>
      </p:sp>
      <p:sp>
        <p:nvSpPr>
          <p:cNvPr id="32" name="TextBox 31"/>
          <p:cNvSpPr txBox="1"/>
          <p:nvPr/>
        </p:nvSpPr>
        <p:spPr>
          <a:xfrm>
            <a:off x="5438759" y="4032504"/>
            <a:ext cx="2131740"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Everything in the vector store</a:t>
            </a:r>
          </a:p>
        </p:txBody>
      </p:sp>
      <p:sp>
        <p:nvSpPr>
          <p:cNvPr id="33" name="TextBox 32"/>
          <p:cNvSpPr txBox="1"/>
          <p:nvPr/>
        </p:nvSpPr>
        <p:spPr>
          <a:xfrm>
            <a:off x="7844820" y="4032504"/>
            <a:ext cx="3850355"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Counts and windows are arithmetic. Arithmetic must not approximate</a:t>
            </a:r>
          </a:p>
        </p:txBody>
      </p:sp>
      <p:sp>
        <p:nvSpPr>
          <p:cNvPr id="34" name="Rounded Rectangle 33"/>
          <p:cNvSpPr/>
          <p:nvPr/>
        </p:nvSpPr>
        <p:spPr>
          <a:xfrm>
            <a:off x="365760" y="477926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3776" y="4888992"/>
            <a:ext cx="73152" cy="573023"/>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4916424"/>
            <a:ext cx="1719712" cy="518160"/>
          </a:xfrm>
          <a:prstGeom prst="rect">
            <a:avLst/>
          </a:prstGeom>
          <a:noFill/>
        </p:spPr>
        <p:txBody>
          <a:bodyPr wrap="square" lIns="0" rIns="0" tIns="0" bIns="0" anchor="t">
            <a:spAutoFit/>
          </a:bodyPr>
          <a:lstStyle/>
          <a:p>
            <a:pPr algn="l">
              <a:lnSpc>
                <a:spcPct val="120000"/>
              </a:lnSpc>
            </a:pPr>
            <a:r>
              <a:rPr sz="1000" b="1" i="0">
                <a:solidFill>
                  <a:srgbClr val="0E3A4C"/>
                </a:solidFill>
                <a:latin typeface="Calibri"/>
              </a:rPr>
              <a:t>Model strategy</a:t>
            </a:r>
          </a:p>
        </p:txBody>
      </p:sp>
      <p:sp>
        <p:nvSpPr>
          <p:cNvPr id="37" name="TextBox 36"/>
          <p:cNvSpPr txBox="1"/>
          <p:nvPr/>
        </p:nvSpPr>
        <p:spPr>
          <a:xfrm>
            <a:off x="2688976" y="4916424"/>
            <a:ext cx="2475463"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Two Nebius tiers, chosen per node</a:t>
            </a:r>
          </a:p>
        </p:txBody>
      </p:sp>
      <p:sp>
        <p:nvSpPr>
          <p:cNvPr id="38" name="TextBox 37"/>
          <p:cNvSpPr txBox="1"/>
          <p:nvPr/>
        </p:nvSpPr>
        <p:spPr>
          <a:xfrm>
            <a:off x="5438759" y="4916424"/>
            <a:ext cx="2131740"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One model for every call</a:t>
            </a:r>
          </a:p>
        </p:txBody>
      </p:sp>
      <p:sp>
        <p:nvSpPr>
          <p:cNvPr id="39" name="TextBox 38"/>
          <p:cNvSpPr txBox="1"/>
          <p:nvPr/>
        </p:nvSpPr>
        <p:spPr>
          <a:xfrm>
            <a:off x="7844820" y="4916424"/>
            <a:ext cx="3850355"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Wording an instruction and writing a narrative are judged on different things</a:t>
            </a:r>
          </a:p>
        </p:txBody>
      </p:sp>
      <p:sp>
        <p:nvSpPr>
          <p:cNvPr id="40" name="Rounded Rectangle 39"/>
          <p:cNvSpPr/>
          <p:nvPr/>
        </p:nvSpPr>
        <p:spPr>
          <a:xfrm>
            <a:off x="365760" y="5663184"/>
            <a:ext cx="11457432" cy="792479"/>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93776" y="5772912"/>
            <a:ext cx="73152" cy="573023"/>
          </a:xfrm>
          <a:prstGeom prst="roundRect">
            <a:avLst>
              <a:gd name="adj" fmla="val 50000"/>
            </a:avLst>
          </a:prstGeom>
          <a:solidFill>
            <a:srgbClr val="7A4F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5800344"/>
            <a:ext cx="1719712" cy="518160"/>
          </a:xfrm>
          <a:prstGeom prst="rect">
            <a:avLst/>
          </a:prstGeom>
          <a:noFill/>
        </p:spPr>
        <p:txBody>
          <a:bodyPr wrap="square" lIns="0" rIns="0" tIns="0" bIns="0" anchor="t">
            <a:spAutoFit/>
          </a:bodyPr>
          <a:lstStyle/>
          <a:p>
            <a:pPr algn="l">
              <a:lnSpc>
                <a:spcPct val="120000"/>
              </a:lnSpc>
            </a:pPr>
            <a:r>
              <a:rPr sz="1000" b="1" i="0">
                <a:solidFill>
                  <a:srgbClr val="0E3A4C"/>
                </a:solidFill>
                <a:latin typeface="Calibri"/>
              </a:rPr>
              <a:t>Domain coupling</a:t>
            </a:r>
          </a:p>
        </p:txBody>
      </p:sp>
      <p:sp>
        <p:nvSpPr>
          <p:cNvPr id="43" name="TextBox 42"/>
          <p:cNvSpPr txBox="1"/>
          <p:nvPr/>
        </p:nvSpPr>
        <p:spPr>
          <a:xfrm>
            <a:off x="2688976" y="5800344"/>
            <a:ext cx="2475463"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 domain pack: corpus, catalogue, rules, intake spec</a:t>
            </a:r>
          </a:p>
        </p:txBody>
      </p:sp>
      <p:sp>
        <p:nvSpPr>
          <p:cNvPr id="44" name="TextBox 43"/>
          <p:cNvSpPr txBox="1"/>
          <p:nvPr/>
        </p:nvSpPr>
        <p:spPr>
          <a:xfrm>
            <a:off x="5438759" y="5800344"/>
            <a:ext cx="2131740"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Collision logic written into the engine</a:t>
            </a:r>
          </a:p>
        </p:txBody>
      </p:sp>
      <p:sp>
        <p:nvSpPr>
          <p:cNvPr id="45" name="TextBox 44"/>
          <p:cNvSpPr txBox="1"/>
          <p:nvPr/>
        </p:nvSpPr>
        <p:spPr>
          <a:xfrm>
            <a:off x="7844820" y="5800344"/>
            <a:ext cx="3850355" cy="518160"/>
          </a:xfrm>
          <a:prstGeom prst="rect">
            <a:avLst/>
          </a:prstGeom>
          <a:noFill/>
        </p:spPr>
        <p:txBody>
          <a:bodyPr wrap="square" lIns="0" rIns="0" tIns="0" bIns="0" anchor="t">
            <a:spAutoFit/>
          </a:bodyPr>
          <a:lstStyle/>
          <a:p>
            <a:pPr algn="l">
              <a:lnSpc>
                <a:spcPct val="120000"/>
              </a:lnSpc>
            </a:pPr>
            <a:r>
              <a:rPr sz="919" b="0" i="0">
                <a:solidFill>
                  <a:srgbClr val="6B7A85"/>
                </a:solidFill>
                <a:latin typeface="Calibri"/>
              </a:rPr>
              <a:t>A second crisis type should cost a data file, not a rewrite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1695" cy="786384"/>
          </a:xfrm>
          <a:prstGeom prst="roundRect">
            <a:avLst>
              <a:gd name="adj" fmla="val 0"/>
            </a:avLst>
          </a:prstGeom>
          <a:solidFill>
            <a:srgbClr val="0E3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
            <a:ext cx="10058400" cy="310896"/>
          </a:xfrm>
          <a:prstGeom prst="rect">
            <a:avLst/>
          </a:prstGeom>
          <a:noFill/>
        </p:spPr>
        <p:txBody>
          <a:bodyPr wrap="square" lIns="0" rIns="0" tIns="0" bIns="0" anchor="t">
            <a:spAutoFit/>
          </a:bodyPr>
          <a:lstStyle/>
          <a:p>
            <a:pPr algn="l"/>
            <a:r>
              <a:rPr sz="1800" b="1" i="0">
                <a:solidFill>
                  <a:srgbClr val="FFFFFF"/>
                </a:solidFill>
                <a:latin typeface="Cambria"/>
              </a:rPr>
              <a:t>What happens next</a:t>
            </a:r>
          </a:p>
        </p:txBody>
      </p:sp>
      <p:sp>
        <p:nvSpPr>
          <p:cNvPr id="5" name="TextBox 4"/>
          <p:cNvSpPr txBox="1"/>
          <p:nvPr/>
        </p:nvSpPr>
        <p:spPr>
          <a:xfrm>
            <a:off x="365760" y="466344"/>
            <a:ext cx="10058400" cy="201168"/>
          </a:xfrm>
          <a:prstGeom prst="rect">
            <a:avLst/>
          </a:prstGeom>
          <a:noFill/>
        </p:spPr>
        <p:txBody>
          <a:bodyPr wrap="square" lIns="0" rIns="0" tIns="0" bIns="0" anchor="t">
            <a:spAutoFit/>
          </a:bodyPr>
          <a:lstStyle/>
          <a:p>
            <a:pPr algn="l"/>
            <a:r>
              <a:rPr sz="950" b="0" i="0">
                <a:solidFill>
                  <a:srgbClr val="9FC0D0"/>
                </a:solidFill>
                <a:latin typeface="Calibri"/>
              </a:rPr>
              <a:t>Deadline first, then the three-week prototype window.</a:t>
            </a:r>
          </a:p>
        </p:txBody>
      </p:sp>
      <p:sp>
        <p:nvSpPr>
          <p:cNvPr id="6" name="TextBox 5"/>
          <p:cNvSpPr txBox="1"/>
          <p:nvPr/>
        </p:nvSpPr>
        <p:spPr>
          <a:xfrm>
            <a:off x="512064" y="969264"/>
            <a:ext cx="1040861" cy="201168"/>
          </a:xfrm>
          <a:prstGeom prst="rect">
            <a:avLst/>
          </a:prstGeom>
          <a:noFill/>
        </p:spPr>
        <p:txBody>
          <a:bodyPr wrap="square" lIns="0" rIns="0" tIns="0" bIns="0" anchor="t">
            <a:spAutoFit/>
          </a:bodyPr>
          <a:lstStyle/>
          <a:p>
            <a:pPr algn="l"/>
            <a:r>
              <a:rPr sz="860" b="1" i="0">
                <a:solidFill>
                  <a:srgbClr val="6B7A85"/>
                </a:solidFill>
                <a:latin typeface="Calibri"/>
              </a:rPr>
              <a:t>WHEN</a:t>
            </a:r>
          </a:p>
        </p:txBody>
      </p:sp>
      <p:sp>
        <p:nvSpPr>
          <p:cNvPr id="7" name="TextBox 6"/>
          <p:cNvSpPr txBox="1"/>
          <p:nvPr/>
        </p:nvSpPr>
        <p:spPr>
          <a:xfrm>
            <a:off x="1772381" y="969264"/>
            <a:ext cx="5050962" cy="201168"/>
          </a:xfrm>
          <a:prstGeom prst="rect">
            <a:avLst/>
          </a:prstGeom>
          <a:noFill/>
        </p:spPr>
        <p:txBody>
          <a:bodyPr wrap="square" lIns="0" rIns="0" tIns="0" bIns="0" anchor="t">
            <a:spAutoFit/>
          </a:bodyPr>
          <a:lstStyle/>
          <a:p>
            <a:pPr algn="l"/>
            <a:r>
              <a:rPr sz="860" b="1" i="0">
                <a:solidFill>
                  <a:srgbClr val="6B7A85"/>
                </a:solidFill>
                <a:latin typeface="Calibri"/>
              </a:rPr>
              <a:t>WHAT</a:t>
            </a:r>
          </a:p>
        </p:txBody>
      </p:sp>
      <p:sp>
        <p:nvSpPr>
          <p:cNvPr id="8" name="TextBox 7"/>
          <p:cNvSpPr txBox="1"/>
          <p:nvPr/>
        </p:nvSpPr>
        <p:spPr>
          <a:xfrm>
            <a:off x="7042800" y="969264"/>
            <a:ext cx="4707239" cy="201168"/>
          </a:xfrm>
          <a:prstGeom prst="rect">
            <a:avLst/>
          </a:prstGeom>
          <a:noFill/>
        </p:spPr>
        <p:txBody>
          <a:bodyPr wrap="square" lIns="0" rIns="0" tIns="0" bIns="0" anchor="t">
            <a:spAutoFit/>
          </a:bodyPr>
          <a:lstStyle/>
          <a:p>
            <a:pPr algn="l"/>
            <a:r>
              <a:rPr sz="860" b="1" i="0">
                <a:solidFill>
                  <a:srgbClr val="6B7A85"/>
                </a:solidFill>
                <a:latin typeface="Calibri"/>
              </a:rPr>
              <a:t>WHY IN THIS ORDER</a:t>
            </a:r>
          </a:p>
        </p:txBody>
      </p:sp>
      <p:sp>
        <p:nvSpPr>
          <p:cNvPr id="9" name="Rounded Rectangle 8"/>
          <p:cNvSpPr/>
          <p:nvPr/>
        </p:nvSpPr>
        <p:spPr>
          <a:xfrm>
            <a:off x="365760" y="1243584"/>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3776" y="1353312"/>
            <a:ext cx="73152" cy="478535"/>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1380744"/>
            <a:ext cx="803117"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By 12 Sep</a:t>
            </a:r>
          </a:p>
        </p:txBody>
      </p:sp>
      <p:sp>
        <p:nvSpPr>
          <p:cNvPr id="12" name="TextBox 11"/>
          <p:cNvSpPr txBox="1"/>
          <p:nvPr/>
        </p:nvSpPr>
        <p:spPr>
          <a:xfrm>
            <a:off x="1772381" y="1380744"/>
            <a:ext cx="4996098"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architecture pitch — Q1, Q2 and Q3 answered from this deck and the functional documents</a:t>
            </a:r>
          </a:p>
        </p:txBody>
      </p:sp>
      <p:sp>
        <p:nvSpPr>
          <p:cNvPr id="13" name="TextBox 12"/>
          <p:cNvSpPr txBox="1"/>
          <p:nvPr/>
        </p:nvSpPr>
        <p:spPr>
          <a:xfrm>
            <a:off x="7042800" y="1380744"/>
            <a:ext cx="4652375"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It is the graded deliverable. Nothing else should jump it.</a:t>
            </a:r>
          </a:p>
        </p:txBody>
      </p:sp>
      <p:sp>
        <p:nvSpPr>
          <p:cNvPr id="14" name="Rounded Rectangle 13"/>
          <p:cNvSpPr/>
          <p:nvPr/>
        </p:nvSpPr>
        <p:spPr>
          <a:xfrm>
            <a:off x="365760" y="2033015"/>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3776" y="2142744"/>
            <a:ext cx="73152" cy="478535"/>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 y="2170175"/>
            <a:ext cx="803117"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Then</a:t>
            </a:r>
          </a:p>
        </p:txBody>
      </p:sp>
      <p:sp>
        <p:nvSpPr>
          <p:cNvPr id="17" name="TextBox 16"/>
          <p:cNvSpPr txBox="1"/>
          <p:nvPr/>
        </p:nvSpPr>
        <p:spPr>
          <a:xfrm>
            <a:off x="1772381" y="2170175"/>
            <a:ext cx="4996098"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Wireframes: the scene screen, the confirmation, what is still missing, and the pack</a:t>
            </a:r>
          </a:p>
        </p:txBody>
      </p:sp>
      <p:sp>
        <p:nvSpPr>
          <p:cNvPr id="18" name="TextBox 17"/>
          <p:cNvSpPr txBox="1"/>
          <p:nvPr/>
        </p:nvSpPr>
        <p:spPr>
          <a:xfrm>
            <a:off x="7042800" y="2170175"/>
            <a:ext cx="4652375"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conversation cannot answer what is on screen while she is not looking at it</a:t>
            </a:r>
          </a:p>
        </p:txBody>
      </p:sp>
      <p:sp>
        <p:nvSpPr>
          <p:cNvPr id="19" name="Rounded Rectangle 18"/>
          <p:cNvSpPr/>
          <p:nvPr/>
        </p:nvSpPr>
        <p:spPr>
          <a:xfrm>
            <a:off x="365760" y="2822448"/>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2932176"/>
            <a:ext cx="73152" cy="478535"/>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 y="2959607"/>
            <a:ext cx="803117"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Then</a:t>
            </a:r>
          </a:p>
        </p:txBody>
      </p:sp>
      <p:sp>
        <p:nvSpPr>
          <p:cNvPr id="22" name="TextBox 21"/>
          <p:cNvSpPr txBox="1"/>
          <p:nvPr/>
        </p:nvSpPr>
        <p:spPr>
          <a:xfrm>
            <a:off x="1772381" y="2959607"/>
            <a:ext cx="4996098"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data: four corpora, the domain pack, six golden scenarios</a:t>
            </a:r>
          </a:p>
        </p:txBody>
      </p:sp>
      <p:sp>
        <p:nvSpPr>
          <p:cNvPr id="23" name="TextBox 22"/>
          <p:cNvSpPr txBox="1"/>
          <p:nvPr/>
        </p:nvSpPr>
        <p:spPr>
          <a:xfrm>
            <a:off x="7042800" y="2959607"/>
            <a:ext cx="4652375"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long pole, and the most parallelisable. It blocks the evals</a:t>
            </a:r>
          </a:p>
        </p:txBody>
      </p:sp>
      <p:sp>
        <p:nvSpPr>
          <p:cNvPr id="24" name="Rounded Rectangle 23"/>
          <p:cNvSpPr/>
          <p:nvPr/>
        </p:nvSpPr>
        <p:spPr>
          <a:xfrm>
            <a:off x="365760" y="3611879"/>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93776" y="3721607"/>
            <a:ext cx="73152" cy="478535"/>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 y="3749039"/>
            <a:ext cx="803117"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Then</a:t>
            </a:r>
          </a:p>
        </p:txBody>
      </p:sp>
      <p:sp>
        <p:nvSpPr>
          <p:cNvPr id="27" name="TextBox 26"/>
          <p:cNvSpPr txBox="1"/>
          <p:nvPr/>
        </p:nvSpPr>
        <p:spPr>
          <a:xfrm>
            <a:off x="1772381" y="3749039"/>
            <a:ext cx="4996098"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skeleton: graph, ledger, clock, planner — on text, with stubbed models</a:t>
            </a:r>
          </a:p>
        </p:txBody>
      </p:sp>
      <p:sp>
        <p:nvSpPr>
          <p:cNvPr id="28" name="TextBox 27"/>
          <p:cNvSpPr txBox="1"/>
          <p:nvPr/>
        </p:nvSpPr>
        <p:spPr>
          <a:xfrm>
            <a:off x="7042800" y="3749039"/>
            <a:ext cx="4652375"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Proves the ordering and the hard stop before anything cosmetic</a:t>
            </a:r>
          </a:p>
        </p:txBody>
      </p:sp>
      <p:sp>
        <p:nvSpPr>
          <p:cNvPr id="29" name="Rounded Rectangle 28"/>
          <p:cNvSpPr/>
          <p:nvPr/>
        </p:nvSpPr>
        <p:spPr>
          <a:xfrm>
            <a:off x="365760" y="4401311"/>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93776" y="4511039"/>
            <a:ext cx="73152" cy="478535"/>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4538472"/>
            <a:ext cx="803117"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Then</a:t>
            </a:r>
          </a:p>
        </p:txBody>
      </p:sp>
      <p:sp>
        <p:nvSpPr>
          <p:cNvPr id="32" name="TextBox 31"/>
          <p:cNvSpPr txBox="1"/>
          <p:nvPr/>
        </p:nvSpPr>
        <p:spPr>
          <a:xfrm>
            <a:off x="1772381" y="4538472"/>
            <a:ext cx="4996098"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conversation layer, then voice on top of a working scene</a:t>
            </a:r>
          </a:p>
        </p:txBody>
      </p:sp>
      <p:sp>
        <p:nvSpPr>
          <p:cNvPr id="33" name="TextBox 32"/>
          <p:cNvSpPr txBox="1"/>
          <p:nvPr/>
        </p:nvSpPr>
        <p:spPr>
          <a:xfrm>
            <a:off x="7042800" y="4538472"/>
            <a:ext cx="4652375"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Voice is an upgrade to something that already runs</a:t>
            </a:r>
          </a:p>
        </p:txBody>
      </p:sp>
      <p:sp>
        <p:nvSpPr>
          <p:cNvPr id="34" name="Rounded Rectangle 33"/>
          <p:cNvSpPr/>
          <p:nvPr/>
        </p:nvSpPr>
        <p:spPr>
          <a:xfrm>
            <a:off x="365760" y="5190743"/>
            <a:ext cx="11457432" cy="697991"/>
          </a:xfrm>
          <a:prstGeom prst="roundRect">
            <a:avLst>
              <a:gd name="adj" fmla="val 5000"/>
            </a:avLst>
          </a:prstGeom>
          <a:solidFill>
            <a:srgbClr val="FFFFFF"/>
          </a:solidFill>
          <a:ln w="12700">
            <a:solidFill>
              <a:srgbClr val="DC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93776" y="5300471"/>
            <a:ext cx="73152" cy="478535"/>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5327904"/>
            <a:ext cx="803117" cy="423671"/>
          </a:xfrm>
          <a:prstGeom prst="rect">
            <a:avLst/>
          </a:prstGeom>
          <a:noFill/>
        </p:spPr>
        <p:txBody>
          <a:bodyPr wrap="square" lIns="0" rIns="0" tIns="0" bIns="0" anchor="t">
            <a:spAutoFit/>
          </a:bodyPr>
          <a:lstStyle/>
          <a:p>
            <a:pPr algn="l">
              <a:lnSpc>
                <a:spcPct val="120000"/>
              </a:lnSpc>
            </a:pPr>
            <a:r>
              <a:rPr sz="1050" b="1" i="0">
                <a:solidFill>
                  <a:srgbClr val="0E3A4C"/>
                </a:solidFill>
                <a:latin typeface="Calibri"/>
              </a:rPr>
              <a:t>Last</a:t>
            </a:r>
          </a:p>
        </p:txBody>
      </p:sp>
      <p:sp>
        <p:nvSpPr>
          <p:cNvPr id="37" name="TextBox 36"/>
          <p:cNvSpPr txBox="1"/>
          <p:nvPr/>
        </p:nvSpPr>
        <p:spPr>
          <a:xfrm>
            <a:off x="1772381" y="5327904"/>
            <a:ext cx="4996098"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The eval harness against the goldens, and the trace review</a:t>
            </a:r>
          </a:p>
        </p:txBody>
      </p:sp>
      <p:sp>
        <p:nvSpPr>
          <p:cNvPr id="38" name="TextBox 37"/>
          <p:cNvSpPr txBox="1"/>
          <p:nvPr/>
        </p:nvSpPr>
        <p:spPr>
          <a:xfrm>
            <a:off x="7042800" y="5327904"/>
            <a:ext cx="4652375" cy="423671"/>
          </a:xfrm>
          <a:prstGeom prst="rect">
            <a:avLst/>
          </a:prstGeom>
          <a:noFill/>
        </p:spPr>
        <p:txBody>
          <a:bodyPr wrap="square" lIns="0" rIns="0" tIns="0" bIns="0" anchor="t">
            <a:spAutoFit/>
          </a:bodyPr>
          <a:lstStyle/>
          <a:p>
            <a:pPr algn="l">
              <a:lnSpc>
                <a:spcPct val="120000"/>
              </a:lnSpc>
            </a:pPr>
            <a:r>
              <a:rPr sz="960" b="0" i="0">
                <a:solidFill>
                  <a:srgbClr val="6B7A85"/>
                </a:solidFill>
                <a:latin typeface="Calibri"/>
              </a:rPr>
              <a:t>It needs both the scenarios and the skeleton to exist first</a:t>
            </a:r>
          </a:p>
        </p:txBody>
      </p:sp>
      <p:sp>
        <p:nvSpPr>
          <p:cNvPr id="39" name="Rounded Rectangle 38"/>
          <p:cNvSpPr/>
          <p:nvPr/>
        </p:nvSpPr>
        <p:spPr>
          <a:xfrm>
            <a:off x="365760" y="5943600"/>
            <a:ext cx="11457432" cy="512064"/>
          </a:xfrm>
          <a:prstGeom prst="roundRect">
            <a:avLst>
              <a:gd name="adj" fmla="val 6000"/>
            </a:avLst>
          </a:prstGeom>
          <a:solidFill>
            <a:srgbClr val="F1ECFA"/>
          </a:solidFill>
          <a:ln w="12700">
            <a:solidFill>
              <a:srgbClr val="C3A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8" y="6053327"/>
            <a:ext cx="11055096" cy="310896"/>
          </a:xfrm>
          <a:prstGeom prst="rect">
            <a:avLst/>
          </a:prstGeom>
          <a:noFill/>
        </p:spPr>
        <p:txBody>
          <a:bodyPr wrap="square" lIns="0" rIns="0" tIns="0" bIns="0" anchor="t">
            <a:spAutoFit/>
          </a:bodyPr>
          <a:lstStyle/>
          <a:p>
            <a:pPr algn="l"/>
            <a:r>
              <a:rPr sz="1050" b="1" i="0">
                <a:solidFill>
                  <a:srgbClr val="463283"/>
                </a:solidFill>
                <a:latin typeface="Calibri"/>
              </a:rPr>
              <a:t>A working demo should exist before anything that can fail is added. That ordering is the whole risk plan.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